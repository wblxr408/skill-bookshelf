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Default Extension="jpg" ContentType="image/jpeg"/>
  <Override PartName="/ppt/media/image20-q90.jpg" ContentType="image/jpeg"/>
  <Override PartName="/ppt/media/image19-q90.jpg" ContentType="image/jpeg"/>
  <Override PartName="/ppt/media/image18-q90.jpg" ContentType="image/jpeg"/>
  <Override PartName="/ppt/media/image17-q90.jpg" ContentType="image/jpeg"/>
  <Override PartName="/ppt/media/image16-q90.jpg" ContentType="image/jpeg"/>
  <Override PartName="/ppt/media/image15.png" ContentType="image/png"/>
  <Override PartName="/ppt/media/image14.png" ContentType="image/png"/>
  <Override PartName="/ppt/media/image13.png" ContentType="image/png"/>
  <Override PartName="/ppt/media/image12-q90.jpg" ContentType="image/jpeg"/>
  <Override PartName="/ppt/media/image11-q90.jpg" ContentType="image/jpeg"/>
  <Override PartName="/ppt/media/image10-q90.jpg" ContentType="image/jpeg"/>
  <Override PartName="/ppt/media/image9.png" ContentType="image/png"/>
  <Override PartName="/ppt/media/image8.png" ContentType="image/png"/>
  <Override PartName="/ppt/media/image7.png" ContentType="image/png"/>
  <Override PartName="/ppt/media/image6.png" ContentType="image/png"/>
  <Override PartName="/ppt/media/image5-q90.jpg" ContentType="image/jpeg"/>
  <Override PartName="/ppt/media/image4-q90.jpg" ContentType="image/jpeg"/>
  <Override PartName="/ppt/media/image3-q90.jpg" ContentType="image/jpeg"/>
  <Override PartName="/ppt/media/image2-q90.jpg" ContentType="image/jpeg"/>
  <Override PartName="/ppt/media/image1-q90.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2"/>
  </p:normalViewPr>
  <p:slideViewPr>
    <p:cSldViewPr snapToGrid="0">
      <p:cViewPr varScale="1">
        <p:scale>
          <a:sx n="112" d="100"/>
          <a:sy n="112" d="100"/>
        </p:scale>
        <p:origin x="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Volunteer participants</c:v>
          </c:tx>
          <c:spPr>
            <a:gradFill>
              <a:gsLst>
                <a:gs pos="0">
                  <a:srgbClr val="7B9FB3"/>
                </a:gs>
                <a:gs pos="100000">
                  <a:srgbClr val="E3EDF2"/>
                </a:gs>
              </a:gsLst>
              <a:lin ang="5400000"/>
            </a:gra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gradFill>
                <a:gsLst>
                  <a:gs pos="0">
                    <a:srgbClr val="92ADBA"/>
                  </a:gs>
                  <a:gs pos="100000">
                    <a:srgbClr val="E3EDF2"/>
                  </a:gs>
                </a:gsLst>
                <a:lin ang="5400000"/>
              </a:gradFill>
            </c:spPr>
            <c:extLst>
              <c:ext xmlns:c16="http://schemas.microsoft.com/office/drawing/2014/chart" uri="{C3380CC4-5D6E-409C-BE32-E72D297353CC}">
                <c16:uniqueId val="{00000001-3F80-7744-BBA4-D98E2FB61AEE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809FAF"/>
                  </a:gs>
                  <a:gs pos="100000">
                    <a:srgbClr val="E3EDF2"/>
                  </a:gs>
                </a:gsLst>
                <a:lin ang="5400000"/>
              </a:gradFill>
            </c:spPr>
            <c:extLst>
              <c:ext xmlns:c16="http://schemas.microsoft.com/office/drawing/2014/chart" uri="{C3380CC4-5D6E-409C-BE32-E72D297353CC}">
                <c16:uniqueId val="{00000003-3F80-7744-BBA4-D98E2FB61AEE}"/>
              </c:ext>
            </c:extLst>
          </c:dPt>
          <c:dPt>
            <c:idx val="2"/>
            <c:invertIfNegative val="0"/>
            <c:bubble3D val="0"/>
            <c:spPr>
              <a:gradFill>
                <a:gsLst>
                  <a:gs pos="0">
                    <a:srgbClr val="6D91A7"/>
                  </a:gs>
                  <a:gs pos="100000">
                    <a:srgbClr val="E3EDF2"/>
                  </a:gs>
                </a:gsLst>
                <a:lin ang="5400000"/>
              </a:gradFill>
            </c:spPr>
            <c:extLst>
              <c:ext xmlns:c16="http://schemas.microsoft.com/office/drawing/2014/chart" uri="{C3380CC4-5D6E-409C-BE32-E72D297353CC}">
                <c16:uniqueId val="{00000005-3F80-7744-BBA4-D98E2FB61AEE}"/>
              </c:ext>
            </c:extLst>
          </c:dPt>
          <c:dPt>
            <c:idx val="3"/>
            <c:invertIfNegative val="0"/>
            <c:bubble3D val="0"/>
            <c:spPr>
              <a:gradFill>
                <a:gsLst>
                  <a:gs pos="0">
                    <a:srgbClr val="4C819E"/>
                  </a:gs>
                  <a:gs pos="100000">
                    <a:srgbClr val="E3EDF2"/>
                  </a:gs>
                </a:gsLst>
                <a:lin ang="5400000"/>
              </a:gradFill>
            </c:spPr>
            <c:extLst>
              <c:ext xmlns:c16="http://schemas.microsoft.com/office/drawing/2014/chart" uri="{C3380CC4-5D6E-409C-BE32-E72D297353CC}">
                <c16:uniqueId val="{00000007-3F80-7744-BBA4-D98E2FB61AEE}"/>
              </c:ext>
            </c:extLst>
          </c:dPt>
          <c:dPt>
            <c:idx val="4"/>
            <c:invertIfNegative val="0"/>
            <c:bubble3D val="0"/>
            <c:spPr>
              <a:gradFill>
                <a:gsLst>
                  <a:gs pos="0">
                    <a:srgbClr val="18739F"/>
                  </a:gs>
                  <a:gs pos="100000">
                    <a:srgbClr val="E3EDF2"/>
                  </a:gs>
                </a:gsLst>
                <a:lin ang="5400000"/>
              </a:gradFill>
            </c:spPr>
            <c:extLst>
              <c:ext xmlns:c16="http://schemas.microsoft.com/office/drawing/2014/chart" uri="{C3380CC4-5D6E-409C-BE32-E72D297353CC}">
                <c16:uniqueId val="{00000009-3F80-7744-BBA4-D98E2FB61AEE}"/>
              </c:ext>
            </c:extLst>
          </c:dPt>
          <c:cat>
            <c:numRef>
              <c:f>'Chart Data'!$A$2:$A$6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280</c:v>
                </c:pt>
                <c:pt idx="1">
                  <c:v>360</c:v>
                </c:pt>
                <c:pt idx="2">
                  <c:v>430</c:v>
                </c:pt>
                <c:pt idx="3">
                  <c:v>510</c:v>
                </c:pt>
                <c:pt idx="4">
                  <c:v>640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80-7744-BBA4-D98E2FB61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8395A1"/>
            </a:solidFill>
          </a:ln>
        </c:spPr>
        <c:txPr>
          <a:bodyPr anchorCtr="1"/>
          <a:lstStyle/>
          <a:p>
            <a:pPr>
              <a:defRPr sz="120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w="9525">
              <a:solidFill>
                <a:srgbClr val="B8C9D3"/>
              </a:solidFill>
              <a:prstDash val="dash"/>
            </a:ln>
          </c:spPr>
        </c:majorGridlines>
        <c:numFmt formatCode="General" sourceLinked="1"/>
        <c:majorTickMark val="none"/>
        <c:minorTickMark val="none"/>
        <c:tickLblPos val="nextTo"/>
        <c:spPr>
          <a:ln w="7620">
            <a:solidFill>
              <a:srgbClr val="8395A1"/>
            </a:solidFill>
          </a:ln>
        </c:spPr>
        <c:txPr>
          <a:bodyPr anchorCtr="1"/>
          <a:lstStyle/>
          <a:p>
            <a:pPr>
              <a:defRPr sz="1050">
                <a:solidFill>
                  <a:srgbClr val="52657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0"/>
      </c:valAx>
      <c:spPr>
        <a:solidFill>
          <a:srgbClr val="E3EDF2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E3EDF2"/>
    </a:solidFill>
    <a:ln w="0">
      <a:noFill/>
    </a:ln>
  </c:sp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'1.0' encoding='utf-8'?>
<Relationships xmlns="http://schemas.openxmlformats.org/package/2006/relationships"><Relationship Id="brandMaster" Type="http://schemas.openxmlformats.org/officeDocument/2006/relationships/slideMaster" Target="/ppt/slideMasters/slideMaster3.xml" /><Relationship Id="inheritedArt2" Type="http://schemas.openxmlformats.org/officeDocument/2006/relationships/image" Target="../media/image2-q90.jpg" /></Relationships>
</file>

<file path=ppt/slideLayouts/_rels/slideLayout14.xml.rels><?xml version='1.0' encoding='UTF-8' standalone='yes'?>
<Relationships xmlns="http://schemas.openxmlformats.org/package/2006/relationships"><Relationship Id="brandMaster" Type="http://schemas.openxmlformats.org/officeDocument/2006/relationships/slideMaster" Target="/ppt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body"/>
          </p:nvPr>
        </p:nvSpPr>
        <p:spPr>
          <a:xfrm>
            <a:off x="457200" y="361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title" idx="1"/>
          </p:nvPr>
        </p:nvSpPr>
        <p:spPr>
          <a:xfrm>
            <a:off x="457200" y="1066800"/>
            <a:ext cx="104775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57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2000250"/>
            <a:ext cx="4286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1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8143875" y="1971675"/>
            <a:ext cx="3581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6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body"/>
          </p:nvPr>
        </p:nvSpPr>
        <p:spPr>
          <a:xfrm>
            <a:off x="457200" y="571500"/>
            <a:ext cx="28575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title" idx="1"/>
          </p:nvPr>
        </p:nvSpPr>
        <p:spPr>
          <a:xfrm>
            <a:off x="457200" y="375285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58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4972050"/>
            <a:ext cx="8953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1047750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title</a:t>
            </a:r>
          </a:p>
          <a:p>
            <a: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465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 sz="4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465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723900" y="5143500"/>
            <a:ext cx="9525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10668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209800"/>
            <a:ext cx="723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3276600"/>
            <a:ext cx="106680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  <a:p>
            <a: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2400">
              <a:solidFill>
                <a:srgbClr val="101C28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 sz="24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2400">
              <a:solidFill>
                <a:srgbClr val="101C28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10668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4003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3105150"/>
            <a:ext cx="5000625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  <a:p>
            <a:pPr>
              <a:buNone/>
            </a:pPr>
            <a:endParaRPr sz="1950">
              <a:solidFill>
                <a:srgbClr val="76828C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endParaRPr sz="1950">
              <a:solidFill>
                <a:srgbClr val="7682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6477000" y="24003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25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6" name="placeholder_5"/>
          <p:cNvSpPr>
            <a:spLocks noGrp="1"/>
          </p:cNvSpPr>
          <p:nvPr>
            <p:ph type="body" idx="4"/>
          </p:nvPr>
        </p:nvSpPr>
        <p:spPr>
          <a:xfrm>
            <a:off x="6477000" y="3105150"/>
            <a:ext cx="50482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  <a:p>
            <a:pPr>
              <a:buNone/>
            </a:pPr>
            <a:endParaRPr sz="1950">
              <a:solidFill>
                <a:srgbClr val="76828C"/>
              </a:solidFill>
              <a:latin typeface="Arial"/>
              <a:ea typeface="Arial"/>
              <a:cs typeface="Arial"/>
            </a:endParaRPr>
          </a:p>
          <a:p>
            <a: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endParaRPr sz="1950">
              <a:solidFill>
                <a:srgbClr val="76828C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s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10668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8575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32956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4381500" y="20574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6" name="placeholder_5"/>
          <p:cNvSpPr>
            <a:spLocks noGrp="1"/>
          </p:cNvSpPr>
          <p:nvPr>
            <p:ph type="body" idx="4"/>
          </p:nvPr>
        </p:nvSpPr>
        <p:spPr>
          <a:xfrm>
            <a:off x="4381500" y="24955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7" name="placeholder_6"/>
          <p:cNvSpPr>
            <a:spLocks noGrp="1"/>
          </p:cNvSpPr>
          <p:nvPr>
            <p:ph type="body" idx="5"/>
          </p:nvPr>
        </p:nvSpPr>
        <p:spPr>
          <a:xfrm>
            <a:off x="8305800" y="342900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8" name="placeholder_7"/>
          <p:cNvSpPr>
            <a:spLocks noGrp="1"/>
          </p:cNvSpPr>
          <p:nvPr>
            <p:ph type="body" idx="6"/>
          </p:nvPr>
        </p:nvSpPr>
        <p:spPr>
          <a:xfrm>
            <a:off x="8305800" y="3867150"/>
            <a:ext cx="3429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425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9" name="Pic Placeholder"/>
          <p:cNvSpPr>
            <a:spLocks noGrp="1"/>
          </p:cNvSpPr>
          <p:nvPr>
            <p:ph type="pic" idx="110"/>
          </p:nvPr>
        </p:nvSpPr>
        <p:spPr>
          <a:xfrm>
            <a:off x="457200" y="3762375"/>
            <a:ext cx="3467100" cy="2409825"/>
          </a:xfrm>
        </p:spPr>
      </p:sp>
      <p:sp>
        <p:nvSpPr>
          <p:cNvPr id="10" name="Pic Placeholder"/>
          <p:cNvSpPr>
            <a:spLocks noGrp="1"/>
          </p:cNvSpPr>
          <p:nvPr>
            <p:ph type="pic" idx="111"/>
          </p:nvPr>
        </p:nvSpPr>
        <p:spPr>
          <a:xfrm>
            <a:off x="4381500" y="2933700"/>
            <a:ext cx="3467100" cy="3238500"/>
          </a:xfrm>
        </p:spPr>
      </p:sp>
      <p:sp>
        <p:nvSpPr>
          <p:cNvPr id="11" name="Pic Placeholder"/>
          <p:cNvSpPr>
            <a:spLocks noGrp="1"/>
          </p:cNvSpPr>
          <p:nvPr>
            <p:ph type="pic" idx="112"/>
          </p:nvPr>
        </p:nvSpPr>
        <p:spPr>
          <a:xfrm>
            <a:off x="8305800" y="4305300"/>
            <a:ext cx="3429000" cy="1866900"/>
          </a:xfrm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44196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3900">
              <a:solidFill>
                <a:srgbClr val="101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409825"/>
            <a:ext cx="428625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44481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457200" y="5010150"/>
            <a:ext cx="4286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6" name="Pic Placeholder"/>
          <p:cNvSpPr>
            <a:spLocks noGrp="1"/>
          </p:cNvSpPr>
          <p:nvPr>
            <p:ph type="pic" idx="100"/>
          </p:nvPr>
        </p:nvSpPr>
        <p:spPr>
          <a:xfrm>
            <a:off x="5257800" y="457200"/>
            <a:ext cx="6477000" cy="5715000"/>
          </a:xfrm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819650" y="523875"/>
            <a:ext cx="676275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75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  <a:p>
            <a:pPr marL="0" indent="0">
              <a:buNone/>
              <a:defRPr sz="3675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3675">
              <a:solidFill>
                <a:srgbClr val="101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819650" y="2143125"/>
            <a:ext cx="67627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9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819650" y="3619500"/>
            <a:ext cx="6762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275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ic Placeholder"/>
          <p:cNvSpPr>
            <a:spLocks noGrp="1"/>
          </p:cNvSpPr>
          <p:nvPr>
            <p:ph type="pic" idx="100"/>
          </p:nvPr>
        </p:nvSpPr>
        <p:spPr>
          <a:xfrm>
            <a:off x="457200" y="457200"/>
            <a:ext cx="3838575" cy="5715000"/>
          </a:xfrm>
        </p:spPr>
      </p:sp>
      <p:sp>
        <p:nvSpPr>
          <p:cNvPr id="6" name="Tbl Placeholder"/>
          <p:cNvSpPr>
            <a:spLocks noGrp="1"/>
          </p:cNvSpPr>
          <p:nvPr>
            <p:ph type="tbl" idx="130"/>
          </p:nvPr>
        </p:nvSpPr>
        <p:spPr>
          <a:xfrm>
            <a:off x="4819650" y="4000500"/>
            <a:ext cx="6915150" cy="1885950"/>
          </a:xfrm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 Columns +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4572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3900">
              <a:solidFill>
                <a:srgbClr val="101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276475"/>
            <a:ext cx="4476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025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7048500" y="1666875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7048500" y="2143125"/>
            <a:ext cx="4191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60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6" name="placeholder_5"/>
          <p:cNvSpPr>
            <a:spLocks noGrp="1"/>
          </p:cNvSpPr>
          <p:nvPr>
            <p:ph type="body" idx="4"/>
          </p:nvPr>
        </p:nvSpPr>
        <p:spPr>
          <a:xfrm>
            <a:off x="7048500" y="3762375"/>
            <a:ext cx="4191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7" name="placeholder_6"/>
          <p:cNvSpPr>
            <a:spLocks noGrp="1"/>
          </p:cNvSpPr>
          <p:nvPr>
            <p:ph type="body" idx="5"/>
          </p:nvPr>
        </p:nvSpPr>
        <p:spPr>
          <a:xfrm>
            <a:off x="7048500" y="4238625"/>
            <a:ext cx="4191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60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60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8" name="placeholder_7"/>
          <p:cNvSpPr>
            <a:spLocks noGrp="1"/>
          </p:cNvSpPr>
          <p:nvPr>
            <p:ph type="body" idx="6"/>
          </p:nvPr>
        </p:nvSpPr>
        <p:spPr>
          <a:xfrm>
            <a:off x="457200" y="4953000"/>
            <a:ext cx="54292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har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title"/>
          </p:nvPr>
        </p:nvSpPr>
        <p:spPr>
          <a:xfrm>
            <a:off x="457200" y="609600"/>
            <a:ext cx="452437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  <a:p>
            <a:pPr marL="0" indent="0">
              <a:buNone/>
              <a:defRPr sz="39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endParaRPr sz="3900">
              <a:solidFill>
                <a:srgbClr val="101C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_2"/>
          <p:cNvSpPr>
            <a:spLocks noGrp="1"/>
          </p:cNvSpPr>
          <p:nvPr>
            <p:ph type="body" idx="1"/>
          </p:nvPr>
        </p:nvSpPr>
        <p:spPr>
          <a:xfrm>
            <a:off x="457200" y="2247900"/>
            <a:ext cx="42862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44291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1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457200" y="5010150"/>
            <a:ext cx="428625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6" name="placeholder_5"/>
          <p:cNvSpPr>
            <a:spLocks noGrp="1"/>
          </p:cNvSpPr>
          <p:nvPr>
            <p:ph type="body" idx="4"/>
          </p:nvPr>
        </p:nvSpPr>
        <p:spPr>
          <a:xfrm>
            <a:off x="8001000" y="6257925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0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7" name="Chart Placeholder"/>
          <p:cNvSpPr>
            <a:spLocks noGrp="1"/>
          </p:cNvSpPr>
          <p:nvPr>
            <p:ph type="chart" idx="120"/>
          </p:nvPr>
        </p:nvSpPr>
        <p:spPr>
          <a:xfrm>
            <a:off x="5600700" y="1790700"/>
            <a:ext cx="6334125" cy="3524250"/>
          </a:xfrm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/>
          <p:cNvSpPr>
            <a:spLocks noGrp="1"/>
          </p:cNvSpPr>
          <p:nvPr>
            <p:ph type="body"/>
          </p:nvPr>
        </p:nvSpPr>
        <p:spPr>
          <a:xfrm>
            <a:off x="457200" y="3619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5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3" name="placeholder_2"/>
          <p:cNvSpPr>
            <a:spLocks noGrp="1"/>
          </p:cNvSpPr>
          <p:nvPr>
            <p:ph type="title" idx="1"/>
          </p:nvPr>
        </p:nvSpPr>
        <p:spPr>
          <a:xfrm>
            <a:off x="457200" y="1285875"/>
            <a:ext cx="102870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570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5700">
                <a:solidFill>
                  <a:srgbClr val="101C28"/>
                </a:solidFill>
                <a:latin typeface="Arial"/>
                <a:ea typeface="Arial"/>
                <a:cs typeface="Arial"/>
              </a:rPr>
              <a:t>Click to add title</a:t>
            </a:r>
          </a:p>
        </p:txBody>
      </p:sp>
      <p:sp>
        <p:nvSpPr>
          <p:cNvPr id="4" name="placeholder_3"/>
          <p:cNvSpPr>
            <a:spLocks noGrp="1"/>
          </p:cNvSpPr>
          <p:nvPr>
            <p:ph type="body" idx="2"/>
          </p:nvPr>
        </p:nvSpPr>
        <p:spPr>
          <a:xfrm>
            <a:off x="457200" y="2381250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225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</p:txBody>
      </p:sp>
      <p:sp>
        <p:nvSpPr>
          <p:cNvPr id="5" name="placeholder_4"/>
          <p:cNvSpPr>
            <a:spLocks noGrp="1"/>
          </p:cNvSpPr>
          <p:nvPr>
            <p:ph type="body" idx="3"/>
          </p:nvPr>
        </p:nvSpPr>
        <p:spPr>
          <a:xfrm>
            <a:off x="8858250" y="2266950"/>
            <a:ext cx="2857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1pPr>
            <a:lvl2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2pPr>
            <a:lvl3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3pPr>
            <a:lvl4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4pPr>
            <a:lvl5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5pPr>
            <a:lvl6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6pPr>
            <a:lvl7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7pPr>
            <a:lvl8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8pPr>
            <a:lvl9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76828C"/>
                </a:solidFill>
                <a:latin typeface="Arial"/>
                <a:ea typeface="Arial"/>
                <a:cs typeface="Arial"/>
              </a:rPr>
              <a:t>Click to add text</a:t>
            </a:r>
          </a:p>
          <a:p>
            <a:pPr marL="0" indent="0">
              <a:buNone/>
              <a:defRPr sz="180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endParaRPr sz="1800">
              <a:solidFill>
                <a:srgbClr val="76828C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2 Columns — Image Background">
    <p:spTree>
      <p:nvGrpSpPr>
        <p:cNvPr id="1" name=""/>
        <p:cNvGrpSpPr/>
        <p:nvPr/>
      </p:nvGrpSpPr>
      <p:grpSpPr/>
      <p:pic>
        <p:nvPicPr>
          <p:cNvPr id="2" name="Picture 17"/>
          <p:cNvPicPr>
            <a:picLocks noChangeAspect="1"/>
          </p:cNvPicPr>
          <p:nvPr/>
        </p:nvPicPr>
        <p:blipFill>
          <a:blip r:embed="inheritedArt2"/>
          <a:srcRect t="9536" b="9536"/>
          <a:stretch>
            <a:fillRect/>
          </a:stretch>
        </p:blipFill>
        <p:spPr>
          <a:xfrm>
            <a:off x="5410200" y="0"/>
            <a:ext cx="6781800" cy="6858000"/>
          </a:xfrm>
          <a:prstGeom prst="rect">
            <a:avLst/>
          </a:prstGeom>
        </p:spPr>
      </p:pic>
      <p:sp>
        <p:nvSpPr>
          <p:cNvPr id="3" name="image-tone"/>
          <p:cNvSpPr>
            <a:spLocks noGrp="1"/>
          </p:cNvSpPr>
          <p:nvPr/>
        </p:nvSpPr>
        <p:spPr>
          <a:xfrm>
            <a:off x="5410200" y="0"/>
            <a:ext cx="6781800" cy="6858000"/>
          </a:xfrm>
          <a:prstGeom prst="rect">
            <a:avLst/>
          </a:prstGeom>
          <a:gradFill>
            <a:gsLst>
              <a:gs pos="0">
                <a:srgbClr val="052D47">
                  <a:alpha val="30000"/>
                </a:srgbClr>
              </a:gs>
              <a:gs pos="40000">
                <a:srgbClr val="052D47">
                  <a:alpha val="34000"/>
                </a:srgbClr>
              </a:gs>
              <a:gs pos="100000">
                <a:srgbClr val="052D47">
                  <a:alpha val="62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4648200" cy="1285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5" name="intro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45434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6" name="total-label"/>
          <p:cNvSpPr>
            <a:spLocks noGrp="1"/>
          </p:cNvSpPr>
          <p:nvPr>
            <p:ph type="body" idx="2"/>
          </p:nvPr>
        </p:nvSpPr>
        <p:spPr>
          <a:xfrm>
            <a:off x="457200" y="3105150"/>
            <a:ext cx="4543425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7" name="tbl placeholder"/>
          <p:cNvSpPr/>
          <p:nvPr>
            <p:ph type="tbl" idx="3"/>
          </p:nvPr>
        </p:nvSpPr>
        <p:spPr>
          <a:xfrm>
            <a:off x="457200" y="4733925"/>
            <a:ext cx="4486275" cy="1371600"/>
          </a:xfrm>
          <a:prstGeom prst="rect">
            <a:avLst/>
          </a:prstGeom>
          <a:noFill/>
        </p:spPr>
      </p:sp>
      <p:sp>
        <p:nvSpPr>
          <p:cNvPr id="8" name="data-note"/>
          <p:cNvSpPr>
            <a:spLocks noGrp="1"/>
          </p:cNvSpPr>
          <p:nvPr>
            <p:ph type="body" idx="4"/>
          </p:nvPr>
        </p:nvSpPr>
        <p:spPr>
          <a:xfrm>
            <a:off x="457200" y="6486525"/>
            <a:ext cx="4486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9" name="initiative-label"/>
          <p:cNvSpPr>
            <a:spLocks noGrp="1"/>
          </p:cNvSpPr>
          <p:nvPr>
            <p:ph type="body" idx="5"/>
          </p:nvPr>
        </p:nvSpPr>
        <p:spPr>
          <a:xfrm>
            <a:off x="9486900" y="447675"/>
            <a:ext cx="2266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0" name="restoration-label"/>
          <p:cNvSpPr>
            <a:spLocks noGrp="1"/>
          </p:cNvSpPr>
          <p:nvPr>
            <p:ph type="body" idx="6"/>
          </p:nvPr>
        </p:nvSpPr>
        <p:spPr>
          <a:xfrm>
            <a:off x="5943600" y="2066925"/>
            <a:ext cx="24193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1" name="research-label"/>
          <p:cNvSpPr>
            <a:spLocks noGrp="1"/>
          </p:cNvSpPr>
          <p:nvPr>
            <p:ph type="body" idx="7"/>
          </p:nvPr>
        </p:nvSpPr>
        <p:spPr>
          <a:xfrm>
            <a:off x="9229725" y="2066925"/>
            <a:ext cx="250507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2" name="training-label"/>
          <p:cNvSpPr>
            <a:spLocks noGrp="1"/>
          </p:cNvSpPr>
          <p:nvPr>
            <p:ph type="body" idx="8"/>
          </p:nvPr>
        </p:nvSpPr>
        <p:spPr>
          <a:xfrm>
            <a:off x="6000750" y="4552950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3" name="education-label"/>
          <p:cNvSpPr>
            <a:spLocks noGrp="1"/>
          </p:cNvSpPr>
          <p:nvPr>
            <p:ph type="body" idx="9"/>
          </p:nvPr>
        </p:nvSpPr>
        <p:spPr>
          <a:xfrm>
            <a:off x="9210675" y="4552950"/>
            <a:ext cx="25431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1">
  <p:cSld name="Image + Text — Timeline">
    <p:spTree>
      <p:nvGrpSpPr>
        <p:cNvPr id="1" name=""/>
        <p:cNvGrpSpPr/>
        <p:nvPr/>
      </p:nvGrpSpPr>
      <p:grpSpPr/>
      <p:sp>
        <p:nvSpPr>
          <p:cNvPr id="2" name="timeline-rule"/>
          <p:cNvSpPr>
            <a:spLocks noGrp="1"/>
          </p:cNvSpPr>
          <p:nvPr/>
        </p:nvSpPr>
        <p:spPr>
          <a:xfrm>
            <a:off x="6391275" y="0"/>
            <a:ext cx="0" cy="6419850"/>
          </a:xfrm>
          <a:prstGeom prst="line">
            <a:avLst/>
          </a:prstGeom>
          <a:noFill/>
          <a:ln w="9525">
            <a:solidFill>
              <a:srgbClr val="C3C9C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timeline-node-0"/>
          <p:cNvSpPr>
            <a:spLocks noGrp="1"/>
          </p:cNvSpPr>
          <p:nvPr/>
        </p:nvSpPr>
        <p:spPr>
          <a:xfrm rot="10800000">
            <a:off x="6315075" y="571500"/>
            <a:ext cx="152400" cy="133350"/>
          </a:xfrm>
          <a:prstGeom prst="triangle">
            <a:avLst/>
          </a:prstGeom>
          <a:solidFill>
            <a:srgbClr val="9EAE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meline-node-1"/>
          <p:cNvSpPr>
            <a:spLocks noGrp="1"/>
          </p:cNvSpPr>
          <p:nvPr/>
        </p:nvSpPr>
        <p:spPr>
          <a:xfrm rot="10800000">
            <a:off x="6315075" y="2028825"/>
            <a:ext cx="152400" cy="133350"/>
          </a:xfrm>
          <a:prstGeom prst="triangle">
            <a:avLst/>
          </a:prstGeom>
          <a:solidFill>
            <a:srgbClr val="9EAE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meline-node-2"/>
          <p:cNvSpPr>
            <a:spLocks noGrp="1"/>
          </p:cNvSpPr>
          <p:nvPr/>
        </p:nvSpPr>
        <p:spPr>
          <a:xfrm rot="10800000">
            <a:off x="6315075" y="3486150"/>
            <a:ext cx="152400" cy="133350"/>
          </a:xfrm>
          <a:prstGeom prst="triangle">
            <a:avLst/>
          </a:prstGeom>
          <a:solidFill>
            <a:srgbClr val="9EAE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-node-3"/>
          <p:cNvSpPr>
            <a:spLocks noGrp="1"/>
          </p:cNvSpPr>
          <p:nvPr/>
        </p:nvSpPr>
        <p:spPr>
          <a:xfrm rot="10800000">
            <a:off x="6315075" y="4943475"/>
            <a:ext cx="152400" cy="133350"/>
          </a:xfrm>
          <a:prstGeom prst="triangle">
            <a:avLst/>
          </a:prstGeom>
          <a:solidFill>
            <a:srgbClr val="9EAE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hase-0 background"/>
          <p:cNvSpPr>
            <a:spLocks noGrp="1"/>
          </p:cNvSpPr>
          <p:nvPr/>
        </p:nvSpPr>
        <p:spPr>
          <a:xfrm>
            <a:off x="6715125" y="533400"/>
            <a:ext cx="2247900" cy="257175"/>
          </a:xfrm>
          <a:prstGeom prst="roundRect">
            <a:avLst>
              <a:gd name="adj" fmla="val 11111"/>
            </a:avLst>
          </a:prstGeom>
          <a:solidFill>
            <a:srgbClr val="E0E6EA"/>
          </a:solidFill>
          <a:ln w="0">
            <a:noFill/>
          </a:ln>
        </p:spPr>
      </p:sp>
      <p:sp>
        <p:nvSpPr>
          <p:cNvPr id="8" name="phase-1 background"/>
          <p:cNvSpPr>
            <a:spLocks noGrp="1"/>
          </p:cNvSpPr>
          <p:nvPr/>
        </p:nvSpPr>
        <p:spPr>
          <a:xfrm>
            <a:off x="6715125" y="1990725"/>
            <a:ext cx="2819400" cy="257175"/>
          </a:xfrm>
          <a:prstGeom prst="roundRect">
            <a:avLst>
              <a:gd name="adj" fmla="val 11111"/>
            </a:avLst>
          </a:prstGeom>
          <a:solidFill>
            <a:srgbClr val="E0E6EA"/>
          </a:solidFill>
          <a:ln w="0">
            <a:noFill/>
          </a:ln>
        </p:spPr>
      </p:sp>
      <p:sp>
        <p:nvSpPr>
          <p:cNvPr id="9" name="phase-2 background"/>
          <p:cNvSpPr>
            <a:spLocks noGrp="1"/>
          </p:cNvSpPr>
          <p:nvPr/>
        </p:nvSpPr>
        <p:spPr>
          <a:xfrm>
            <a:off x="6715125" y="3448050"/>
            <a:ext cx="2505075" cy="257175"/>
          </a:xfrm>
          <a:prstGeom prst="roundRect">
            <a:avLst>
              <a:gd name="adj" fmla="val 11111"/>
            </a:avLst>
          </a:prstGeom>
          <a:solidFill>
            <a:srgbClr val="E0E6EA"/>
          </a:solidFill>
          <a:ln w="0">
            <a:noFill/>
          </a:ln>
        </p:spPr>
      </p:sp>
      <p:sp>
        <p:nvSpPr>
          <p:cNvPr id="10" name="phase-3 background"/>
          <p:cNvSpPr>
            <a:spLocks noGrp="1"/>
          </p:cNvSpPr>
          <p:nvPr/>
        </p:nvSpPr>
        <p:spPr>
          <a:xfrm>
            <a:off x="6715125" y="4905375"/>
            <a:ext cx="2486025" cy="257175"/>
          </a:xfrm>
          <a:prstGeom prst="roundRect">
            <a:avLst>
              <a:gd name="adj" fmla="val 11111"/>
            </a:avLst>
          </a:prstGeom>
          <a:solidFill>
            <a:srgbClr val="E0E6EA"/>
          </a:solidFill>
          <a:ln w="0">
            <a:noFill/>
          </a:ln>
        </p:spPr>
      </p:sp>
      <p:sp>
        <p:nvSpPr>
          <p:cNvPr id="11" name="title"/>
          <p:cNvSpPr>
            <a:spLocks noGrp="1"/>
          </p:cNvSpPr>
          <p:nvPr>
            <p:ph type="title" idx="0"/>
          </p:nvPr>
        </p:nvSpPr>
        <p:spPr>
          <a:xfrm>
            <a:off x="457200" y="485775"/>
            <a:ext cx="53721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12" name="pic placeholder"/>
          <p:cNvSpPr/>
          <p:nvPr>
            <p:ph type="pic" idx="1"/>
          </p:nvPr>
        </p:nvSpPr>
        <p:spPr>
          <a:xfrm>
            <a:off x="2609850" y="2800350"/>
            <a:ext cx="2667000" cy="1590675"/>
          </a:xfrm>
          <a:prstGeom prst="rect">
            <a:avLst/>
          </a:prstGeom>
          <a:noFill/>
        </p:spPr>
      </p:sp>
      <p:sp>
        <p:nvSpPr>
          <p:cNvPr id="13" name="phase-0"/>
          <p:cNvSpPr>
            <a:spLocks noGrp="1"/>
          </p:cNvSpPr>
          <p:nvPr>
            <p:ph type="body" idx="2"/>
          </p:nvPr>
        </p:nvSpPr>
        <p:spPr>
          <a:xfrm>
            <a:off x="6715125" y="533400"/>
            <a:ext cx="2247900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4" name="detail-0"/>
          <p:cNvSpPr>
            <a:spLocks noGrp="1"/>
          </p:cNvSpPr>
          <p:nvPr>
            <p:ph type="body" idx="3"/>
          </p:nvPr>
        </p:nvSpPr>
        <p:spPr>
          <a:xfrm>
            <a:off x="6743700" y="923925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Text</a:t>
            </a:r>
          </a:p>
        </p:txBody>
      </p:sp>
      <p:sp>
        <p:nvSpPr>
          <p:cNvPr id="15" name="phase-1"/>
          <p:cNvSpPr>
            <a:spLocks noGrp="1"/>
          </p:cNvSpPr>
          <p:nvPr>
            <p:ph type="body" idx="4"/>
          </p:nvPr>
        </p:nvSpPr>
        <p:spPr>
          <a:xfrm>
            <a:off x="6715125" y="1990725"/>
            <a:ext cx="2819400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6" name="detail-1"/>
          <p:cNvSpPr>
            <a:spLocks noGrp="1"/>
          </p:cNvSpPr>
          <p:nvPr>
            <p:ph type="body" idx="5"/>
          </p:nvPr>
        </p:nvSpPr>
        <p:spPr>
          <a:xfrm>
            <a:off x="6743700" y="2381250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Text</a:t>
            </a:r>
          </a:p>
        </p:txBody>
      </p:sp>
      <p:sp>
        <p:nvSpPr>
          <p:cNvPr id="17" name="phase-2"/>
          <p:cNvSpPr>
            <a:spLocks noGrp="1"/>
          </p:cNvSpPr>
          <p:nvPr>
            <p:ph type="body" idx="6"/>
          </p:nvPr>
        </p:nvSpPr>
        <p:spPr>
          <a:xfrm>
            <a:off x="6715125" y="3448050"/>
            <a:ext cx="2505075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8" name="detail-2"/>
          <p:cNvSpPr>
            <a:spLocks noGrp="1"/>
          </p:cNvSpPr>
          <p:nvPr>
            <p:ph type="body" idx="7"/>
          </p:nvPr>
        </p:nvSpPr>
        <p:spPr>
          <a:xfrm>
            <a:off x="6743700" y="3838575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Text</a:t>
            </a:r>
          </a:p>
        </p:txBody>
      </p:sp>
      <p:sp>
        <p:nvSpPr>
          <p:cNvPr id="19" name="phase-3"/>
          <p:cNvSpPr>
            <a:spLocks noGrp="1"/>
          </p:cNvSpPr>
          <p:nvPr>
            <p:ph type="body" idx="8"/>
          </p:nvPr>
        </p:nvSpPr>
        <p:spPr>
          <a:xfrm>
            <a:off x="6715125" y="4905375"/>
            <a:ext cx="2486025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0" name="detail-3"/>
          <p:cNvSpPr>
            <a:spLocks noGrp="1"/>
          </p:cNvSpPr>
          <p:nvPr>
            <p:ph type="body" idx="9"/>
          </p:nvPr>
        </p:nvSpPr>
        <p:spPr>
          <a:xfrm>
            <a:off x="6743700" y="5295900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Text</a:t>
            </a:r>
          </a:p>
        </p:txBody>
      </p:sp>
      <p:sp>
        <p:nvSpPr>
          <p:cNvPr id="21" name="brand"/>
          <p:cNvSpPr>
            <a:spLocks noGrp="1"/>
          </p:cNvSpPr>
          <p:nvPr>
            <p:ph type="body" idx="10"/>
          </p:nvPr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22" name="pic placeholder"/>
          <p:cNvSpPr/>
          <p:nvPr>
            <p:ph type="pic" idx="11"/>
          </p:nvPr>
        </p:nvSpPr>
        <p:spPr>
          <a:xfrm>
            <a:off x="457200" y="3238500"/>
            <a:ext cx="1990725" cy="2914650"/>
          </a:xfrm>
          <a:prstGeom prst="rect">
            <a:avLst/>
          </a:prstGeom>
          <a:noFill/>
        </p:spPr>
      </p:sp>
      <p:sp>
        <p:nvSpPr>
          <p:cNvPr id="23" name="pic placeholder"/>
          <p:cNvSpPr/>
          <p:nvPr>
            <p:ph type="pic" idx="12"/>
          </p:nvPr>
        </p:nvSpPr>
        <p:spPr>
          <a:xfrm>
            <a:off x="2609850" y="4543425"/>
            <a:ext cx="2962275" cy="1609725"/>
          </a:xfrm>
          <a:prstGeom prst="rect">
            <a:avLst/>
          </a:prstGeom>
          <a:noFill/>
        </p:spPr>
      </p:sp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3" Type="http://schemas.openxmlformats.org/officeDocument/2006/relationships/image" Target="../media/image1-q90.jpg" /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inheritedArt4" Type="http://schemas.openxmlformats.org/officeDocument/2006/relationships/image" Target="../media/image1-q90.jpg" /></Relationships>
</file>

<file path=ppt/slideMasters/_rels/slideMaster2.xml.rels><?xml version='1.0' encoding='utf-8'?>
<Relationships xmlns="http://schemas.openxmlformats.org/package/2006/relationships"><Relationship Id="rId3" Type="http://schemas.openxmlformats.org/officeDocument/2006/relationships/theme" Target="../theme/theme2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-q90.jpg" 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Relationship Id="inheritedLayout13" Type="http://schemas.openxmlformats.org/officeDocument/2006/relationships/slideLayout" Target="/ppt/slideLayouts/slideLayout13.xml"/><Relationship Id="inheritedLayout14" Type="http://schemas.openxmlformats.org/officeDocument/2006/relationships/slideLayout" Target="/ppt/slideLayouts/slideLayout14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'1.0' encoding='utf-8'?>
<Relationships xmlns="http://schemas.openxmlformats.org/package/2006/relationships"><Relationship Id="rId3" Type="http://schemas.openxmlformats.org/officeDocument/2006/relationships/image" Target="../media/image3-q90.jpg" /><Relationship Id="rId2" Type="http://schemas.openxmlformats.org/officeDocument/2006/relationships/theme" Target="../theme/theme5.xml" /><Relationship Id="rId1" Type="http://schemas.openxmlformats.org/officeDocument/2006/relationships/slideLayout" Target="../slideLayouts/slideLayout10.xml" /><Relationship Id="inheritedArt4" Type="http://schemas.openxmlformats.org/officeDocument/2006/relationships/image" Target="../media/image3-q90.jpg" /></Relationships>
</file>

<file path=ppt/slideMasters/_rels/slideMaster6.xml.rels><?xml version='1.0' encoding='UTF-8' standalone='yes'?>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'1.0' encoding='utf-8'?>
<Relationships xmlns="http://schemas.openxmlformats.org/package/2006/relationships"><Relationship Id="rId3" Type="http://schemas.openxmlformats.org/officeDocument/2006/relationships/image" Target="../media/image4-q90.jpg" /><Relationship Id="rId2" Type="http://schemas.openxmlformats.org/officeDocument/2006/relationships/theme" Target="../theme/theme7.xml" /><Relationship Id="rId1" Type="http://schemas.openxmlformats.org/officeDocument/2006/relationships/slideLayout" Target="../slideLayouts/slideLayout12.xml" /><Relationship Id="inheritedArt4" Type="http://schemas.openxmlformats.org/officeDocument/2006/relationships/image" Target="../media/image4-q90.jp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>
            <a:picLocks noChangeAspect="1"/>
          </p:cNvPicPr>
          <p:nvPr/>
        </p:nvPicPr>
        <p:blipFill>
          <a:blip r:embed="inheritedArt4"/>
          <a:srcRect t="11681" b="11681"/>
          <a:stretch>
            <a:fillRect/>
          </a:stretch>
        </p:blipFill>
        <p:spPr>
          <a:xfrm>
            <a:off x="457200" y="2800350"/>
            <a:ext cx="11277600" cy="36004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1" r:id="rId1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t="9536" b="95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mage-ton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52D47">
                  <a:alpha val="30000"/>
                </a:srgbClr>
              </a:gs>
              <a:gs pos="40000">
                <a:srgbClr val="052D47">
                  <a:alpha val="34000"/>
                </a:srgbClr>
              </a:gs>
              <a:gs pos="100000">
                <a:srgbClr val="052D47">
                  <a:alpha val="62000"/>
                </a:srgbClr>
              </a:gs>
            </a:gsLst>
            <a:lin ang="5400000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10" r:id="rId2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Co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8" r:id="rId3"/>
    <p:sldLayoutId id="2147484012" r:id="rId4"/>
    <p:sldLayoutId id="2147490001" r:id="inheritedLayout13"/>
    <p:sldLayoutId id="2147490002" r:id="inheritedLayout14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Spli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9" r:id="rId2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Rip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/>
          <p:cNvPicPr>
            <a:picLocks noChangeAspect="1"/>
          </p:cNvPicPr>
          <p:nvPr/>
        </p:nvPicPr>
        <p:blipFill>
          <a:blip r:embed="inheritedArt4"/>
          <a:srcRect t="409" b="409"/>
          <a:stretch>
            <a:fillRect/>
          </a:stretch>
        </p:blipFill>
        <p:spPr>
          <a:xfrm>
            <a:off x="3714750" y="381000"/>
            <a:ext cx="8020050" cy="447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-panel"/>
          <p:cNvSpPr>
            <a:spLocks noGrp="1"/>
          </p:cNvSpPr>
          <p:nvPr/>
        </p:nvSpPr>
        <p:spPr>
          <a:xfrm>
            <a:off x="5372100" y="0"/>
            <a:ext cx="6819900" cy="6858000"/>
          </a:xfrm>
          <a:prstGeom prst="rect">
            <a:avLst/>
          </a:prstGeom>
          <a:solidFill>
            <a:srgbClr val="E3EDF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ue Current Clos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/>
          <p:cNvPicPr>
            <a:picLocks noChangeAspect="1"/>
          </p:cNvPicPr>
          <p:nvPr/>
        </p:nvPicPr>
        <p:blipFill>
          <a:blip r:embed="inheritedArt4"/>
          <a:srcRect t="11912" b="11912"/>
          <a:stretch>
            <a:fillRect/>
          </a:stretch>
        </p:blipFill>
        <p:spPr>
          <a:xfrm>
            <a:off x="457200" y="3286125"/>
            <a:ext cx="11277600" cy="28860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</p:sldLayoutIdLst>
  <p:txStyles>
    <p:titleStyle>
      <a:lvl1pPr marL="0" indent="0" algn="l">
        <a:lnSpc>
          <a:spcPct val="90000"/>
        </a:lnSpc>
        <a:buNone/>
        <a:defRPr sz="4400">
          <a:solidFill>
            <a:srgbClr val="101C28"/>
          </a:solidFill>
          <a:latin typeface="Arial"/>
          <a:ea typeface="+mj-lt"/>
          <a:cs typeface="+mj-lt"/>
        </a:defRPr>
      </a:lvl1pPr>
    </p:titleStyle>
    <p:bodyStyle>
      <a:lvl1pPr marL="0" indent="0" algn="l">
        <a:lnSpc>
          <a:spcPct val="90000"/>
        </a:lnSpc>
        <a:buNone/>
        <a:defRPr sz="2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lnSpc>
          <a:spcPct val="90000"/>
        </a:lnSpc>
        <a:buNone/>
        <a:defRPr sz="24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lnSpc>
          <a:spcPct val="90000"/>
        </a:lnSpc>
        <a:buNone/>
        <a:defRPr sz="20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lnSpc>
          <a:spcPct val="90000"/>
        </a:lnSpc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bodyStyle>
    <p:otherStyle>
      <a:lvl1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1pPr>
      <a:lvl2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2pPr>
      <a:lvl3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3pPr>
      <a:lvl4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4pPr>
      <a:lvl5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5pPr>
      <a:lvl6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6pPr>
      <a:lvl7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7pPr>
      <a:lvl8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8pPr>
      <a:lvl9pPr marL="0" indent="0" algn="l">
        <a:buNone/>
        <a:defRPr sz="1800">
          <a:solidFill>
            <a:srgbClr val="101C28"/>
          </a:solidFill>
          <a:latin typeface="Arial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inheritedComposition" Type="http://schemas.openxmlformats.org/officeDocument/2006/relationships/slideLayout" Target="/ppt/slideLayouts/slideLayout1.xml"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image" Target="../media/image5-q90.jpg" /><Relationship Id="inheritedComposition" Type="http://schemas.openxmlformats.org/officeDocument/2006/relationships/slideLayout" Target="/ppt/slideLayouts/slideLayout8.xml" /></Relationships>
</file>

<file path=ppt/slides/_rels/slide3.xml.rels><?xml version='1.0' encoding='UTF-8' standalone='yes'?>
<Relationships xmlns="http://schemas.openxmlformats.org/package/2006/relationships"><Relationship Id="inheritedComposition" Type="http://schemas.openxmlformats.org/officeDocument/2006/relationships/slideLayout" Target="/ppt/slideLayouts/slideLayout10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inheritedComposition" Type="http://schemas.openxmlformats.org/officeDocument/2006/relationships/slideLayout" Target="/ppt/slideLayouts/slideLayout11.xml"/></Relationships>
</file>

<file path=ppt/slides/_rels/slide5.xml.rels><?xml version='1.0' encoding='utf-8'?>
<Relationships xmlns="http://schemas.openxmlformats.org/package/2006/relationships"><Relationship Id="rId3" Type="http://schemas.openxmlformats.org/officeDocument/2006/relationships/image" Target="../media/image11-q90.jpg" /><Relationship Id="rId7" Type="http://schemas.openxmlformats.org/officeDocument/2006/relationships/image" Target="../media/image15.png" /><Relationship Id="rId2" Type="http://schemas.openxmlformats.org/officeDocument/2006/relationships/image" Target="../media/image10-q90.jpg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-q90.jpg" /><Relationship Id="inheritedComposition" Type="http://schemas.openxmlformats.org/officeDocument/2006/relationships/slideLayout" Target="/ppt/slideLayouts/slideLayout6.xml" /></Relationships>
</file>

<file path=ppt/slides/_rels/slide6.xml.rels><?xml version='1.0' encoding='utf-8'?>
<Relationships xmlns="http://schemas.openxmlformats.org/package/2006/relationships"><Relationship Id="rId2" Type="http://schemas.openxmlformats.org/officeDocument/2006/relationships/image" Target="../media/image16-q90.jpg" /><Relationship Id="inheritedComposition" Type="http://schemas.openxmlformats.org/officeDocument/2006/relationships/slideLayout" Target="/ppt/slideLayouts/slideLayout9.xml" /></Relationships>
</file>

<file path=ppt/slides/_rels/slide7.xml.rels><?xml version='1.0' encoding='UTF-8' standalone='yes'?>
<Relationships xmlns="http://schemas.openxmlformats.org/package/2006/relationships"><Relationship Id="inheritedComposition" Type="http://schemas.openxmlformats.org/officeDocument/2006/relationships/slideLayout" Target="/ppt/slideLayouts/slideLayout13.xml"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image" Target="../media/image17-q90.jpg" /><Relationship Id="inheritedComposition" Type="http://schemas.openxmlformats.org/officeDocument/2006/relationships/slideLayout" Target="/ppt/slideLayouts/slideLayout8.xml" /></Relationships>
</file>

<file path=ppt/slides/_rels/slide9.xml.rels><?xml version='1.0' encoding='utf-8'?>
<Relationships xmlns="http://schemas.openxmlformats.org/package/2006/relationships"><Relationship Id="rId3" Type="http://schemas.openxmlformats.org/officeDocument/2006/relationships/image" Target="../media/image19-q90.jpg" /><Relationship Id="rId2" Type="http://schemas.openxmlformats.org/officeDocument/2006/relationships/image" Target="../media/image18-q90.jpg" /><Relationship Id="rId4" Type="http://schemas.openxmlformats.org/officeDocument/2006/relationships/image" Target="../media/image20-q90.jpg" /><Relationship Id="inheritedComposition" Type="http://schemas.openxmlformats.org/officeDocument/2006/relationships/slideLayout" Target="/ppt/slideLayouts/slideLayout14.xml" /></Relationships>
</file>

<file path=ppt/slides/_rels/slide10.xml.rels><?xml version='1.0' encoding='UTF-8' standalone='yes'?>
<Relationships xmlns="http://schemas.openxmlformats.org/package/2006/relationships"><Relationship Id="inheritedComposition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>
            <a:extLst>
              <a:ext uri="{FF2B5EF4-FFF2-40B4-BE49-F238E27FC236}">
                <a16:creationId xmlns:a16="http://schemas.microsoft.com/office/drawing/2014/main" id="{F71A0C3A-731D-43C9-A258-A0C9E5B3D075}"/>
              </a:ext>
            </a:extLst>
          </p:cNvPr>
          <p:cNvSpPr>
            <a:spLocks noGrp="1"/>
          </p:cNvSpPr>
          <p:nvPr>
            <p:ph type="body" idx="0"/>
          </p:nvPr>
        </p:nvSpPr>
        <p:spPr>
          <a:xfrm>
            <a:off x="457200" y="352425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sp>
        <p:nvSpPr>
          <p:cNvPr id="3" name="report-title">
            <a:extLst>
              <a:ext uri="{FF2B5EF4-FFF2-40B4-BE49-F238E27FC236}">
                <a16:creationId xmlns:a16="http://schemas.microsoft.com/office/drawing/2014/main" id="{0D060D9A-AB80-4DFB-8C94-12637B384DF2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457200" y="971550"/>
            <a:ext cx="82391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58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Annual report</a:t>
            </a:r>
          </a:p>
        </p:txBody>
      </p:sp>
      <p:sp>
        <p:nvSpPr>
          <p:cNvPr id="4" name="report-year">
            <a:extLst>
              <a:ext uri="{FF2B5EF4-FFF2-40B4-BE49-F238E27FC236}">
                <a16:creationId xmlns:a16="http://schemas.microsoft.com/office/drawing/2014/main" id="{578CCA7A-983C-4ACD-90E5-513CC6A4A8B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76250" y="1905000"/>
            <a:ext cx="3810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5" name="cover-description">
            <a:extLst>
              <a:ext uri="{FF2B5EF4-FFF2-40B4-BE49-F238E27FC236}">
                <a16:creationId xmlns:a16="http://schemas.microsoft.com/office/drawing/2014/main" id="{CF8385B5-8C81-48CD-9EFA-39B3565CC0A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153400" y="1943100"/>
            <a:ext cx="3581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A year of care for our ocean</a:t>
            </a:r>
          </a:p>
        </p:txBody>
      </p:sp>
    </p:spTree>
    <p:extLst>
      <p:ext uri="{BB962C8B-B14F-4D97-AF65-F5344CB8AC3E}">
        <p14:creationId xmlns:p14="http://schemas.microsoft.com/office/powerpoint/2010/main" val="139229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9752274-CE21-4697-8750-DE06AF3F53A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495300"/>
            <a:ext cx="4667250" cy="1257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A healthier ocean,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shaped by local care</a:t>
            </a:r>
          </a:p>
        </p:txBody>
      </p:sp>
      <p:sp>
        <p:nvSpPr>
          <p:cNvPr id="3" name="mission">
            <a:extLst>
              <a:ext uri="{FF2B5EF4-FFF2-40B4-BE49-F238E27FC236}">
                <a16:creationId xmlns:a16="http://schemas.microsoft.com/office/drawing/2014/main" id="{3822D0EB-85B9-4DA0-88AB-8A6617E9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352675"/>
            <a:ext cx="4352925" cy="914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Blue Current supports communities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working to restore coastal habitats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and reduce marine pollution.</a:t>
            </a:r>
          </a:p>
        </p:txBody>
      </p:sp>
      <p:sp>
        <p:nvSpPr>
          <p:cNvPr id="4" name="approach">
            <a:extLst>
              <a:ext uri="{FF2B5EF4-FFF2-40B4-BE49-F238E27FC236}">
                <a16:creationId xmlns:a16="http://schemas.microsoft.com/office/drawing/2014/main" id="{3D5C638F-99DA-451A-8D40-2EF617C8AC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3486150"/>
            <a:ext cx="4362450" cy="933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We combine local knowledge with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field research, and share what we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learn along the way.</a:t>
            </a:r>
          </a:p>
        </p:txBody>
      </p:sp>
      <p:sp>
        <p:nvSpPr>
          <p:cNvPr id="5" name="principles">
            <a:extLst>
              <a:ext uri="{FF2B5EF4-FFF2-40B4-BE49-F238E27FC236}">
                <a16:creationId xmlns:a16="http://schemas.microsoft.com/office/drawing/2014/main" id="{53706672-1EF2-41C2-B47D-91E1828D99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4943475"/>
            <a:ext cx="447675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Healthy habitats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Cleaner waterways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Stronger coastal communities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ph type="pic" idx="100"/>
          </p:nvPr>
        </p:nvPicPr>
        <p:blipFill>
          <a:blip r:embed="rId2"/>
          <a:srcRect l="4650" r="4650"/>
          <a:stretch>
            <a:fillRect/>
          </a:stretch>
        </p:blipFill>
        <p:spPr>
          <a:xfrm>
            <a:off x="5257800" y="457200"/>
            <a:ext cx="6477000" cy="5715000"/>
          </a:xfrm>
          <a:prstGeom prst="rect">
            <a:avLst/>
          </a:prstGeom>
        </p:spPr>
      </p:pic>
      <p:sp>
        <p:nvSpPr>
          <p:cNvPr id="7" name="brand">
            <a:extLst>
              <a:ext uri="{FF2B5EF4-FFF2-40B4-BE49-F238E27FC236}">
                <a16:creationId xmlns:a16="http://schemas.microsoft.com/office/drawing/2014/main" id="{98440831-A7F3-4539-B067-76443A2EE219}"/>
              </a:ext>
            </a:extLst>
          </p:cNvPr>
          <p:cNvSpPr>
            <a:spLocks noGrp="1"/>
          </p:cNvSpPr>
          <p:nvPr/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</p:spTree>
    <p:extLst>
      <p:ext uri="{BB962C8B-B14F-4D97-AF65-F5344CB8AC3E}">
        <p14:creationId xmlns:p14="http://schemas.microsoft.com/office/powerpoint/2010/main" val="148433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832682D-2B45-4D9B-98A1-DA56A269734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504825"/>
            <a:ext cx="4667250" cy="1381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Our year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9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in numbers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C31ACBC7-EAC5-4568-B10C-5CBA21153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52650"/>
            <a:ext cx="45148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Local projects connect healthier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habitats with stronger communities.</a:t>
            </a:r>
          </a:p>
        </p:txBody>
      </p:sp>
      <p:sp>
        <p:nvSpPr>
          <p:cNvPr id="5" name="diagram-label-one">
            <a:extLst>
              <a:ext uri="{FF2B5EF4-FFF2-40B4-BE49-F238E27FC236}">
                <a16:creationId xmlns:a16="http://schemas.microsoft.com/office/drawing/2014/main" id="{E075CAF0-A92E-4EB5-B85A-3608C530C3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53200" y="1838325"/>
            <a:ext cx="161925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Healthy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habitats</a:t>
            </a:r>
          </a:p>
        </p:txBody>
      </p:sp>
      <p:sp>
        <p:nvSpPr>
          <p:cNvPr id="6" name="diagram-label-two">
            <a:extLst>
              <a:ext uri="{FF2B5EF4-FFF2-40B4-BE49-F238E27FC236}">
                <a16:creationId xmlns:a16="http://schemas.microsoft.com/office/drawing/2014/main" id="{D03296FF-F264-42BB-B625-6BB931201FE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9372600" y="1257300"/>
            <a:ext cx="19431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Coastal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communities</a:t>
            </a:r>
          </a:p>
        </p:txBody>
      </p:sp>
      <p:sp>
        <p:nvSpPr>
          <p:cNvPr id="7" name="diagram-outcome">
            <a:extLst>
              <a:ext uri="{FF2B5EF4-FFF2-40B4-BE49-F238E27FC236}">
                <a16:creationId xmlns:a16="http://schemas.microsoft.com/office/drawing/2014/main" id="{D712F638-2BF4-4BCA-8E40-D87CC93E835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8039100" y="2838450"/>
            <a:ext cx="18288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Ocean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health</a:t>
            </a:r>
          </a:p>
        </p:txBody>
      </p:sp>
      <p:sp>
        <p:nvSpPr>
          <p:cNvPr id="8" name="copy-title">
            <a:extLst>
              <a:ext uri="{FF2B5EF4-FFF2-40B4-BE49-F238E27FC236}">
                <a16:creationId xmlns:a16="http://schemas.microsoft.com/office/drawing/2014/main" id="{44D33406-706E-4647-8B85-9195FB656CC9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57200" y="488632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Care that continues</a:t>
            </a:r>
          </a:p>
        </p:txBody>
      </p:sp>
      <p:sp>
        <p:nvSpPr>
          <p:cNvPr id="9" name="copy">
            <a:extLst>
              <a:ext uri="{FF2B5EF4-FFF2-40B4-BE49-F238E27FC236}">
                <a16:creationId xmlns:a16="http://schemas.microsoft.com/office/drawing/2014/main" id="{323136ED-7E86-4D71-BF9E-CC9B143137DD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457200" y="5305425"/>
            <a:ext cx="6524625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Long-term partnerships help local teams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monitor change and sustain restoration.</a:t>
            </a:r>
          </a:p>
        </p:txBody>
      </p:sp>
      <p:sp>
        <p:nvSpPr>
          <p:cNvPr id="10" name="metrics-title">
            <a:extLst>
              <a:ext uri="{FF2B5EF4-FFF2-40B4-BE49-F238E27FC236}">
                <a16:creationId xmlns:a16="http://schemas.microsoft.com/office/drawing/2014/main" id="{7C917B9B-2FF3-4349-8C26-0639A3B14788}"/>
              </a:ext>
            </a:extLst>
          </p:cNvPr>
          <p:cNvSpPr>
            <a:spLocks noGrp="1"/>
          </p:cNvSpPr>
          <p:nvPr/>
        </p:nvSpPr>
        <p:spPr>
          <a:xfrm>
            <a:off x="7696200" y="4200525"/>
            <a:ext cx="37528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575" b="1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C28"/>
                </a:solidFill>
                <a:latin typeface="Arial"/>
                <a:ea typeface="Arial"/>
                <a:cs typeface="Arial"/>
              </a:rPr>
              <a:t>Annual impact</a:t>
            </a:r>
          </a:p>
        </p:txBody>
      </p:sp>
      <p:graphicFrame>
        <p:nvGraphicFramePr>
          <p:cNvPr id="23" name="Table 22"/>
          <p:cNvGraphicFramePr/>
          <p:nvPr/>
        </p:nvGraphicFramePr>
        <p:xfrm>
          <a:off x="7696200" y="4600575"/>
          <a:ext cx="4038600" cy="15621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Community projects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Volunteer participants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640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Marine debris collected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12 t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Habitat under restoration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42 ha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brand">
            <a:extLst>
              <a:ext uri="{FF2B5EF4-FFF2-40B4-BE49-F238E27FC236}">
                <a16:creationId xmlns:a16="http://schemas.microsoft.com/office/drawing/2014/main" id="{B31DF7A7-DF8C-4380-88D4-AD361BC3F458}"/>
              </a:ext>
            </a:extLst>
          </p:cNvPr>
          <p:cNvSpPr>
            <a:spLocks noGrp="1"/>
          </p:cNvSpPr>
          <p:nvPr/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sp>
        <p:nvSpPr>
          <p:cNvPr id="13" name="sample-disclosure">
            <a:extLst>
              <a:ext uri="{FF2B5EF4-FFF2-40B4-BE49-F238E27FC236}">
                <a16:creationId xmlns:a16="http://schemas.microsoft.com/office/drawing/2014/main" id="{5A45C1D2-CD23-43AF-9D0B-9B45A486E55A}"/>
              </a:ext>
            </a:extLst>
          </p:cNvPr>
          <p:cNvSpPr>
            <a:spLocks noGrp="1"/>
          </p:cNvSpPr>
          <p:nvPr/>
        </p:nvSpPr>
        <p:spPr>
          <a:xfrm>
            <a:off x="9906000" y="6457950"/>
            <a:ext cx="18288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Illustrative data</a:t>
            </a:r>
          </a:p>
        </p:txBody>
      </p:sp>
    </p:spTree>
    <p:extLst>
      <p:ext uri="{BB962C8B-B14F-4D97-AF65-F5344CB8AC3E}">
        <p14:creationId xmlns:p14="http://schemas.microsoft.com/office/powerpoint/2010/main" val="12081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94A99F-D552-45B5-B963-08F475C39421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4619625" cy="1209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More people,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more coastal care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18B1B16A-0A36-4B61-9430-D4458EDC3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62150"/>
            <a:ext cx="46482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Participation grows through local partnerships.</a:t>
            </a:r>
          </a:p>
        </p:txBody>
      </p:sp>
      <p:sp>
        <p:nvSpPr>
          <p:cNvPr id="5" name="metric">
            <a:extLst>
              <a:ext uri="{FF2B5EF4-FFF2-40B4-BE49-F238E27FC236}">
                <a16:creationId xmlns:a16="http://schemas.microsoft.com/office/drawing/2014/main" id="{B883C62F-FF8F-443C-9254-EAD79BFBF76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609850"/>
            <a:ext cx="4495800" cy="704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We help volunteers build the skills and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confidence to care for their coast.</a:t>
            </a:r>
          </a:p>
        </p:txBody>
      </p:sp>
      <p:sp>
        <p:nvSpPr>
          <p:cNvPr id="6" name="chart-title">
            <a:extLst>
              <a:ext uri="{FF2B5EF4-FFF2-40B4-BE49-F238E27FC236}">
                <a16:creationId xmlns:a16="http://schemas.microsoft.com/office/drawing/2014/main" id="{8C0D3644-F17B-4E01-95EA-63949DE6496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57900" y="1057275"/>
            <a:ext cx="54864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Volunteer participants</a:t>
            </a:r>
          </a:p>
        </p:txBody>
      </p:sp>
      <p:graphicFrame>
        <p:nvGraphicFramePr>
          <p:cNvPr id="23" name="Chart"/>
          <p:cNvGraphicFramePr/>
          <p:nvPr>
            <p:ph type="chart" idx="120"/>
          </p:nvPr>
        </p:nvGraphicFramePr>
        <p:xfrm>
          <a:off x="5600700" y="1790700"/>
          <a:ext cx="6334125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brand">
            <a:extLst>
              <a:ext uri="{FF2B5EF4-FFF2-40B4-BE49-F238E27FC236}">
                <a16:creationId xmlns:a16="http://schemas.microsoft.com/office/drawing/2014/main" id="{F5BBAB58-9FD8-47EE-8425-89B69822E32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sp>
        <p:nvSpPr>
          <p:cNvPr id="9" name="sample-disclosure">
            <a:extLst>
              <a:ext uri="{FF2B5EF4-FFF2-40B4-BE49-F238E27FC236}">
                <a16:creationId xmlns:a16="http://schemas.microsoft.com/office/drawing/2014/main" id="{3BAB96B3-9CE9-4817-9B54-DBE4355001C7}"/>
              </a:ext>
            </a:extLst>
          </p:cNvPr>
          <p:cNvSpPr>
            <a:spLocks noGrp="1"/>
          </p:cNvSpPr>
          <p:nvPr/>
        </p:nvSpPr>
        <p:spPr>
          <a:xfrm>
            <a:off x="6191250" y="6238875"/>
            <a:ext cx="5429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Illustrative data for 2022–2026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4533900"/>
            <a:ext cx="419100" cy="419100"/>
          </a:xfrm>
          <a:prstGeom prst="rect">
            <a:avLst/>
          </a:prstGeom>
        </p:spPr>
      </p:pic>
      <p:sp>
        <p:nvSpPr>
          <p:cNvPr id="11" name="icon-people.png-label">
            <a:extLst>
              <a:ext uri="{FF2B5EF4-FFF2-40B4-BE49-F238E27FC236}">
                <a16:creationId xmlns:a16="http://schemas.microsoft.com/office/drawing/2014/main" id="{FF9806F6-04C3-463C-9E7A-BB4CEEB94B8C}"/>
              </a:ext>
            </a:extLst>
          </p:cNvPr>
          <p:cNvSpPr>
            <a:spLocks noGrp="1"/>
          </p:cNvSpPr>
          <p:nvPr/>
        </p:nvSpPr>
        <p:spPr>
          <a:xfrm>
            <a:off x="981075" y="45815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640 volunteers</a:t>
            </a:r>
          </a:p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participating in 2026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86075" y="4533900"/>
            <a:ext cx="419100" cy="419100"/>
          </a:xfrm>
          <a:prstGeom prst="rect">
            <a:avLst/>
          </a:prstGeom>
        </p:spPr>
      </p:pic>
      <p:sp>
        <p:nvSpPr>
          <p:cNvPr id="13" name="icon-coral.png-label">
            <a:extLst>
              <a:ext uri="{FF2B5EF4-FFF2-40B4-BE49-F238E27FC236}">
                <a16:creationId xmlns:a16="http://schemas.microsoft.com/office/drawing/2014/main" id="{2B16C749-A97D-4A91-99A2-3F1ED8CED443}"/>
              </a:ext>
            </a:extLst>
          </p:cNvPr>
          <p:cNvSpPr>
            <a:spLocks noGrp="1"/>
          </p:cNvSpPr>
          <p:nvPr/>
        </p:nvSpPr>
        <p:spPr>
          <a:xfrm>
            <a:off x="3409950" y="4581525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42 hectares</a:t>
            </a:r>
          </a:p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under restoration</a:t>
            </a: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7200" y="5495925"/>
            <a:ext cx="419100" cy="419100"/>
          </a:xfrm>
          <a:prstGeom prst="rect">
            <a:avLst/>
          </a:prstGeom>
        </p:spPr>
      </p:pic>
      <p:sp>
        <p:nvSpPr>
          <p:cNvPr id="15" name="icon-water.png-label">
            <a:extLst>
              <a:ext uri="{FF2B5EF4-FFF2-40B4-BE49-F238E27FC236}">
                <a16:creationId xmlns:a16="http://schemas.microsoft.com/office/drawing/2014/main" id="{AD164F0E-6F50-46D0-8CA2-DCBDD516DE96}"/>
              </a:ext>
            </a:extLst>
          </p:cNvPr>
          <p:cNvSpPr>
            <a:spLocks noGrp="1"/>
          </p:cNvSpPr>
          <p:nvPr/>
        </p:nvSpPr>
        <p:spPr>
          <a:xfrm>
            <a:off x="981075" y="5543550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12 tonnes of debris</a:t>
            </a:r>
          </a:p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collected from the coast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886075" y="5495925"/>
            <a:ext cx="419100" cy="419100"/>
          </a:xfrm>
          <a:prstGeom prst="rect">
            <a:avLst/>
          </a:prstGeom>
        </p:spPr>
      </p:pic>
      <p:sp>
        <p:nvSpPr>
          <p:cNvPr id="17" name="icon-globe.png-label">
            <a:extLst>
              <a:ext uri="{FF2B5EF4-FFF2-40B4-BE49-F238E27FC236}">
                <a16:creationId xmlns:a16="http://schemas.microsoft.com/office/drawing/2014/main" id="{2E2493BC-C450-4AC8-BD0E-E9E9C5D21AF9}"/>
              </a:ext>
            </a:extLst>
          </p:cNvPr>
          <p:cNvSpPr>
            <a:spLocks noGrp="1"/>
          </p:cNvSpPr>
          <p:nvPr/>
        </p:nvSpPr>
        <p:spPr>
          <a:xfrm>
            <a:off x="3409950" y="5543550"/>
            <a:ext cx="19526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18 community projects</a:t>
            </a:r>
          </a:p>
          <a:p>
            <a:pPr algn="l">
              <a:defRPr sz="12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supporting local action</a:t>
            </a:r>
          </a:p>
        </p:txBody>
      </p:sp>
    </p:spTree>
    <p:extLst>
      <p:ext uri="{BB962C8B-B14F-4D97-AF65-F5344CB8AC3E}">
        <p14:creationId xmlns:p14="http://schemas.microsoft.com/office/powerpoint/2010/main" val="75628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ABAA846-F2F6-43D2-9D26-9FB518042AE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523875"/>
            <a:ext cx="7048500" cy="1276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Three ways we care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for our ocean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C8433187-91D5-4B79-94CA-510E0C6D4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48700" y="619125"/>
            <a:ext cx="3086100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Local partners shape each program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around the needs of their coast.</a:t>
            </a:r>
          </a:p>
        </p:txBody>
      </p:sp>
      <p:sp>
        <p:nvSpPr>
          <p:cNvPr id="4" name="program1">
            <a:extLst>
              <a:ext uri="{FF2B5EF4-FFF2-40B4-BE49-F238E27FC236}">
                <a16:creationId xmlns:a16="http://schemas.microsoft.com/office/drawing/2014/main" id="{0911B3D9-2AE1-40C2-8388-5626F852A7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914650"/>
            <a:ext cx="34575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Coastal restoration</a:t>
            </a:r>
          </a:p>
        </p:txBody>
      </p:sp>
      <p:sp>
        <p:nvSpPr>
          <p:cNvPr id="5" name="program1-desc">
            <a:extLst>
              <a:ext uri="{FF2B5EF4-FFF2-40B4-BE49-F238E27FC236}">
                <a16:creationId xmlns:a16="http://schemas.microsoft.com/office/drawing/2014/main" id="{12BCF826-1840-4231-BFAD-D792AD1FE41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57200" y="3314700"/>
            <a:ext cx="34671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Restore habitats and monitor recovery.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ph type="pic" idx="110"/>
          </p:nvPr>
        </p:nvPicPr>
        <p:blipFill>
          <a:blip r:embed="rId2"/>
          <a:srcRect t="3663" b="3663"/>
          <a:stretch>
            <a:fillRect/>
          </a:stretch>
        </p:blipFill>
        <p:spPr>
          <a:xfrm>
            <a:off x="457200" y="3762375"/>
            <a:ext cx="3467100" cy="2409825"/>
          </a:xfrm>
          <a:prstGeom prst="rect">
            <a:avLst/>
          </a:prstGeom>
        </p:spPr>
      </p:pic>
      <p:sp>
        <p:nvSpPr>
          <p:cNvPr id="7" name="program2">
            <a:extLst>
              <a:ext uri="{FF2B5EF4-FFF2-40B4-BE49-F238E27FC236}">
                <a16:creationId xmlns:a16="http://schemas.microsoft.com/office/drawing/2014/main" id="{6A565C77-4349-49DF-B99F-B272D736BD6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81500" y="2105025"/>
            <a:ext cx="34671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Cleaner waterways</a:t>
            </a:r>
          </a:p>
        </p:txBody>
      </p:sp>
      <p:sp>
        <p:nvSpPr>
          <p:cNvPr id="8" name="program2-desc">
            <a:extLst>
              <a:ext uri="{FF2B5EF4-FFF2-40B4-BE49-F238E27FC236}">
                <a16:creationId xmlns:a16="http://schemas.microsoft.com/office/drawing/2014/main" id="{9F57A720-0EBF-417C-B955-B81507F1DB0F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381500" y="2505075"/>
            <a:ext cx="34671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7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Reduce waste at its source.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ph type="pic" idx="111"/>
          </p:nvPr>
        </p:nvPicPr>
        <p:blipFill>
          <a:blip r:embed="rId3"/>
          <a:srcRect l="9853" r="9853"/>
          <a:stretch>
            <a:fillRect/>
          </a:stretch>
        </p:blipFill>
        <p:spPr>
          <a:xfrm>
            <a:off x="4381500" y="2933700"/>
            <a:ext cx="3467100" cy="3238500"/>
          </a:xfrm>
          <a:prstGeom prst="rect">
            <a:avLst/>
          </a:prstGeom>
        </p:spPr>
      </p:pic>
      <p:sp>
        <p:nvSpPr>
          <p:cNvPr id="10" name="program3">
            <a:extLst>
              <a:ext uri="{FF2B5EF4-FFF2-40B4-BE49-F238E27FC236}">
                <a16:creationId xmlns:a16="http://schemas.microsoft.com/office/drawing/2014/main" id="{4230800A-0755-432F-A79E-1B71A6D776C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305800" y="3486150"/>
            <a:ext cx="34290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Ocean learning</a:t>
            </a:r>
          </a:p>
        </p:txBody>
      </p:sp>
      <p:sp>
        <p:nvSpPr>
          <p:cNvPr id="11" name="program3-desc">
            <a:extLst>
              <a:ext uri="{FF2B5EF4-FFF2-40B4-BE49-F238E27FC236}">
                <a16:creationId xmlns:a16="http://schemas.microsoft.com/office/drawing/2014/main" id="{EA33C7AC-55FE-4CBE-A707-8236F0EE3D9C}"/>
              </a:ext>
            </a:extLst>
          </p:cNvPr>
          <p:cNvSpPr>
            <a:spLocks noGrp="1"/>
          </p:cNvSpPr>
          <p:nvPr/>
        </p:nvSpPr>
        <p:spPr>
          <a:xfrm>
            <a:off x="8305800" y="388620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Build knowledge through local action.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ph type="pic" idx="112"/>
          </p:nvPr>
        </p:nvPicPr>
        <p:blipFill>
          <a:blip r:embed="rId4"/>
          <a:srcRect t="13704" b="13704"/>
          <a:stretch>
            <a:fillRect/>
          </a:stretch>
        </p:blipFill>
        <p:spPr>
          <a:xfrm>
            <a:off x="8305800" y="4305300"/>
            <a:ext cx="3429000" cy="1866900"/>
          </a:xfrm>
          <a:prstGeom prst="rect">
            <a:avLst/>
          </a:prstGeom>
        </p:spPr>
      </p:pic>
      <p:sp>
        <p:nvSpPr>
          <p:cNvPr id="13" name="brand">
            <a:extLst>
              <a:ext uri="{FF2B5EF4-FFF2-40B4-BE49-F238E27FC236}">
                <a16:creationId xmlns:a16="http://schemas.microsoft.com/office/drawing/2014/main" id="{19900A5A-7DCC-4655-9591-C0B9292CF6DD}"/>
              </a:ext>
            </a:extLst>
          </p:cNvPr>
          <p:cNvSpPr>
            <a:spLocks noGrp="1"/>
          </p:cNvSpPr>
          <p:nvPr/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7200" y="2457450"/>
            <a:ext cx="419100" cy="4191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381500" y="1619250"/>
            <a:ext cx="419100" cy="4191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305800" y="3009900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77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>
            <p:ph type="pic" idx="100"/>
          </p:nvPr>
        </p:nvPicPr>
        <p:blipFill>
          <a:blip r:embed="rId2"/>
          <a:srcRect l="5222" r="5222"/>
          <a:stretch>
            <a:fillRect/>
          </a:stretch>
        </p:blipFill>
        <p:spPr>
          <a:xfrm>
            <a:off x="457200" y="457200"/>
            <a:ext cx="3838575" cy="5715000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A4226A0E-4738-4DF8-92E6-F906DF12C73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819650" y="504825"/>
            <a:ext cx="6877050" cy="1352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Project spotlight: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a living shoreline</a:t>
            </a:r>
          </a:p>
        </p:txBody>
      </p:sp>
      <p:sp>
        <p:nvSpPr>
          <p:cNvPr id="4" name="intro">
            <a:extLst>
              <a:ext uri="{FF2B5EF4-FFF2-40B4-BE49-F238E27FC236}">
                <a16:creationId xmlns:a16="http://schemas.microsoft.com/office/drawing/2014/main" id="{EAB8C7AF-BE04-4F93-841F-E62587816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9650" y="2057400"/>
            <a:ext cx="6829425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A community-led approach to restoring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habitat along a vulnerable coastal edge.</a:t>
            </a:r>
          </a:p>
        </p:txBody>
      </p:sp>
      <p:sp>
        <p:nvSpPr>
          <p:cNvPr id="5" name="table-label">
            <a:extLst>
              <a:ext uri="{FF2B5EF4-FFF2-40B4-BE49-F238E27FC236}">
                <a16:creationId xmlns:a16="http://schemas.microsoft.com/office/drawing/2014/main" id="{38C668C2-9114-4A08-91B8-8FD12017A1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19650" y="360045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1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C28"/>
                </a:solidFill>
                <a:latin typeface="Arial"/>
                <a:ea typeface="Arial"/>
                <a:cs typeface="Arial"/>
              </a:rPr>
              <a:t>PROJECT SUMMARY</a:t>
            </a:r>
          </a:p>
        </p:txBody>
      </p:sp>
      <p:graphicFrame>
        <p:nvGraphicFramePr>
          <p:cNvPr id="13" name="Table 12"/>
          <p:cNvGraphicFramePr/>
          <p:nvPr>
            <p:ph type="tbl" idx="130"/>
          </p:nvPr>
        </p:nvGraphicFramePr>
        <p:xfrm>
          <a:off x="4819650" y="4000500"/>
          <a:ext cx="6915150" cy="188595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Habitat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Community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Activity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Native planting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Local training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Seasonal surveys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Root cover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Shared skills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Site condition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brand">
            <a:extLst>
              <a:ext uri="{FF2B5EF4-FFF2-40B4-BE49-F238E27FC236}">
                <a16:creationId xmlns:a16="http://schemas.microsoft.com/office/drawing/2014/main" id="{F69F0CFF-75DF-44FB-B6BE-B63E48309EC4}"/>
              </a:ext>
            </a:extLst>
          </p:cNvPr>
          <p:cNvSpPr>
            <a:spLocks noGrp="1"/>
          </p:cNvSpPr>
          <p:nvPr/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sp>
        <p:nvSpPr>
          <p:cNvPr id="8" name="example-disclosure">
            <a:extLst>
              <a:ext uri="{FF2B5EF4-FFF2-40B4-BE49-F238E27FC236}">
                <a16:creationId xmlns:a16="http://schemas.microsoft.com/office/drawing/2014/main" id="{3717AE4F-9938-442F-93EE-EE4CF7344965}"/>
              </a:ext>
            </a:extLst>
          </p:cNvPr>
          <p:cNvSpPr>
            <a:spLocks noGrp="1"/>
          </p:cNvSpPr>
          <p:nvPr/>
        </p:nvSpPr>
        <p:spPr>
          <a:xfrm>
            <a:off x="10020300" y="645795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9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Example project</a:t>
            </a:r>
          </a:p>
        </p:txBody>
      </p:sp>
    </p:spTree>
    <p:extLst>
      <p:ext uri="{BB962C8B-B14F-4D97-AF65-F5344CB8AC3E}">
        <p14:creationId xmlns:p14="http://schemas.microsoft.com/office/powerpoint/2010/main" val="70848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6EFBF6D-5C11-412A-AAD1-CAD4876D8A78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457200"/>
            <a:ext cx="4648200" cy="1285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Resources for a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healthier ocean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6D1EB6AB-DBBF-4B85-A055-D4707392E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45434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In this example, $2.4M in annual spending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supports coastal care and ocean learning.</a:t>
            </a:r>
          </a:p>
        </p:txBody>
      </p:sp>
      <p:sp>
        <p:nvSpPr>
          <p:cNvPr id="4" name="total-label">
            <a:extLst>
              <a:ext uri="{FF2B5EF4-FFF2-40B4-BE49-F238E27FC236}">
                <a16:creationId xmlns:a16="http://schemas.microsoft.com/office/drawing/2014/main" id="{FD959CCA-6582-499A-881C-F4C919D5246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3105150"/>
            <a:ext cx="4543425" cy="8191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Local teams guide the work, with research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and training to support lasting progress.</a:t>
            </a:r>
          </a:p>
        </p:txBody>
      </p:sp>
      <p:graphicFrame>
        <p:nvGraphicFramePr>
          <p:cNvPr id="17" name="Table 16"/>
          <p:cNvGraphicFramePr/>
          <p:nvPr>
            <p:ph type="tbl" idx="3"/>
          </p:nvPr>
        </p:nvGraphicFramePr>
        <p:xfrm>
          <a:off x="457200" y="4733925"/>
          <a:ext cx="4486275" cy="137160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Programs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72%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>
                      <a:solidFill>
                        <a:srgbClr val="BAC5CD"/>
                      </a:solidFill>
                      <a:prstDash val="soli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Operations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16%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76828C"/>
                          </a:solidFill>
                          <a:latin typeface="Arial"/>
                          <a:ea typeface="Arial"/>
                          <a:cs typeface="Arial"/>
                        </a:rPr>
                        <a:t>Fundraising</a:t>
                      </a:r>
                    </a:p>
                  </a:txBody>
                  <a:tcPr marL="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1C28"/>
                          </a:solidFill>
                          <a:latin typeface="Arial"/>
                          <a:ea typeface="Arial"/>
                          <a:cs typeface="Arial"/>
                        </a:rPr>
                        <a:t>12%</a:t>
                      </a:r>
                    </a:p>
                  </a:txBody>
                  <a:tcPr marL="0" marR="95250" marT="57150" marB="57150" anchor="ctr">
                    <a:lnL>
                      <a:noFill/>
                    </a:lnL>
                    <a:lnR w="0">
                      <a:noFill/>
                    </a:lnR>
                    <a:lnT w="7144" cap="flat" cmpd="sng" algn="ctr">
                      <a:solidFill>
                        <a:srgbClr val="BAC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>
                      <a:solidFill>
                        <a:srgbClr val="BAC5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data-note">
            <a:extLst>
              <a:ext uri="{FF2B5EF4-FFF2-40B4-BE49-F238E27FC236}">
                <a16:creationId xmlns:a16="http://schemas.microsoft.com/office/drawing/2014/main" id="{F5918C34-71C7-4764-922F-A72C70C419A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57200" y="6486525"/>
            <a:ext cx="44862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5818A"/>
                </a:solidFill>
                <a:latin typeface="Arial"/>
                <a:ea typeface="Arial"/>
                <a:cs typeface="Arial"/>
              </a:rPr>
              <a:t>Illustrative financial data</a:t>
            </a:r>
          </a:p>
        </p:txBody>
      </p:sp>
      <p:sp>
        <p:nvSpPr>
          <p:cNvPr id="9" name="initiative-label">
            <a:extLst>
              <a:ext uri="{FF2B5EF4-FFF2-40B4-BE49-F238E27FC236}">
                <a16:creationId xmlns:a16="http://schemas.microsoft.com/office/drawing/2014/main" id="{09224F0C-0013-41A5-B908-FFC822E3E0BA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9486900" y="447675"/>
            <a:ext cx="2266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 initiatives</a:t>
            </a:r>
          </a:p>
        </p:txBody>
      </p:sp>
      <p:sp>
        <p:nvSpPr>
          <p:cNvPr id="10" name="restoration-label">
            <a:extLst>
              <a:ext uri="{FF2B5EF4-FFF2-40B4-BE49-F238E27FC236}">
                <a16:creationId xmlns:a16="http://schemas.microsoft.com/office/drawing/2014/main" id="{94E89465-CCCF-4596-A4A2-204BE5C7C860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5943600" y="2066925"/>
            <a:ext cx="241935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Community-led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habitat restoration</a:t>
            </a:r>
          </a:p>
        </p:txBody>
      </p:sp>
      <p:sp>
        <p:nvSpPr>
          <p:cNvPr id="11" name="research-label">
            <a:extLst>
              <a:ext uri="{FF2B5EF4-FFF2-40B4-BE49-F238E27FC236}">
                <a16:creationId xmlns:a16="http://schemas.microsoft.com/office/drawing/2014/main" id="{44385A7C-5041-4D27-A658-31610F0C7ECE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9229725" y="2066925"/>
            <a:ext cx="2505075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Seasonal field surveys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open findings</a:t>
            </a:r>
          </a:p>
        </p:txBody>
      </p:sp>
      <p:sp>
        <p:nvSpPr>
          <p:cNvPr id="12" name="training-label">
            <a:extLst>
              <a:ext uri="{FF2B5EF4-FFF2-40B4-BE49-F238E27FC236}">
                <a16:creationId xmlns:a16="http://schemas.microsoft.com/office/drawing/2014/main" id="{6D3230E4-A7B6-48BE-A2EA-7E052153570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000750" y="4552950"/>
            <a:ext cx="24193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volunteer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programs</a:t>
            </a:r>
          </a:p>
        </p:txBody>
      </p:sp>
      <p:sp>
        <p:nvSpPr>
          <p:cNvPr id="13" name="education-label">
            <a:extLst>
              <a:ext uri="{FF2B5EF4-FFF2-40B4-BE49-F238E27FC236}">
                <a16:creationId xmlns:a16="http://schemas.microsoft.com/office/drawing/2014/main" id="{97166EB9-4D57-48BB-B8DE-68C2ED95D92C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9210675" y="4552950"/>
            <a:ext cx="25431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 learning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coastal communities</a:t>
            </a:r>
          </a:p>
        </p:txBody>
      </p:sp>
    </p:spTree>
    <p:extLst>
      <p:ext uri="{BB962C8B-B14F-4D97-AF65-F5344CB8AC3E}">
        <p14:creationId xmlns:p14="http://schemas.microsoft.com/office/powerpoint/2010/main" val="132365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>
            <p:ph type="pic" idx="100"/>
          </p:nvPr>
        </p:nvPicPr>
        <p:blipFill>
          <a:blip r:embed="rId2"/>
          <a:srcRect l="12938" r="12938"/>
          <a:stretch>
            <a:fillRect/>
          </a:stretch>
        </p:blipFill>
        <p:spPr>
          <a:xfrm>
            <a:off x="457200" y="457200"/>
            <a:ext cx="5648325" cy="5715000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2A97139D-D5F0-4A4F-BEA2-931E595CB0C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715125" y="685800"/>
            <a:ext cx="5029200" cy="1257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A community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for our coast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9212A84-0B6B-4192-A1B6-F159FF96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5125" y="2247900"/>
            <a:ext cx="5000625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People make lasting care possible.</a:t>
            </a:r>
          </a:p>
        </p:txBody>
      </p:sp>
      <p:sp>
        <p:nvSpPr>
          <p:cNvPr id="5" name="p1">
            <a:extLst>
              <a:ext uri="{FF2B5EF4-FFF2-40B4-BE49-F238E27FC236}">
                <a16:creationId xmlns:a16="http://schemas.microsoft.com/office/drawing/2014/main" id="{48F9EF57-49C0-4E8A-8DA6-AEF3F69582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15125" y="3200400"/>
            <a:ext cx="5010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Local groups</a:t>
            </a:r>
          </a:p>
        </p:txBody>
      </p:sp>
      <p:sp>
        <p:nvSpPr>
          <p:cNvPr id="6" name="p1body">
            <a:extLst>
              <a:ext uri="{FF2B5EF4-FFF2-40B4-BE49-F238E27FC236}">
                <a16:creationId xmlns:a16="http://schemas.microsoft.com/office/drawing/2014/main" id="{65B685DF-DBC3-4BD9-B14F-40519A88DEE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715125" y="3600450"/>
            <a:ext cx="50101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Shape priorities and lead work on the ground.</a:t>
            </a:r>
          </a:p>
        </p:txBody>
      </p:sp>
      <p:sp>
        <p:nvSpPr>
          <p:cNvPr id="7" name="p2">
            <a:extLst>
              <a:ext uri="{FF2B5EF4-FFF2-40B4-BE49-F238E27FC236}">
                <a16:creationId xmlns:a16="http://schemas.microsoft.com/office/drawing/2014/main" id="{F3089220-9A79-4196-B351-D1E6C2723E29}"/>
              </a:ext>
            </a:extLst>
          </p:cNvPr>
          <p:cNvSpPr>
            <a:spLocks noGrp="1"/>
          </p:cNvSpPr>
          <p:nvPr/>
        </p:nvSpPr>
        <p:spPr>
          <a:xfrm>
            <a:off x="6715125" y="4352925"/>
            <a:ext cx="5010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Research partners</a:t>
            </a:r>
          </a:p>
        </p:txBody>
      </p:sp>
      <p:sp>
        <p:nvSpPr>
          <p:cNvPr id="8" name="p2body">
            <a:extLst>
              <a:ext uri="{FF2B5EF4-FFF2-40B4-BE49-F238E27FC236}">
                <a16:creationId xmlns:a16="http://schemas.microsoft.com/office/drawing/2014/main" id="{77C4DB3C-1DB6-49CC-B147-A8094CE123C7}"/>
              </a:ext>
            </a:extLst>
          </p:cNvPr>
          <p:cNvSpPr>
            <a:spLocks noGrp="1"/>
          </p:cNvSpPr>
          <p:nvPr/>
        </p:nvSpPr>
        <p:spPr>
          <a:xfrm>
            <a:off x="6715125" y="4752975"/>
            <a:ext cx="50101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Help teams understand and monitor change.</a:t>
            </a:r>
          </a:p>
        </p:txBody>
      </p:sp>
      <p:sp>
        <p:nvSpPr>
          <p:cNvPr id="9" name="p3">
            <a:extLst>
              <a:ext uri="{FF2B5EF4-FFF2-40B4-BE49-F238E27FC236}">
                <a16:creationId xmlns:a16="http://schemas.microsoft.com/office/drawing/2014/main" id="{E0715902-7011-491E-A543-75F382497A72}"/>
              </a:ext>
            </a:extLst>
          </p:cNvPr>
          <p:cNvSpPr>
            <a:spLocks noGrp="1"/>
          </p:cNvSpPr>
          <p:nvPr/>
        </p:nvSpPr>
        <p:spPr>
          <a:xfrm>
            <a:off x="6715125" y="5505450"/>
            <a:ext cx="50101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Supporters</a:t>
            </a:r>
          </a:p>
        </p:txBody>
      </p:sp>
      <p:sp>
        <p:nvSpPr>
          <p:cNvPr id="10" name="p3body">
            <a:extLst>
              <a:ext uri="{FF2B5EF4-FFF2-40B4-BE49-F238E27FC236}">
                <a16:creationId xmlns:a16="http://schemas.microsoft.com/office/drawing/2014/main" id="{913D193C-C1C0-41F3-B3E7-8FC1241E0B65}"/>
              </a:ext>
            </a:extLst>
          </p:cNvPr>
          <p:cNvSpPr>
            <a:spLocks noGrp="1"/>
          </p:cNvSpPr>
          <p:nvPr/>
        </p:nvSpPr>
        <p:spPr>
          <a:xfrm>
            <a:off x="6715125" y="5905500"/>
            <a:ext cx="50101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42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Fund the continuity that restoration needs.</a:t>
            </a:r>
          </a:p>
        </p:txBody>
      </p:sp>
      <p:sp>
        <p:nvSpPr>
          <p:cNvPr id="11" name="brand">
            <a:extLst>
              <a:ext uri="{FF2B5EF4-FFF2-40B4-BE49-F238E27FC236}">
                <a16:creationId xmlns:a16="http://schemas.microsoft.com/office/drawing/2014/main" id="{3BB0E2FC-9A41-48E1-8699-0AA49BF6CC71}"/>
              </a:ext>
            </a:extLst>
          </p:cNvPr>
          <p:cNvSpPr>
            <a:spLocks noGrp="1"/>
          </p:cNvSpPr>
          <p:nvPr/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</p:spTree>
    <p:extLst>
      <p:ext uri="{BB962C8B-B14F-4D97-AF65-F5344CB8AC3E}">
        <p14:creationId xmlns:p14="http://schemas.microsoft.com/office/powerpoint/2010/main" val="581314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5895106-5C55-450B-B040-1193BDB392E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457200" y="485775"/>
            <a:ext cx="5372100" cy="1181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Restoring coastlines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Supporting communities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ph type="pic" idx="1"/>
          </p:nvPr>
        </p:nvPicPr>
        <p:blipFill>
          <a:blip r:embed="rId2"/>
          <a:srcRect t="10238" b="10238"/>
          <a:stretch>
            <a:fillRect/>
          </a:stretch>
        </p:blipFill>
        <p:spPr>
          <a:xfrm>
            <a:off x="2609850" y="2800350"/>
            <a:ext cx="2667000" cy="1590675"/>
          </a:xfrm>
          <a:prstGeom prst="roundRect">
            <a:avLst>
              <a:gd name="adj" fmla="val 3593"/>
            </a:avLst>
          </a:prstGeom>
        </p:spPr>
      </p:pic>
      <p:sp>
        <p:nvSpPr>
          <p:cNvPr id="4" name="phase-0">
            <a:extLst>
              <a:ext uri="{FF2B5EF4-FFF2-40B4-BE49-F238E27FC236}">
                <a16:creationId xmlns:a16="http://schemas.microsoft.com/office/drawing/2014/main" id="{A4FE058A-CD46-4B20-B2F4-0577F1A1DFA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15125" y="533400"/>
            <a:ext cx="2247900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Q1 2027   Listen and plan</a:t>
            </a:r>
          </a:p>
        </p:txBody>
      </p:sp>
      <p:sp>
        <p:nvSpPr>
          <p:cNvPr id="5" name="detail-0">
            <a:extLst>
              <a:ext uri="{FF2B5EF4-FFF2-40B4-BE49-F238E27FC236}">
                <a16:creationId xmlns:a16="http://schemas.microsoft.com/office/drawing/2014/main" id="{1CA8E125-40AC-4CE2-A005-1429ABA895E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743700" y="923925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Confirm priorities with coastal partners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Establish project baselines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Plan volunteer training</a:t>
            </a:r>
          </a:p>
        </p:txBody>
      </p:sp>
      <p:sp>
        <p:nvSpPr>
          <p:cNvPr id="6" name="phase-1">
            <a:extLst>
              <a:ext uri="{FF2B5EF4-FFF2-40B4-BE49-F238E27FC236}">
                <a16:creationId xmlns:a16="http://schemas.microsoft.com/office/drawing/2014/main" id="{312DD582-6572-44BF-92A3-7BA79A4843D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715125" y="1990725"/>
            <a:ext cx="2819400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Q2 2027   Put plans into practice</a:t>
            </a:r>
          </a:p>
        </p:txBody>
      </p:sp>
      <p:sp>
        <p:nvSpPr>
          <p:cNvPr id="7" name="detail-1">
            <a:extLst>
              <a:ext uri="{FF2B5EF4-FFF2-40B4-BE49-F238E27FC236}">
                <a16:creationId xmlns:a16="http://schemas.microsoft.com/office/drawing/2014/main" id="{FA89989C-E51A-4E73-BD30-FFFB1C2C5FF5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6743700" y="2381250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Begin habitat restoration at priority sites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Launch local learning programs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Support community project leaders</a:t>
            </a:r>
          </a:p>
        </p:txBody>
      </p:sp>
      <p:sp>
        <p:nvSpPr>
          <p:cNvPr id="8" name="phase-2">
            <a:extLst>
              <a:ext uri="{FF2B5EF4-FFF2-40B4-BE49-F238E27FC236}">
                <a16:creationId xmlns:a16="http://schemas.microsoft.com/office/drawing/2014/main" id="{CE375BDF-8A1E-4D0F-BDA6-45547200982B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715125" y="3448050"/>
            <a:ext cx="2505075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Q3 2027   Measure and adapt</a:t>
            </a:r>
          </a:p>
        </p:txBody>
      </p:sp>
      <p:sp>
        <p:nvSpPr>
          <p:cNvPr id="9" name="detail-2">
            <a:extLst>
              <a:ext uri="{FF2B5EF4-FFF2-40B4-BE49-F238E27FC236}">
                <a16:creationId xmlns:a16="http://schemas.microsoft.com/office/drawing/2014/main" id="{1D6D6FD7-76FC-4A57-B998-C4B35D0C6DF6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6743700" y="3838575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Review seasonal field observations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Share findings with research partners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t>Refine restoration methods</a:t>
            </a:r>
          </a:p>
        </p:txBody>
      </p:sp>
      <p:sp>
        <p:nvSpPr>
          <p:cNvPr id="10" name="phase-3">
            <a:extLst>
              <a:ext uri="{FF2B5EF4-FFF2-40B4-BE49-F238E27FC236}">
                <a16:creationId xmlns:a16="http://schemas.microsoft.com/office/drawing/2014/main" id="{93713888-4CB4-4F43-82DA-A285C02D0421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6715125" y="4905375"/>
            <a:ext cx="2486025" cy="257175"/>
          </a:xfrm>
          <a:prstGeom prst="roundRect">
            <a:avLst>
              <a:gd name="adj" fmla="val 11111"/>
            </a:avLst>
          </a:prstGeom>
          <a:noFill/>
          <a:ln w="0">
            <a:noFill/>
          </a:ln>
        </p:spPr>
        <p:txBody>
          <a:bodyPr wrap="none" lIns="76200" tIns="38100" rIns="76200" bIns="28575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Q4 2027   Share and sustain</a:t>
            </a:r>
          </a:p>
        </p:txBody>
      </p:sp>
      <p:sp>
        <p:nvSpPr>
          <p:cNvPr id="11" name="detail-3">
            <a:extLst>
              <a:ext uri="{FF2B5EF4-FFF2-40B4-BE49-F238E27FC236}">
                <a16:creationId xmlns:a16="http://schemas.microsoft.com/office/drawing/2014/main" id="{883A50DF-75F3-43D4-9359-0C3F6D5F0CF2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6743700" y="5295900"/>
            <a:ext cx="49815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Publish the annual impact report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Plan continued support for local teams</a:t>
            </a:r>
          </a:p>
          <a:p>
            <a:pPr marL="152400" indent="-1016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har char="•"/>
              <a:defRPr sz="1275" b="0">
                <a:solidFill>
                  <a:srgbClr val="75818A"/>
                </a:solidFill>
                <a:latin typeface="Arial"/>
                <a:ea typeface="Arial"/>
                <a:cs typeface="Arial"/>
              </a:defRPr>
            </a:pPr>
            <a:r>
              <a:t>Set priorities for the next year</a:t>
            </a:r>
          </a:p>
        </p:txBody>
      </p:sp>
      <p:sp>
        <p:nvSpPr>
          <p:cNvPr id="12" name="brand">
            <a:extLst>
              <a:ext uri="{FF2B5EF4-FFF2-40B4-BE49-F238E27FC236}">
                <a16:creationId xmlns:a16="http://schemas.microsoft.com/office/drawing/2014/main" id="{122F2456-ACCA-4294-988E-0BA03C1E56A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6410325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ph type="pic" idx="11"/>
          </p:nvPr>
        </p:nvPicPr>
        <p:blipFill>
          <a:blip r:embed="rId3"/>
          <a:srcRect t="1196" b="1196"/>
          <a:stretch>
            <a:fillRect/>
          </a:stretch>
        </p:blipFill>
        <p:spPr>
          <a:xfrm>
            <a:off x="457200" y="3238500"/>
            <a:ext cx="1990725" cy="2914650"/>
          </a:xfrm>
          <a:prstGeom prst="roundRect">
            <a:avLst>
              <a:gd name="adj" fmla="val 2871"/>
            </a:avLst>
          </a:prstGeom>
        </p:spPr>
      </p:pic>
      <p:pic>
        <p:nvPicPr>
          <p:cNvPr id="32" name="Picture 31"/>
          <p:cNvPicPr>
            <a:picLocks noChangeAspect="1"/>
          </p:cNvPicPr>
          <p:nvPr>
            <p:ph type="pic" idx="12"/>
          </p:nvPr>
        </p:nvPicPr>
        <p:blipFill>
          <a:blip r:embed="rId4"/>
          <a:srcRect t="9244" b="9244"/>
          <a:stretch>
            <a:fillRect/>
          </a:stretch>
        </p:blipFill>
        <p:spPr>
          <a:xfrm>
            <a:off x="2609850" y="4543425"/>
            <a:ext cx="2962275" cy="1609725"/>
          </a:xfrm>
          <a:prstGeom prst="roundRect">
            <a:avLst>
              <a:gd name="adj" fmla="val 3550"/>
            </a:avLst>
          </a:prstGeom>
        </p:spPr>
      </p:pic>
    </p:spTree>
    <p:extLst>
      <p:ext uri="{BB962C8B-B14F-4D97-AF65-F5344CB8AC3E}">
        <p14:creationId xmlns:p14="http://schemas.microsoft.com/office/powerpoint/2010/main" val="81666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>
            <a:extLst>
              <a:ext uri="{FF2B5EF4-FFF2-40B4-BE49-F238E27FC236}">
                <a16:creationId xmlns:a16="http://schemas.microsoft.com/office/drawing/2014/main" id="{BAC51B33-89CB-4BEF-8005-0AFD68148BB4}"/>
              </a:ext>
            </a:extLst>
          </p:cNvPr>
          <p:cNvSpPr>
            <a:spLocks noGrp="1"/>
          </p:cNvSpPr>
          <p:nvPr>
            <p:ph type="body" idx="0"/>
          </p:nvPr>
        </p:nvSpPr>
        <p:spPr>
          <a:xfrm>
            <a:off x="457200" y="361950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BLUE CURRENT</a:t>
            </a:r>
          </a:p>
        </p:txBody>
      </p:sp>
      <p:sp>
        <p:nvSpPr>
          <p:cNvPr id="3" name="closing-title">
            <a:extLst>
              <a:ext uri="{FF2B5EF4-FFF2-40B4-BE49-F238E27FC236}">
                <a16:creationId xmlns:a16="http://schemas.microsoft.com/office/drawing/2014/main" id="{ED501510-E861-4160-A680-8A580441E5D1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457200" y="1219200"/>
            <a:ext cx="11134725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250" b="0">
                <a:solidFill>
                  <a:srgbClr val="101C28"/>
                </a:solidFill>
                <a:latin typeface="Arial"/>
                <a:ea typeface="Arial"/>
                <a:cs typeface="Arial"/>
              </a:defRPr>
            </a:pPr>
            <a:r>
              <a:rPr sz="5250" b="0">
                <a:solidFill>
                  <a:srgbClr val="101C28"/>
                </a:solidFill>
                <a:latin typeface="Arial"/>
                <a:ea typeface="Arial"/>
                <a:cs typeface="Arial"/>
              </a:rPr>
              <a:t>For a healthier ocean</a:t>
            </a:r>
          </a:p>
        </p:txBody>
      </p:sp>
      <p:sp>
        <p:nvSpPr>
          <p:cNvPr id="4" name="closing-copy">
            <a:extLst>
              <a:ext uri="{FF2B5EF4-FFF2-40B4-BE49-F238E27FC236}">
                <a16:creationId xmlns:a16="http://schemas.microsoft.com/office/drawing/2014/main" id="{8BAE0C41-AB79-4D81-84C3-A574F11DA8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5300" y="2286000"/>
            <a:ext cx="675322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Give. Volunteer. Partner.</a:t>
            </a:r>
          </a:p>
        </p:txBody>
      </p:sp>
      <p:sp>
        <p:nvSpPr>
          <p:cNvPr id="5" name="contact">
            <a:extLst>
              <a:ext uri="{FF2B5EF4-FFF2-40B4-BE49-F238E27FC236}">
                <a16:creationId xmlns:a16="http://schemas.microsoft.com/office/drawing/2014/main" id="{BB400EDC-6F7B-4358-9F77-620CA6FD662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9591675" y="2200275"/>
            <a:ext cx="214312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[Website]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[Contact email]</a:t>
            </a:r>
          </a:p>
        </p:txBody>
      </p:sp>
      <p:sp>
        <p:nvSpPr>
          <p:cNvPr id="7" name="closing-note">
            <a:extLst>
              <a:ext uri="{FF2B5EF4-FFF2-40B4-BE49-F238E27FC236}">
                <a16:creationId xmlns:a16="http://schemas.microsoft.com/office/drawing/2014/main" id="{9737428C-C787-4F35-AF3A-15F83554C8F6}"/>
              </a:ext>
            </a:extLst>
          </p:cNvPr>
          <p:cNvSpPr>
            <a:spLocks noGrp="1"/>
          </p:cNvSpPr>
          <p:nvPr/>
        </p:nvSpPr>
        <p:spPr>
          <a:xfrm>
            <a:off x="457200" y="6429375"/>
            <a:ext cx="11277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75" b="0">
                <a:solidFill>
                  <a:srgbClr val="7682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6828C"/>
                </a:solidFill>
                <a:latin typeface="Arial"/>
                <a:ea typeface="Arial"/>
                <a:cs typeface="Arial"/>
              </a:rPr>
              <a:t>Thank you for being part of the work.</a:t>
            </a:r>
          </a:p>
        </p:txBody>
      </p:sp>
    </p:spTree>
    <p:extLst>
      <p:ext uri="{BB962C8B-B14F-4D97-AF65-F5344CB8AC3E}">
        <p14:creationId xmlns:p14="http://schemas.microsoft.com/office/powerpoint/2010/main" val="12756796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Blue Current">
      <a:dk1>
        <a:srgbClr val="101C28"/>
      </a:dk1>
      <a:lt1>
        <a:srgbClr val="FFFFFF"/>
      </a:lt1>
      <a:dk2>
        <a:srgbClr val="76828C"/>
      </a:dk2>
      <a:lt2>
        <a:srgbClr val="E3EDF2"/>
      </a:lt2>
      <a:accent1>
        <a:srgbClr val="197BA0"/>
      </a:accent1>
      <a:accent2>
        <a:srgbClr val="052D47"/>
      </a:accent2>
      <a:accent3>
        <a:srgbClr val="76ADC0"/>
      </a:accent3>
      <a:accent4>
        <a:srgbClr val="BAC5CD"/>
      </a:accent4>
      <a:accent5>
        <a:srgbClr val="33AAB4"/>
      </a:accent5>
      <a:accent6>
        <a:srgbClr val="476C82"/>
      </a:accent6>
      <a:hlink>
        <a:srgbClr val="197BA0"/>
      </a:hlink>
      <a:folHlink>
        <a:srgbClr val="052D47"/>
      </a:folHlink>
    </a:clrScheme>
    <a:fontScheme name="Blue Current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lue Curren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Macintosh PowerPoint</Application>
  <DocSecurity>0</DocSecurity>
  <PresentationFormat>Widescreen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>
  <dc:title>Presentation</dc:title>
</ns0:coreProperties>
</file>