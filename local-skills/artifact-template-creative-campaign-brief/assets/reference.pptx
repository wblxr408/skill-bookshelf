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Default Extension="jpg" ContentType="image/jpeg"/>
  <Override PartName="/ppt/media/image9-q90.jpg" ContentType="image/jpeg"/>
  <Override PartName="/ppt/media/image8-q90.jpg" ContentType="image/jpeg"/>
  <Override PartName="/ppt/media/image7-q90.jpg" ContentType="image/jpeg"/>
  <Override PartName="/ppt/media/image6-q90.jpg" ContentType="image/jpeg"/>
  <Override PartName="/ppt/media/image5-q90.jpg" ContentType="image/jpeg"/>
  <Override PartName="/ppt/media/image4-q90.jpg" ContentType="image/jpeg"/>
  <Override PartName="/ppt/media/image3-q90.jpg" ContentType="image/jpeg"/>
  <Override PartName="/ppt/media/image2-q90.jpg" ContentType="image/jpeg"/>
  <Override PartName="/ppt/media/image1-q90.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12" d="100"/>
          <a:sy n="112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'1.0' encoding='utf-8'?>
<Relationships xmlns="http://schemas.openxmlformats.org/package/2006/relationships"><Relationship Id="rId2" Type="http://schemas.openxmlformats.org/officeDocument/2006/relationships/image" Target="../media/image1-q90.jpg" /><Relationship Id="rId1" Type="http://schemas.openxmlformats.org/officeDocument/2006/relationships/slideMaster" Target="../slideMasters/slideMaster1.xml" /><Relationship Id="rIdBackgroundS1O6I0" Type="http://schemas.openxmlformats.org/officeDocument/2006/relationships/image" Target="../media/image1-q90.jpg" /></Relationships>
</file>

<file path=ppt/slideLayouts/_rels/slideLayout2.xml.rels><?xml version='1.0' encoding='utf-8'?>
<Relationships xmlns="http://schemas.openxmlformats.org/package/2006/relationships"><Relationship Id="rId2" Type="http://schemas.openxmlformats.org/officeDocument/2006/relationships/image" Target="../media/image1-q90.jpg" /><Relationship Id="rId1" Type="http://schemas.openxmlformats.org/officeDocument/2006/relationships/slideMaster" Target="../slideMasters/slideMaster1.xml" 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2" Type="http://schemas.openxmlformats.org/officeDocument/2006/relationships/image" Target="../media/image1-q90.jpg" /><Relationship Id="rId1" Type="http://schemas.openxmlformats.org/officeDocument/2006/relationships/slideMaster" Target="../slideMasters/slideMaster1.xml" /><Relationship Id="rIdBackgroundS10O8I0" Type="http://schemas.openxmlformats.org/officeDocument/2006/relationships/image" Target="../media/image1-q90.jpg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BackgroundS3O16I0" Type="http://schemas.openxmlformats.org/officeDocument/2006/relationships/image" Target="../media/image1-q90.jpg" /></Relationships>
</file>

<file path=ppt/slideLayouts/_rels/slideLayout1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BackgroundS4O14I0" Type="http://schemas.openxmlformats.org/officeDocument/2006/relationships/image" Target="../media/image1-q90.jpg" 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Title Slide">
    <p:bg>
      <p:bgPr>
        <a:blipFill>
          <a:blip r:embed="rIdBackgroundS1O6I0"/>
          <a:srcRect t="27" b="2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Inherited decorative 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E9">
              <a:alpha val="2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19750" y="4752975"/>
            <a:ext cx="6096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48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572250" y="5667375"/>
            <a:ext cx="50958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7905750" y="6210300"/>
            <a:ext cx="3714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3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Divider">
    <p:bg>
      <p:bgPr>
        <a:blipFill>
          <a:blip r:embed="rId2"/>
          <a:srcRect t="27" b="2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>
            <a:spLocks noGrp="1"/>
          </p:cNvSpPr>
          <p:nvPr>
            <p:ph type="body"/>
          </p:nvPr>
        </p:nvSpPr>
        <p:spPr>
          <a:xfrm>
            <a:off x="533400" y="495300"/>
            <a:ext cx="1524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1pPr>
            <a:lvl2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2pPr>
            <a:lvl3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3pPr>
            <a:lvl4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4pPr>
            <a:lvl5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5pPr>
            <a:lvl6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6pPr>
            <a:lvl7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7pPr>
            <a:lvl8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8pPr>
            <a:lvl9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lvl9pPr>
          </a:lstStyle>
          <a:p>
            <a:pPr marL="0" indent="0" algn="l">
              <a:buNone/>
              <a:defRPr sz="1800">
                <a:solidFill>
                  <a:srgbClr val="0B0B0A"/>
                </a:solidFill>
                <a:latin typeface="DM Mono"/>
              </a:defRPr>
            </a:pPr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 idx="1"/>
          </p:nvPr>
        </p:nvSpPr>
        <p:spPr>
          <a:xfrm>
            <a:off x="533400" y="1028700"/>
            <a:ext cx="676275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58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2"/>
          </p:nvPr>
        </p:nvSpPr>
        <p:spPr>
          <a:xfrm>
            <a:off x="571500" y="5524500"/>
            <a:ext cx="5905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2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1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33400" y="2152650"/>
            <a:ext cx="103822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533400" y="3581400"/>
            <a:ext cx="10001250" cy="2038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2100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2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33400" y="2257425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533400" y="3067050"/>
            <a:ext cx="485775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  <p:sp>
        <p:nvSpPr>
          <p:cNvPr id="5" name="Text"/>
          <p:cNvSpPr>
            <a:spLocks noGrp="1"/>
          </p:cNvSpPr>
          <p:nvPr>
            <p:ph type="body" idx="3"/>
          </p:nvPr>
        </p:nvSpPr>
        <p:spPr>
          <a:xfrm>
            <a:off x="6534150" y="2257425"/>
            <a:ext cx="5095875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6" name="Text"/>
          <p:cNvSpPr>
            <a:spLocks noGrp="1"/>
          </p:cNvSpPr>
          <p:nvPr>
            <p:ph type="body" idx="4"/>
          </p:nvPr>
        </p:nvSpPr>
        <p:spPr>
          <a:xfrm>
            <a:off x="6534150" y="3067050"/>
            <a:ext cx="485775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Image +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/>
          </p:nvPr>
        </p:nvSpPr>
        <p:spPr>
          <a:xfrm>
            <a:off x="6286500" y="342900"/>
            <a:ext cx="5543550" cy="617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1pPr>
            <a:lvl2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2pPr>
            <a:lvl3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3pPr>
            <a:lvl4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4pPr>
            <a:lvl5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5pPr>
            <a:lvl6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6pPr>
            <a:lvl7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7pPr>
            <a:lvl8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8pPr>
            <a:lvl9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9pPr>
          </a:lstStyle>
          <a:p>
            <a: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pPr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 idx="1"/>
          </p:nvPr>
        </p:nvSpPr>
        <p:spPr>
          <a:xfrm>
            <a:off x="533400" y="952500"/>
            <a:ext cx="5191125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42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2"/>
          </p:nvPr>
        </p:nvSpPr>
        <p:spPr>
          <a:xfrm>
            <a:off x="533400" y="3048000"/>
            <a:ext cx="49530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5" name="Text"/>
          <p:cNvSpPr>
            <a:spLocks noGrp="1"/>
          </p:cNvSpPr>
          <p:nvPr>
            <p:ph type="body" idx="3"/>
          </p:nvPr>
        </p:nvSpPr>
        <p:spPr>
          <a:xfrm>
            <a:off x="533400" y="3971925"/>
            <a:ext cx="4905375" cy="2009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202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+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/>
          </p:nvPr>
        </p:nvSpPr>
        <p:spPr>
          <a:xfrm>
            <a:off x="0" y="0"/>
            <a:ext cx="12192000" cy="5476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1pPr>
            <a:lvl2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2pPr>
            <a:lvl3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3pPr>
            <a:lvl4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4pPr>
            <a:lvl5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5pPr>
            <a:lvl6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6pPr>
            <a:lvl7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7pPr>
            <a:lvl8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8pPr>
            <a:lvl9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9pPr>
          </a:lstStyle>
          <a:p>
            <a: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pPr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 idx="1"/>
          </p:nvPr>
        </p:nvSpPr>
        <p:spPr>
          <a:xfrm>
            <a:off x="533400" y="5819775"/>
            <a:ext cx="80962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0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9382125" y="6115050"/>
            <a:ext cx="219075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1350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14350"/>
            <a:ext cx="10096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1pPr>
            <a:lvl2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2pPr>
            <a:lvl3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3pPr>
            <a:lvl4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4pPr>
            <a:lvl5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5pPr>
            <a:lvl6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6pPr>
            <a:lvl7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7pPr>
            <a:lvl8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8pPr>
            <a:lvl9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lvl9pPr>
          </a:lstStyle>
          <a:p>
            <a:pPr marL="0" indent="0" algn="l">
              <a:buNone/>
              <a:defRPr sz="1950">
                <a:solidFill>
                  <a:srgbClr val="0B0B0A"/>
                </a:solidFill>
                <a:latin typeface="DM Mono"/>
              </a:defRPr>
            </a:pPr>
            <a:endParaRPr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19150" y="1943100"/>
            <a:ext cx="10572750" cy="2847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49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857250" y="5410200"/>
            <a:ext cx="9048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87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3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334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1pPr>
            <a:lvl2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2pPr>
            <a:lvl3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3pPr>
            <a:lvl4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4pPr>
            <a:lvl5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5pPr>
            <a:lvl6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6pPr>
            <a:lvl7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7pPr>
            <a:lvl8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8pPr>
            <a:lvl9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9pPr>
          </a:lstStyle>
          <a:p>
            <a: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5334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5" name="Text"/>
          <p:cNvSpPr>
            <a:spLocks noGrp="1"/>
          </p:cNvSpPr>
          <p:nvPr>
            <p:ph type="body" idx="3"/>
          </p:nvPr>
        </p:nvSpPr>
        <p:spPr>
          <a:xfrm>
            <a:off x="5334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6" name="Text"/>
          <p:cNvSpPr>
            <a:spLocks noGrp="1"/>
          </p:cNvSpPr>
          <p:nvPr>
            <p:ph type="body" idx="4"/>
          </p:nvPr>
        </p:nvSpPr>
        <p:spPr>
          <a:xfrm>
            <a:off x="5334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  <p:sp>
        <p:nvSpPr>
          <p:cNvPr id="7" name="Text"/>
          <p:cNvSpPr>
            <a:spLocks noGrp="1"/>
          </p:cNvSpPr>
          <p:nvPr>
            <p:ph type="body" idx="5"/>
          </p:nvPr>
        </p:nvSpPr>
        <p:spPr>
          <a:xfrm>
            <a:off x="44196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1pPr>
            <a:lvl2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2pPr>
            <a:lvl3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3pPr>
            <a:lvl4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4pPr>
            <a:lvl5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5pPr>
            <a:lvl6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6pPr>
            <a:lvl7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7pPr>
            <a:lvl8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8pPr>
            <a:lvl9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9pPr>
          </a:lstStyle>
          <a:p>
            <a: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pPr>
            <a:endParaRPr/>
          </a:p>
        </p:txBody>
      </p:sp>
      <p:sp>
        <p:nvSpPr>
          <p:cNvPr id="8" name="Text"/>
          <p:cNvSpPr>
            <a:spLocks noGrp="1"/>
          </p:cNvSpPr>
          <p:nvPr>
            <p:ph type="body" idx="6"/>
          </p:nvPr>
        </p:nvSpPr>
        <p:spPr>
          <a:xfrm>
            <a:off x="44196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9" name="Text"/>
          <p:cNvSpPr>
            <a:spLocks noGrp="1"/>
          </p:cNvSpPr>
          <p:nvPr>
            <p:ph type="body" idx="7"/>
          </p:nvPr>
        </p:nvSpPr>
        <p:spPr>
          <a:xfrm>
            <a:off x="44196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10" name="Text"/>
          <p:cNvSpPr>
            <a:spLocks noGrp="1"/>
          </p:cNvSpPr>
          <p:nvPr>
            <p:ph type="body" idx="8"/>
          </p:nvPr>
        </p:nvSpPr>
        <p:spPr>
          <a:xfrm>
            <a:off x="44196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  <p:sp>
        <p:nvSpPr>
          <p:cNvPr id="11" name="Text"/>
          <p:cNvSpPr>
            <a:spLocks noGrp="1"/>
          </p:cNvSpPr>
          <p:nvPr>
            <p:ph type="body" idx="9"/>
          </p:nvPr>
        </p:nvSpPr>
        <p:spPr>
          <a:xfrm>
            <a:off x="83058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1pPr>
            <a:lvl2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2pPr>
            <a:lvl3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3pPr>
            <a:lvl4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4pPr>
            <a:lvl5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5pPr>
            <a:lvl6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6pPr>
            <a:lvl7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7pPr>
            <a:lvl8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8pPr>
            <a:lvl9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lvl9pPr>
          </a:lstStyle>
          <a:p>
            <a:pPr marL="0" indent="0" algn="l">
              <a:buNone/>
              <a:defRPr sz="1650">
                <a:solidFill>
                  <a:srgbClr val="9B7926"/>
                </a:solidFill>
                <a:latin typeface="DM Mono"/>
              </a:defRPr>
            </a:pPr>
            <a:endParaRPr/>
          </a:p>
        </p:txBody>
      </p:sp>
      <p:sp>
        <p:nvSpPr>
          <p:cNvPr id="12" name="Text"/>
          <p:cNvSpPr>
            <a:spLocks noGrp="1"/>
          </p:cNvSpPr>
          <p:nvPr>
            <p:ph type="body" idx="10"/>
          </p:nvPr>
        </p:nvSpPr>
        <p:spPr>
          <a:xfrm>
            <a:off x="83058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55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13" name="Text"/>
          <p:cNvSpPr>
            <a:spLocks noGrp="1"/>
          </p:cNvSpPr>
          <p:nvPr>
            <p:ph type="body" idx="11"/>
          </p:nvPr>
        </p:nvSpPr>
        <p:spPr>
          <a:xfrm>
            <a:off x="83058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56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14" name="Text"/>
          <p:cNvSpPr>
            <a:spLocks noGrp="1"/>
          </p:cNvSpPr>
          <p:nvPr>
            <p:ph type="body" idx="12"/>
          </p:nvPr>
        </p:nvSpPr>
        <p:spPr>
          <a:xfrm>
            <a:off x="83058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marL="0" indent="0" algn="l">
              <a:buNone/>
              <a:defRPr sz="1875">
                <a:solidFill>
                  <a:srgbClr val="60605C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Chart"/>
          <p:cNvSpPr>
            <a:spLocks noGrp="1"/>
          </p:cNvSpPr>
          <p:nvPr>
            <p:ph type="chart" idx="1"/>
          </p:nvPr>
        </p:nvSpPr>
        <p:spPr>
          <a:xfrm>
            <a:off x="533400" y="2162175"/>
            <a:ext cx="7477125" cy="3571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1pPr>
            <a:lvl2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2pPr>
            <a:lvl3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3pPr>
            <a:lvl4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4pPr>
            <a:lvl5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5pPr>
            <a:lvl6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6pPr>
            <a:lvl7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7pPr>
            <a:lvl8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8pPr>
            <a:lvl9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9pPr>
          </a:lstStyle>
          <a:p>
            <a: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8667750" y="23622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4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5" name="Text"/>
          <p:cNvSpPr>
            <a:spLocks noGrp="1"/>
          </p:cNvSpPr>
          <p:nvPr>
            <p:ph type="body" idx="3"/>
          </p:nvPr>
        </p:nvSpPr>
        <p:spPr>
          <a:xfrm>
            <a:off x="8667750" y="3200400"/>
            <a:ext cx="2762250" cy="1771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0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6" name="Text"/>
          <p:cNvSpPr>
            <a:spLocks noGrp="1"/>
          </p:cNvSpPr>
          <p:nvPr>
            <p:ph type="body" idx="4"/>
          </p:nvPr>
        </p:nvSpPr>
        <p:spPr>
          <a:xfrm>
            <a:off x="533400" y="61531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27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39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>
          <a:xfrm>
            <a:off x="533400" y="2133600"/>
            <a:ext cx="11125200" cy="3295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1pPr>
            <a:lvl2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2pPr>
            <a:lvl3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3pPr>
            <a:lvl4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4pPr>
            <a:lvl5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5pPr>
            <a:lvl6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6pPr>
            <a:lvl7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7pPr>
            <a:lvl8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8pPr>
            <a:lvl9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lvl9pPr>
          </a:lstStyle>
          <a:p>
            <a:pPr marL="0" indent="0" algn="l">
              <a:buNone/>
              <a:defRPr sz="1800">
                <a:solidFill>
                  <a:srgbClr val="203A29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533400" y="60388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500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Closing">
    <p:bg>
      <p:bgPr>
        <a:blipFill>
          <a:blip r:embed="rIdBackgroundS10O8I0"/>
          <a:srcRect t="27" b="2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33400" y="1104900"/>
            <a:ext cx="752475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62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90550" y="3800475"/>
            <a:ext cx="100012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26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4" name="Text"/>
          <p:cNvSpPr>
            <a:spLocks noGrp="1"/>
          </p:cNvSpPr>
          <p:nvPr>
            <p:ph type="body" idx="2"/>
          </p:nvPr>
        </p:nvSpPr>
        <p:spPr>
          <a:xfrm>
            <a:off x="590550" y="5429250"/>
            <a:ext cx="9048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  <p:sp>
        <p:nvSpPr>
          <p:cNvPr id="5" name="Text"/>
          <p:cNvSpPr>
            <a:spLocks noGrp="1"/>
          </p:cNvSpPr>
          <p:nvPr>
            <p:ph type="body" idx="3"/>
          </p:nvPr>
        </p:nvSpPr>
        <p:spPr>
          <a:xfrm>
            <a:off x="590550" y="59817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1pPr>
            <a:lvl2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2pPr>
            <a:lvl3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3pPr>
            <a:lvl4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4pPr>
            <a:lvl5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5pPr>
            <a:lvl6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6pPr>
            <a:lvl7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7pPr>
            <a:lvl8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8pPr>
            <a:lvl9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lvl9pPr>
          </a:lstStyle>
          <a:p>
            <a:pPr marL="0" indent="0" algn="l">
              <a:buNone/>
              <a:defRPr sz="1725">
                <a:solidFill>
                  <a:srgbClr val="0B0B0A"/>
                </a:solidFill>
                <a:latin typeface="Inter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3 Columns – Gold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Inherited decorative background"/>
          <p:cNvPicPr>
            <a:picLocks noChangeAspect="1"/>
          </p:cNvPicPr>
          <p:nvPr/>
        </p:nvPicPr>
        <p:blipFill>
          <a:blip r:embed="rIdBackgroundS3O16I0"/>
          <a:srcRect t="34003" b="34003"/>
          <a:stretch>
            <a:fillRect/>
          </a:stretch>
        </p:blipFill>
        <p:spPr>
          <a:xfrm>
            <a:off x="171450" y="171450"/>
            <a:ext cx="11849100" cy="2133600"/>
          </a:xfrm>
          <a:prstGeom prst="roundRect">
            <a:avLst>
              <a:gd name="adj" fmla="val 2679"/>
            </a:avLst>
          </a:prstGeom>
        </p:spPr>
      </p:pic>
      <p:sp>
        <p:nvSpPr>
          <p:cNvPr id="1153" name="Inherited decorative background"/>
          <p:cNvSpPr>
            <a:spLocks noGrp="1"/>
          </p:cNvSpPr>
          <p:nvPr/>
        </p:nvSpPr>
        <p:spPr>
          <a:xfrm>
            <a:off x="171450" y="171450"/>
            <a:ext cx="11849100" cy="2133600"/>
          </a:xfrm>
          <a:prstGeom prst="roundRect">
            <a:avLst>
              <a:gd name="adj" fmla="val 2679"/>
            </a:avLst>
          </a:prstGeom>
          <a:solidFill>
            <a:srgbClr val="FFF9E9">
              <a:alpha val="3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>
            <p:ph type="title" idx="0"/>
          </p:nvPr>
        </p:nvSpPr>
        <p:spPr>
          <a:xfrm>
            <a:off x="533400" y="514350"/>
            <a:ext cx="9334500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352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3" name="Text"/>
          <p:cNvSpPr/>
          <p:nvPr>
            <p:ph type="body" idx="1"/>
          </p:nvPr>
        </p:nvSpPr>
        <p:spPr>
          <a:xfrm>
            <a:off x="533400" y="2762250"/>
            <a:ext cx="3143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4" name="Text"/>
          <p:cNvSpPr/>
          <p:nvPr>
            <p:ph type="body" idx="2"/>
          </p:nvPr>
        </p:nvSpPr>
        <p:spPr>
          <a:xfrm>
            <a:off x="533400" y="3810000"/>
            <a:ext cx="3143250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pPr>
          </a:p>
        </p:txBody>
      </p:sp>
      <p:sp>
        <p:nvSpPr>
          <p:cNvPr id="5" name="Text"/>
          <p:cNvSpPr/>
          <p:nvPr>
            <p:ph type="body" idx="3"/>
          </p:nvPr>
        </p:nvSpPr>
        <p:spPr>
          <a:xfrm>
            <a:off x="4419600" y="2762250"/>
            <a:ext cx="3143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6" name="Text"/>
          <p:cNvSpPr/>
          <p:nvPr>
            <p:ph type="body" idx="4"/>
          </p:nvPr>
        </p:nvSpPr>
        <p:spPr>
          <a:xfrm>
            <a:off x="4419600" y="3810000"/>
            <a:ext cx="3143250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pPr>
          </a:p>
        </p:txBody>
      </p:sp>
      <p:sp>
        <p:nvSpPr>
          <p:cNvPr id="7" name="Text"/>
          <p:cNvSpPr/>
          <p:nvPr>
            <p:ph type="body" idx="5"/>
          </p:nvPr>
        </p:nvSpPr>
        <p:spPr>
          <a:xfrm>
            <a:off x="8305800" y="2762250"/>
            <a:ext cx="3143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232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8" name="Text"/>
          <p:cNvSpPr/>
          <p:nvPr>
            <p:ph type="body" idx="6"/>
          </p:nvPr>
        </p:nvSpPr>
        <p:spPr>
          <a:xfrm>
            <a:off x="8305800" y="3810000"/>
            <a:ext cx="3143250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1pPr>
            <a:lvl2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2pPr>
            <a:lvl3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3pPr>
            <a:lvl4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4pPr>
            <a:lvl5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5pPr>
            <a:lvl6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6pPr>
            <a:lvl7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7pPr>
            <a:lvl8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8pPr>
            <a:lvl9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lvl9pPr>
          </a:lstStyle>
          <a:p>
            <a:pPr algn="l" marL="0" indent="0">
              <a:buNone/>
              <a:defRPr sz="1875">
                <a:solidFill>
                  <a:srgbClr val="60605C"/>
                </a:solidFill>
                <a:latin typeface="Inter"/>
              </a:defRPr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Image Grid – Gold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Inherited decorative background"/>
          <p:cNvPicPr>
            <a:picLocks noChangeAspect="1"/>
          </p:cNvPicPr>
          <p:nvPr/>
        </p:nvPicPr>
        <p:blipFill>
          <a:blip r:embed="rIdBackgroundS4O14I0"/>
          <a:srcRect l="19738" r="19738"/>
          <a:stretch>
            <a:fillRect/>
          </a:stretch>
        </p:blipFill>
        <p:spPr>
          <a:xfrm>
            <a:off x="400050" y="733425"/>
            <a:ext cx="3124200" cy="2905125"/>
          </a:xfrm>
          <a:prstGeom prst="roundRect">
            <a:avLst>
              <a:gd name="adj" fmla="val 1967"/>
            </a:avLst>
          </a:prstGeom>
        </p:spPr>
      </p:pic>
      <p:sp>
        <p:nvSpPr>
          <p:cNvPr id="1205" name="Inherited decorative background"/>
          <p:cNvSpPr>
            <a:spLocks noGrp="1"/>
          </p:cNvSpPr>
          <p:nvPr/>
        </p:nvSpPr>
        <p:spPr>
          <a:xfrm>
            <a:off x="400050" y="733425"/>
            <a:ext cx="3124200" cy="2905125"/>
          </a:xfrm>
          <a:prstGeom prst="roundRect">
            <a:avLst>
              <a:gd name="adj" fmla="val 1967"/>
            </a:avLst>
          </a:prstGeom>
          <a:solidFill>
            <a:srgbClr val="FFF9E9">
              <a:alpha val="5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>
            <p:ph type="title" idx="0"/>
          </p:nvPr>
        </p:nvSpPr>
        <p:spPr>
          <a:xfrm>
            <a:off x="542925" y="914400"/>
            <a:ext cx="28384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262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3" name="Text"/>
          <p:cNvSpPr/>
          <p:nvPr>
            <p:ph type="body" idx="1"/>
          </p:nvPr>
        </p:nvSpPr>
        <p:spPr>
          <a:xfrm>
            <a:off x="542925" y="2095500"/>
            <a:ext cx="28384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1875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4" name="Picture"/>
          <p:cNvSpPr/>
          <p:nvPr>
            <p:ph type="pic" idx="2"/>
          </p:nvPr>
        </p:nvSpPr>
        <p:spPr>
          <a:xfrm>
            <a:off x="3676650" y="733425"/>
            <a:ext cx="3505200" cy="5819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5" name="Picture"/>
          <p:cNvSpPr/>
          <p:nvPr>
            <p:ph type="pic" idx="3"/>
          </p:nvPr>
        </p:nvSpPr>
        <p:spPr>
          <a:xfrm>
            <a:off x="400050" y="3771900"/>
            <a:ext cx="3124200" cy="278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6" name="Text"/>
          <p:cNvSpPr/>
          <p:nvPr>
            <p:ph type="body" idx="4"/>
          </p:nvPr>
        </p:nvSpPr>
        <p:spPr>
          <a:xfrm>
            <a:off x="7562850" y="933450"/>
            <a:ext cx="4048125" cy="528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1pPr>
            <a:lvl2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2pPr>
            <a:lvl3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3pPr>
            <a:lvl4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4pPr>
            <a:lvl5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5pPr>
            <a:lvl6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6pPr>
            <a:lvl7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7pPr>
            <a:lvl8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8pPr>
            <a:lvl9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9pPr>
          </a:lstStyle>
          <a:p>
            <a: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2 Columns – Gold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Inherited decorative background"/>
          <p:cNvSpPr>
            <a:spLocks noGrp="1"/>
          </p:cNvSpPr>
          <p:nvPr/>
        </p:nvSpPr>
        <p:spPr>
          <a:xfrm>
            <a:off x="8162925" y="3381375"/>
            <a:ext cx="3724275" cy="3124200"/>
          </a:xfrm>
          <a:prstGeom prst="roundRect">
            <a:avLst>
              <a:gd name="adj" fmla="val 1829"/>
            </a:avLst>
          </a:prstGeom>
          <a:solidFill>
            <a:srgbClr val="9B792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>
            <p:ph type="title" idx="0"/>
          </p:nvPr>
        </p:nvSpPr>
        <p:spPr>
          <a:xfrm>
            <a:off x="533400" y="666750"/>
            <a:ext cx="6810375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3750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3" name="Text"/>
          <p:cNvSpPr/>
          <p:nvPr>
            <p:ph type="body" idx="1"/>
          </p:nvPr>
        </p:nvSpPr>
        <p:spPr>
          <a:xfrm>
            <a:off x="533400" y="2857500"/>
            <a:ext cx="6810375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1pPr>
            <a:lvl2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2pPr>
            <a:lvl3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3pPr>
            <a:lvl4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4pPr>
            <a:lvl5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5pPr>
            <a:lvl6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6pPr>
            <a:lvl7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7pPr>
            <a:lvl8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8pPr>
            <a:lvl9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lvl9pPr>
          </a:lstStyle>
          <a:p>
            <a:pPr algn="l" marL="0" indent="0">
              <a:buNone/>
              <a:defRPr sz="2100">
                <a:solidFill>
                  <a:srgbClr val="60605C"/>
                </a:solidFill>
                <a:latin typeface="Inter"/>
              </a:defRPr>
            </a:pPr>
          </a:p>
        </p:txBody>
      </p:sp>
      <p:sp>
        <p:nvSpPr>
          <p:cNvPr id="4" name="Picture"/>
          <p:cNvSpPr/>
          <p:nvPr>
            <p:ph type="pic" idx="2"/>
          </p:nvPr>
        </p:nvSpPr>
        <p:spPr>
          <a:xfrm>
            <a:off x="8153400" y="342900"/>
            <a:ext cx="3724275" cy="2838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1pPr>
            <a:lvl2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2pPr>
            <a:lvl3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3pPr>
            <a:lvl4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4pPr>
            <a:lvl5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5pPr>
            <a:lvl6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6pPr>
            <a:lvl7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7pPr>
            <a:lvl8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8pPr>
            <a:lvl9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lvl9pPr>
          </a:lstStyle>
          <a:p>
            <a:pPr algn="l" marL="0" indent="0">
              <a:buNone/>
              <a:defRPr sz="1800">
                <a:solidFill>
                  <a:srgbClr val="0B0B0A"/>
                </a:solidFill>
                <a:latin typeface="Inter"/>
              </a:defRPr>
            </a:pPr>
          </a:p>
        </p:txBody>
      </p:sp>
      <p:sp>
        <p:nvSpPr>
          <p:cNvPr id="5" name="Text"/>
          <p:cNvSpPr/>
          <p:nvPr>
            <p:ph type="body" idx="3"/>
          </p:nvPr>
        </p:nvSpPr>
        <p:spPr>
          <a:xfrm>
            <a:off x="8401050" y="3790950"/>
            <a:ext cx="3238500" cy="2143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1pPr>
            <a:lvl2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2pPr>
            <a:lvl3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3pPr>
            <a:lvl4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4pPr>
            <a:lvl5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5pPr>
            <a:lvl6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6pPr>
            <a:lvl7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7pPr>
            <a:lvl8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8pPr>
            <a:lvl9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lvl9pPr>
          </a:lstStyle>
          <a:p>
            <a:pPr algn="l" marL="0" indent="0">
              <a:buNone/>
              <a:defRPr sz="2025">
                <a:solidFill>
                  <a:srgbClr val="FFFFFF"/>
                </a:solidFill>
                <a:latin typeface="Inter"/>
              </a:defRPr>
            </a:p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BgVariant13" Type="http://schemas.openxmlformats.org/officeDocument/2006/relationships/slideLayout" Target="../slideLayouts/slideLayout13.xml"/><Relationship Id="rIdBgVariant14" Type="http://schemas.openxmlformats.org/officeDocument/2006/relationships/slideLayout" Target="../slideLayouts/slideLayout14.xml"/><Relationship Id="rIdBgVariant15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old Creative Campaign Brie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BgVariant13"/>
    <p:sldLayoutId id="2147483662" r:id="rIdBgVariant14"/>
    <p:sldLayoutId id="2147483663" r:id="rIdBgVariant15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buNone/>
        <a:defRPr sz="2200">
          <a:solidFill>
            <a:schemeClr val="tx1"/>
          </a:solidFill>
          <a:latin typeface="+mn-lt"/>
        </a:defRPr>
      </a:lvl1pPr>
      <a:lvl2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2pPr>
      <a:lvl3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3pPr>
      <a:lvl4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4pPr>
      <a:lvl5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5pPr>
      <a:lvl6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6pPr>
      <a:lvl7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7pPr>
      <a:lvl8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8pPr>
      <a:lvl9pPr marL="0" indent="0" algn="l">
        <a:lnSpc>
          <a:spcPct val="90000"/>
        </a:lnSpc>
        <a:spcBef>
          <a:spcPts val="500"/>
        </a:spcBef>
        <a:buNone/>
        <a:defRPr sz="2200">
          <a:solidFill>
            <a:schemeClr val="tx1"/>
          </a:solidFill>
          <a:latin typeface="+mn-lt"/>
        </a:defRPr>
      </a:lvl9pPr>
    </p:bodyStyle>
    <p:otherStyle>
      <a:lvl1pPr marL="0" indent="0" algn="l">
        <a:buNone/>
        <a:defRPr sz="2000">
          <a:solidFill>
            <a:schemeClr val="tx1"/>
          </a:solidFill>
          <a:latin typeface="+mn-lt"/>
        </a:defRPr>
      </a:lvl1pPr>
      <a:lvl2pPr marL="0" indent="0" algn="l">
        <a:buNone/>
        <a:defRPr sz="2000">
          <a:solidFill>
            <a:schemeClr val="tx1"/>
          </a:solidFill>
          <a:latin typeface="+mn-lt"/>
        </a:defRPr>
      </a:lvl2pPr>
      <a:lvl3pPr marL="0" indent="0" algn="l">
        <a:buNone/>
        <a:defRPr sz="2000">
          <a:solidFill>
            <a:schemeClr val="tx1"/>
          </a:solidFill>
          <a:latin typeface="+mn-lt"/>
        </a:defRPr>
      </a:lvl3pPr>
      <a:lvl4pPr marL="0" indent="0" algn="l">
        <a:buNone/>
        <a:defRPr sz="2000">
          <a:solidFill>
            <a:schemeClr val="tx1"/>
          </a:solidFill>
          <a:latin typeface="+mn-lt"/>
        </a:defRPr>
      </a:lvl4pPr>
      <a:lvl5pPr marL="0" indent="0" algn="l">
        <a:buNone/>
        <a:defRPr sz="2000">
          <a:solidFill>
            <a:schemeClr val="tx1"/>
          </a:solidFill>
          <a:latin typeface="+mn-lt"/>
        </a:defRPr>
      </a:lvl5pPr>
      <a:lvl6pPr marL="0" indent="0" algn="l">
        <a:buNone/>
        <a:defRPr sz="2000">
          <a:solidFill>
            <a:schemeClr val="tx1"/>
          </a:solidFill>
          <a:latin typeface="+mn-lt"/>
        </a:defRPr>
      </a:lvl6pPr>
      <a:lvl7pPr marL="0" indent="0" algn="l">
        <a:buNone/>
        <a:defRPr sz="2000">
          <a:solidFill>
            <a:schemeClr val="tx1"/>
          </a:solidFill>
          <a:latin typeface="+mn-lt"/>
        </a:defRPr>
      </a:lvl7pPr>
      <a:lvl8pPr marL="0" indent="0" algn="l">
        <a:buNone/>
        <a:defRPr sz="2000">
          <a:solidFill>
            <a:schemeClr val="tx1"/>
          </a:solidFill>
          <a:latin typeface="+mn-lt"/>
        </a:defRPr>
      </a:lvl8pPr>
      <a:lvl9pPr marL="0" indent="0" algn="l">
        <a:buNone/>
        <a:defRPr sz="20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image" Target="../media/image2-q90.jpg" /><Relationship Id="rId1" Type="http://schemas.openxmlformats.org/officeDocument/2006/relationships/slideLayout" Target="../slideLayouts/slideLayout5.xml" 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?>
<Relationships xmlns="http://schemas.openxmlformats.org/package/2006/relationships"><Relationship Id="rId3" Type="http://schemas.openxmlformats.org/officeDocument/2006/relationships/image" Target="../media/image3-q90.jpg" /><Relationship Id="rId1" Type="http://schemas.openxmlformats.org/officeDocument/2006/relationships/slideLayout" Target="../slideLayouts/slideLayout14.xml" /><Relationship Id="rId4" Type="http://schemas.openxmlformats.org/officeDocument/2006/relationships/image" Target="../media/image4-q90.jpg" 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image" Target="../media/image5-q90.jpg" /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7-q90.jpg" /><Relationship Id="rId2" Type="http://schemas.openxmlformats.org/officeDocument/2006/relationships/image" Target="../media/image6-q90.jpg" /><Relationship Id="rId1" Type="http://schemas.openxmlformats.org/officeDocument/2006/relationships/slideLayout" Target="../slideLayouts/slideLayout15.xml" 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?>
<Relationships xmlns="http://schemas.openxmlformats.org/package/2006/relationships"><Relationship Id="rId3" Type="http://schemas.openxmlformats.org/officeDocument/2006/relationships/image" Target="../media/image9-q90.jpg" /><Relationship Id="rId2" Type="http://schemas.openxmlformats.org/officeDocument/2006/relationships/image" Target="../media/image8-q90.jpg" /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2-q90.jpg" 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eative Brief">
            <a:extLst>
              <a:ext uri="{FF2B5EF4-FFF2-40B4-BE49-F238E27FC236}">
                <a16:creationId xmlns:a16="http://schemas.microsoft.com/office/drawing/2014/main" id="{1736895D-E1F0-4194-A5CC-24C618FFB335}"/>
              </a:ext>
            </a:extLst>
          </p:cNvPr>
          <p:cNvSpPr>
            <a:spLocks noGrp="1"/>
          </p:cNvSpPr>
          <p:nvPr/>
        </p:nvSpPr>
        <p:spPr>
          <a:xfrm>
            <a:off x="4953000" y="4762500"/>
            <a:ext cx="6667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6000" b="0">
                <a:solidFill>
                  <a:srgbClr val="18130A"/>
                </a:solidFill>
                <a:latin typeface="Inter"/>
                <a:ea typeface="Inter"/>
                <a:cs typeface="Inter"/>
              </a:defRPr>
            </a:pPr>
            <a:r>
              <a:rPr sz="6000" b="0">
                <a:solidFill>
                  <a:srgbClr val="18130A"/>
                </a:solidFill>
                <a:latin typeface="Inter"/>
                <a:ea typeface="Inter"/>
                <a:cs typeface="Inter"/>
              </a:rPr>
              <a:t>Creative Brief</a:t>
            </a:r>
          </a:p>
        </p:txBody>
      </p:sp>
      <p:sp>
        <p:nvSpPr>
          <p:cNvPr id="5" name="[Campaign name] for [Brand]&#10;Strategy, creativ">
            <a:extLst>
              <a:ext uri="{FF2B5EF4-FFF2-40B4-BE49-F238E27FC236}">
                <a16:creationId xmlns:a16="http://schemas.microsoft.com/office/drawing/2014/main" id="{878F5F20-C127-40B4-BA96-96B028FFA3C7}"/>
              </a:ext>
            </a:extLst>
          </p:cNvPr>
          <p:cNvSpPr>
            <a:spLocks noGrp="1"/>
          </p:cNvSpPr>
          <p:nvPr/>
        </p:nvSpPr>
        <p:spPr>
          <a:xfrm>
            <a:off x="4953000" y="5810250"/>
            <a:ext cx="666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1425" b="0">
                <a:solidFill>
                  <a:srgbClr val="18130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8130A"/>
                </a:solidFill>
                <a:latin typeface="Inter"/>
                <a:ea typeface="Inter"/>
                <a:cs typeface="Inter"/>
              </a:rPr>
              <a:t>Make Room for Forma</a:t>
            </a:r>
          </a:p>
          <a:p>
            <a:pPr algn="r">
              <a:lnSpc>
                <a:spcPct val="125000"/>
              </a:lnSpc>
              <a:buNone/>
              <a:defRPr sz="1425" b="0">
                <a:solidFill>
                  <a:srgbClr val="18130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8130A"/>
                </a:solidFill>
                <a:latin typeface="Inter"/>
                <a:ea typeface="Inter"/>
                <a:cs typeface="Inter"/>
              </a:rPr>
              <a:t>Example campaign: strategy and production plan</a:t>
            </a:r>
          </a:p>
        </p:txBody>
      </p:sp>
    </p:spTree>
    <p:extLst>
      <p:ext uri="{BB962C8B-B14F-4D97-AF65-F5344CB8AC3E}">
        <p14:creationId xmlns:p14="http://schemas.microsoft.com/office/powerpoint/2010/main" val="34390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0E598CF-5DED-4B76-B71C-8AB17927236C}"/>
              </a:ext>
            </a:extLst>
          </p:cNvPr>
          <p:cNvSpPr>
            <a:spLocks noGrp="1"/>
          </p:cNvSpPr>
          <p:nvPr/>
        </p:nvSpPr>
        <p:spPr>
          <a:xfrm>
            <a:off x="381000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BACKGROUND</a:t>
            </a:r>
          </a:p>
        </p:txBody>
      </p:sp>
      <p:sp>
        <p:nvSpPr>
          <p:cNvPr id="3" name="[Brand] is preparing to launch&#10;[product, serv">
            <a:extLst>
              <a:ext uri="{FF2B5EF4-FFF2-40B4-BE49-F238E27FC236}">
                <a16:creationId xmlns:a16="http://schemas.microsoft.com/office/drawing/2014/main" id="{9C71B650-B3D4-4B88-8AB1-912D38A728EE}"/>
              </a:ext>
            </a:extLst>
          </p:cNvPr>
          <p:cNvSpPr>
            <a:spLocks noGrp="1"/>
          </p:cNvSpPr>
          <p:nvPr/>
        </p:nvSpPr>
        <p:spPr>
          <a:xfrm>
            <a:off x="381000" y="762000"/>
            <a:ext cx="361950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Forma is preparing to launch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modular living room furniture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for urban renters.</a:t>
            </a:r>
          </a:p>
        </p:txBody>
      </p:sp>
      <p:sp>
        <p:nvSpPr>
          <p:cNvPr id="4" name="This campaign will shift&#10;[current perception]">
            <a:extLst>
              <a:ext uri="{FF2B5EF4-FFF2-40B4-BE49-F238E27FC236}">
                <a16:creationId xmlns:a16="http://schemas.microsoft.com/office/drawing/2014/main" id="{C395D2D4-5067-4293-A068-912D5B3C4FBF}"/>
              </a:ext>
            </a:extLst>
          </p:cNvPr>
          <p:cNvSpPr>
            <a:spLocks noGrp="1"/>
          </p:cNvSpPr>
          <p:nvPr/>
        </p:nvSpPr>
        <p:spPr>
          <a:xfrm>
            <a:off x="381000" y="2171700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This campaign will shift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“furniture for a temporary home”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toward “design that moves with me.”</a:t>
            </a:r>
          </a:p>
        </p:txBody>
      </p:sp>
      <p:sp>
        <p:nvSpPr>
          <p:cNvPr id="5" name="The opportunity is [what has changed]. The wo">
            <a:extLst>
              <a:ext uri="{FF2B5EF4-FFF2-40B4-BE49-F238E27FC236}">
                <a16:creationId xmlns:a16="http://schemas.microsoft.com/office/drawing/2014/main" id="{DF2D2E93-5602-45ED-B8E8-637F84976375}"/>
              </a:ext>
            </a:extLst>
          </p:cNvPr>
          <p:cNvSpPr>
            <a:spLocks noGrp="1"/>
          </p:cNvSpPr>
          <p:nvPr/>
        </p:nvSpPr>
        <p:spPr>
          <a:xfrm>
            <a:off x="381000" y="3600450"/>
            <a:ext cx="36195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 new lease can mean starting over. Show how Forma’s adaptable furniture helps renters make a small space feel like home.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F7ADC47E-98D8-426F-B034-1E0AF37E7A35}"/>
              </a:ext>
            </a:extLst>
          </p:cNvPr>
          <p:cNvSpPr>
            <a:spLocks noGrp="1"/>
          </p:cNvSpPr>
          <p:nvPr/>
        </p:nvSpPr>
        <p:spPr>
          <a:xfrm>
            <a:off x="381000" y="5486400"/>
            <a:ext cx="7239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8FD8D959-62F2-41EF-A7A6-E026A78C7074}"/>
              </a:ext>
            </a:extLst>
          </p:cNvPr>
          <p:cNvSpPr>
            <a:spLocks noGrp="1"/>
          </p:cNvSpPr>
          <p:nvPr/>
        </p:nvSpPr>
        <p:spPr>
          <a:xfrm>
            <a:off x="2667000" y="5486400"/>
            <a:ext cx="7239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7536BBAB-C767-4C06-8B24-30B74E16012C}"/>
              </a:ext>
            </a:extLst>
          </p:cNvPr>
          <p:cNvSpPr>
            <a:spLocks noGrp="1"/>
          </p:cNvSpPr>
          <p:nvPr/>
        </p:nvSpPr>
        <p:spPr>
          <a:xfrm>
            <a:off x="381000" y="56959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Date</a:t>
            </a:r>
          </a:p>
        </p:txBody>
      </p:sp>
      <p:sp>
        <p:nvSpPr>
          <p:cNvPr id="9" name="[Month year]">
            <a:extLst>
              <a:ext uri="{FF2B5EF4-FFF2-40B4-BE49-F238E27FC236}">
                <a16:creationId xmlns:a16="http://schemas.microsoft.com/office/drawing/2014/main" id="{91E67C94-1EBD-432B-B65E-2228051B6592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October 2026</a:t>
            </a:r>
          </a:p>
        </p:txBody>
      </p:sp>
      <p:sp>
        <p:nvSpPr>
          <p:cNvPr id="10" name="Scope">
            <a:extLst>
              <a:ext uri="{FF2B5EF4-FFF2-40B4-BE49-F238E27FC236}">
                <a16:creationId xmlns:a16="http://schemas.microsoft.com/office/drawing/2014/main" id="{7C78253C-7402-4BCF-9BC7-8BC16BA2C453}"/>
              </a:ext>
            </a:extLst>
          </p:cNvPr>
          <p:cNvSpPr>
            <a:spLocks noGrp="1"/>
          </p:cNvSpPr>
          <p:nvPr/>
        </p:nvSpPr>
        <p:spPr>
          <a:xfrm>
            <a:off x="2667000" y="56959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Scope</a:t>
            </a:r>
          </a:p>
        </p:txBody>
      </p:sp>
      <p:sp>
        <p:nvSpPr>
          <p:cNvPr id="11" name="[Core deliverables]">
            <a:extLst>
              <a:ext uri="{FF2B5EF4-FFF2-40B4-BE49-F238E27FC236}">
                <a16:creationId xmlns:a16="http://schemas.microsoft.com/office/drawing/2014/main" id="{1566E4F0-0DB1-4E61-9484-DE24B8E07549}"/>
              </a:ext>
            </a:extLst>
          </p:cNvPr>
          <p:cNvSpPr>
            <a:spLocks noGrp="1"/>
          </p:cNvSpPr>
          <p:nvPr/>
        </p:nvSpPr>
        <p:spPr>
          <a:xfrm>
            <a:off x="2667000" y="5943600"/>
            <a:ext cx="1381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Film, social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and print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 l="1416" r="1416"/>
          <a:stretch>
            <a:fillRect/>
          </a:stretch>
        </p:blipFill>
        <p:spPr>
          <a:xfrm>
            <a:off x="4305300" y="447675"/>
            <a:ext cx="7505700" cy="6181725"/>
          </a:xfrm>
          <a:prstGeom prst="roundRect">
            <a:avLst>
              <a:gd name="adj" fmla="val 924"/>
            </a:avLst>
          </a:prstGeom>
        </p:spPr>
      </p:pic>
    </p:spTree>
    <p:extLst>
      <p:ext uri="{BB962C8B-B14F-4D97-AF65-F5344CB8AC3E}">
        <p14:creationId xmlns:p14="http://schemas.microsoft.com/office/powerpoint/2010/main" val="146237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IVES">
            <a:extLst>
              <a:ext uri="{FF2B5EF4-FFF2-40B4-BE49-F238E27FC236}">
                <a16:creationId xmlns:a16="http://schemas.microsoft.com/office/drawing/2014/main" id="{F2D0BBDE-62D5-431D-A2B1-653B57904EC3}"/>
              </a:ext>
            </a:extLst>
          </p:cNvPr>
          <p:cNvSpPr>
            <a:spLocks noGrp="1"/>
          </p:cNvSpPr>
          <p:nvPr/>
        </p:nvSpPr>
        <p:spPr>
          <a:xfrm>
            <a:off x="381000" y="476250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OBJECTIVES</a:t>
            </a:r>
          </a:p>
        </p:txBody>
      </p:sp>
      <p:sp>
        <p:nvSpPr>
          <p:cNvPr id="5" name="Success means [the change this campaign shoul">
            <a:extLst>
              <a:ext uri="{FF2B5EF4-FFF2-40B4-BE49-F238E27FC236}">
                <a16:creationId xmlns:a16="http://schemas.microsoft.com/office/drawing/2014/main" id="{B67CA1FE-0657-42F3-AB49-A0E842C787B4}"/>
              </a:ext>
            </a:extLst>
          </p:cNvPr>
          <p:cNvSpPr>
            <a:spLocks noGrp="1"/>
          </p:cNvSpPr>
          <p:nvPr/>
        </p:nvSpPr>
        <p:spPr>
          <a:xfrm>
            <a:off x="381000" y="781050"/>
            <a:ext cx="8810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Success means more renters choosing Forma.</a:t>
            </a:r>
          </a:p>
          <a:p>
            <a:pPr algn="l">
              <a:lnSpc>
                <a:spcPct val="106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Track sales, brand recall and visits to the</a:t>
            </a:r>
          </a:p>
          <a:p>
            <a:pPr algn="l">
              <a:lnSpc>
                <a:spcPct val="106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room planner during the launch campaign.</a:t>
            </a:r>
          </a:p>
        </p:txBody>
      </p:sp>
      <p:sp>
        <p:nvSpPr>
          <p:cNvPr id="6" name="Success criteria&#10;[Target + date]">
            <a:extLst>
              <a:ext uri="{FF2B5EF4-FFF2-40B4-BE49-F238E27FC236}">
                <a16:creationId xmlns:a16="http://schemas.microsoft.com/office/drawing/2014/main" id="{68644F16-A367-4CD3-9C98-ECA7AC45492C}"/>
              </a:ext>
            </a:extLst>
          </p:cNvPr>
          <p:cNvSpPr>
            <a:spLocks noGrp="1"/>
          </p:cNvSpPr>
          <p:nvPr/>
        </p:nvSpPr>
        <p:spPr>
          <a:xfrm>
            <a:off x="10287000" y="800100"/>
            <a:ext cx="1428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18130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8130A"/>
                </a:solidFill>
                <a:latin typeface="Inter"/>
                <a:ea typeface="Inter"/>
                <a:cs typeface="Inter"/>
              </a:rPr>
              <a:t>Campaign targets</a:t>
            </a:r>
          </a:p>
          <a:p>
            <a:pPr algn="l">
              <a:lnSpc>
                <a:spcPct val="115000"/>
              </a:lnSpc>
              <a:buNone/>
              <a:defRPr sz="1200" b="1">
                <a:solidFill>
                  <a:srgbClr val="18130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8130A"/>
                </a:solidFill>
                <a:latin typeface="Inter"/>
                <a:ea typeface="Inter"/>
                <a:cs typeface="Inter"/>
              </a:rPr>
              <a:t>By Jan 31, 2027</a:t>
            </a:r>
          </a:p>
        </p:txBody>
      </p:sp>
      <p:sp>
        <p:nvSpPr>
          <p:cNvPr id="7" name="Business outcome">
            <a:extLst>
              <a:ext uri="{FF2B5EF4-FFF2-40B4-BE49-F238E27FC236}">
                <a16:creationId xmlns:a16="http://schemas.microsoft.com/office/drawing/2014/main" id="{9170C562-A0A2-489D-9373-6528DF1DC987}"/>
              </a:ext>
            </a:extLst>
          </p:cNvPr>
          <p:cNvSpPr>
            <a:spLocks noGrp="1"/>
          </p:cNvSpPr>
          <p:nvPr/>
        </p:nvSpPr>
        <p:spPr>
          <a:xfrm>
            <a:off x="523875" y="288607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Business outcome</a:t>
            </a:r>
          </a:p>
        </p:txBody>
      </p:sp>
      <p:sp>
        <p:nvSpPr>
          <p:cNvPr id="8" name="[Increase the business result&#10;that this campa">
            <a:extLst>
              <a:ext uri="{FF2B5EF4-FFF2-40B4-BE49-F238E27FC236}">
                <a16:creationId xmlns:a16="http://schemas.microsoft.com/office/drawing/2014/main" id="{B4293795-1DD1-4CEB-9266-4CC199526FC2}"/>
              </a:ext>
            </a:extLst>
          </p:cNvPr>
          <p:cNvSpPr>
            <a:spLocks noGrp="1"/>
          </p:cNvSpPr>
          <p:nvPr/>
        </p:nvSpPr>
        <p:spPr>
          <a:xfrm>
            <a:off x="523875" y="3343275"/>
            <a:ext cx="33337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Grow sales of the new modular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collection during its first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three months.</a:t>
            </a:r>
          </a:p>
        </p:txBody>
      </p:sp>
      <p:sp>
        <p:nvSpPr>
          <p:cNvPr id="9" name="Measure  [Metric]&#10;Target  [Value] by [Date]">
            <a:extLst>
              <a:ext uri="{FF2B5EF4-FFF2-40B4-BE49-F238E27FC236}">
                <a16:creationId xmlns:a16="http://schemas.microsoft.com/office/drawing/2014/main" id="{690777A7-FE20-4230-9252-D6DC87114DC3}"/>
              </a:ext>
            </a:extLst>
          </p:cNvPr>
          <p:cNvSpPr>
            <a:spLocks noGrp="1"/>
          </p:cNvSpPr>
          <p:nvPr/>
        </p:nvSpPr>
        <p:spPr>
          <a:xfrm>
            <a:off x="523875" y="50482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Measure  Collection orders</a:t>
            </a:r>
          </a:p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Target  1,000 by Jan 31, 2027</a:t>
            </a:r>
          </a:p>
        </p:txBody>
      </p:sp>
      <p:sp>
        <p:nvSpPr>
          <p:cNvPr id="10" name="Brand outcome">
            <a:extLst>
              <a:ext uri="{FF2B5EF4-FFF2-40B4-BE49-F238E27FC236}">
                <a16:creationId xmlns:a16="http://schemas.microsoft.com/office/drawing/2014/main" id="{02CFC94F-4C0D-4096-9192-F4633B88028D}"/>
              </a:ext>
            </a:extLst>
          </p:cNvPr>
          <p:cNvSpPr>
            <a:spLocks noGrp="1"/>
          </p:cNvSpPr>
          <p:nvPr/>
        </p:nvSpPr>
        <p:spPr>
          <a:xfrm>
            <a:off x="4429125" y="288607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Brand outcome</a:t>
            </a:r>
          </a:p>
        </p:txBody>
      </p:sp>
      <p:sp>
        <p:nvSpPr>
          <p:cNvPr id="11" name="[Build the belief or association&#10;that people ">
            <a:extLst>
              <a:ext uri="{FF2B5EF4-FFF2-40B4-BE49-F238E27FC236}">
                <a16:creationId xmlns:a16="http://schemas.microsoft.com/office/drawing/2014/main" id="{660A2A89-BA41-4646-8723-69B816746695}"/>
              </a:ext>
            </a:extLst>
          </p:cNvPr>
          <p:cNvSpPr>
            <a:spLocks noGrp="1"/>
          </p:cNvSpPr>
          <p:nvPr/>
        </p:nvSpPr>
        <p:spPr>
          <a:xfrm>
            <a:off x="4429125" y="3343275"/>
            <a:ext cx="33337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Help renters associate Forma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with furniture that adapts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to their next home.</a:t>
            </a:r>
          </a:p>
        </p:txBody>
      </p:sp>
      <p:sp>
        <p:nvSpPr>
          <p:cNvPr id="12" name="Measure  [Metric]&#10;Target  [Value] by [Date]">
            <a:extLst>
              <a:ext uri="{FF2B5EF4-FFF2-40B4-BE49-F238E27FC236}">
                <a16:creationId xmlns:a16="http://schemas.microsoft.com/office/drawing/2014/main" id="{80ECC323-61BF-4B82-8FBB-EC0AD13E5BD1}"/>
              </a:ext>
            </a:extLst>
          </p:cNvPr>
          <p:cNvSpPr>
            <a:spLocks noGrp="1"/>
          </p:cNvSpPr>
          <p:nvPr/>
        </p:nvSpPr>
        <p:spPr>
          <a:xfrm>
            <a:off x="4429125" y="50482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Measure  Aided awareness</a:t>
            </a:r>
          </a:p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Target  +8 pts by Jan 31, 2027</a:t>
            </a:r>
          </a:p>
        </p:txBody>
      </p:sp>
      <p:sp>
        <p:nvSpPr>
          <p:cNvPr id="13" name="Audience action">
            <a:extLst>
              <a:ext uri="{FF2B5EF4-FFF2-40B4-BE49-F238E27FC236}">
                <a16:creationId xmlns:a16="http://schemas.microsoft.com/office/drawing/2014/main" id="{476CE8E4-220A-4DBD-914A-D0D2EA62618D}"/>
              </a:ext>
            </a:extLst>
          </p:cNvPr>
          <p:cNvSpPr>
            <a:spLocks noGrp="1"/>
          </p:cNvSpPr>
          <p:nvPr/>
        </p:nvSpPr>
        <p:spPr>
          <a:xfrm>
            <a:off x="8334375" y="288607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Audience action</a:t>
            </a:r>
          </a:p>
        </p:txBody>
      </p:sp>
      <p:sp>
        <p:nvSpPr>
          <p:cNvPr id="14" name="[The action people should take after seeing t">
            <a:extLst>
              <a:ext uri="{FF2B5EF4-FFF2-40B4-BE49-F238E27FC236}">
                <a16:creationId xmlns:a16="http://schemas.microsoft.com/office/drawing/2014/main" id="{CBA8C31E-5610-451A-B6F8-B7F5F744E20E}"/>
              </a:ext>
            </a:extLst>
          </p:cNvPr>
          <p:cNvSpPr>
            <a:spLocks noGrp="1"/>
          </p:cNvSpPr>
          <p:nvPr/>
        </p:nvSpPr>
        <p:spPr>
          <a:xfrm>
            <a:off x="8334375" y="3343275"/>
            <a:ext cx="33337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Explore the collection and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build a layout in the online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room planner.</a:t>
            </a:r>
          </a:p>
        </p:txBody>
      </p:sp>
      <p:sp>
        <p:nvSpPr>
          <p:cNvPr id="15" name="Measure  [Metric]&#10;Target  [Value] by [Date]">
            <a:extLst>
              <a:ext uri="{FF2B5EF4-FFF2-40B4-BE49-F238E27FC236}">
                <a16:creationId xmlns:a16="http://schemas.microsoft.com/office/drawing/2014/main" id="{8B147EA7-284C-4313-A7D0-95AF29F256FD}"/>
              </a:ext>
            </a:extLst>
          </p:cNvPr>
          <p:cNvSpPr>
            <a:spLocks noGrp="1"/>
          </p:cNvSpPr>
          <p:nvPr/>
        </p:nvSpPr>
        <p:spPr>
          <a:xfrm>
            <a:off x="8334375" y="50482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Measure  Planner starts</a:t>
            </a:r>
          </a:p>
          <a:p>
            <a:pPr algn="l">
              <a:lnSpc>
                <a:spcPct val="135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Target  5,000 by Jan 31, 2027</a:t>
            </a:r>
          </a:p>
        </p:txBody>
      </p:sp>
    </p:spTree>
    <p:extLst>
      <p:ext uri="{BB962C8B-B14F-4D97-AF65-F5344CB8AC3E}">
        <p14:creationId xmlns:p14="http://schemas.microsoft.com/office/powerpoint/2010/main" val="200352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7877" r="7877"/>
          <a:stretch>
            <a:fillRect/>
          </a:stretch>
        </p:blipFill>
        <p:spPr>
          <a:xfrm>
            <a:off x="400050" y="3771900"/>
            <a:ext cx="3124200" cy="2781300"/>
          </a:xfrm>
          <a:prstGeom prst="roundRect">
            <a:avLst>
              <a:gd name="adj" fmla="val 2055"/>
            </a:avLst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rcRect t="211" b="211"/>
          <a:stretch>
            <a:fillRect/>
          </a:stretch>
        </p:blipFill>
        <p:spPr>
          <a:xfrm>
            <a:off x="3676650" y="733425"/>
            <a:ext cx="3505200" cy="5819775"/>
          </a:xfrm>
          <a:prstGeom prst="roundRect">
            <a:avLst>
              <a:gd name="adj" fmla="val 1630"/>
            </a:avLst>
          </a:prstGeom>
        </p:spPr>
      </p:pic>
      <p:sp>
        <p:nvSpPr>
          <p:cNvPr id="6" name="TARGET AUDIENCE">
            <a:extLst>
              <a:ext uri="{FF2B5EF4-FFF2-40B4-BE49-F238E27FC236}">
                <a16:creationId xmlns:a16="http://schemas.microsoft.com/office/drawing/2014/main" id="{A13C6210-19BB-4728-80CC-D606DEC859BF}"/>
              </a:ext>
            </a:extLst>
          </p:cNvPr>
          <p:cNvSpPr>
            <a:spLocks noGrp="1"/>
          </p:cNvSpPr>
          <p:nvPr/>
        </p:nvSpPr>
        <p:spPr>
          <a:xfrm>
            <a:off x="381000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TARGET AUDIENCE</a:t>
            </a:r>
          </a:p>
        </p:txBody>
      </p:sp>
      <p:sp>
        <p:nvSpPr>
          <p:cNvPr id="7" name="[Primary audience]&#10;&#10;Describe their everyday&#10;c">
            <a:extLst>
              <a:ext uri="{FF2B5EF4-FFF2-40B4-BE49-F238E27FC236}">
                <a16:creationId xmlns:a16="http://schemas.microsoft.com/office/drawing/2014/main" id="{8F174801-DF06-4A34-964F-8F0FB48CC7FD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28098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Urban renters, ages 25–35</a:t>
            </a:r>
          </a:p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endParaRPr sz="1875" b="0">
              <a:solidFill>
                <a:srgbClr val="0B0B0A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They make compact homes</a:t>
            </a:r>
          </a:p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feel personal and need</a:t>
            </a:r>
          </a:p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furniture that can adapt</a:t>
            </a:r>
          </a:p>
          <a:p>
            <a:pPr algn="l">
              <a:lnSpc>
                <a:spcPct val="111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to their next move.</a:t>
            </a:r>
          </a:p>
        </p:txBody>
      </p:sp>
      <p:sp>
        <p:nvSpPr>
          <p:cNvPr id="8" name="Who are we speaking to?">
            <a:extLst>
              <a:ext uri="{FF2B5EF4-FFF2-40B4-BE49-F238E27FC236}">
                <a16:creationId xmlns:a16="http://schemas.microsoft.com/office/drawing/2014/main" id="{E4E4A733-E05F-4C7B-BAA6-8C890ADEC55D}"/>
              </a:ext>
            </a:extLst>
          </p:cNvPr>
          <p:cNvSpPr>
            <a:spLocks noGrp="1"/>
          </p:cNvSpPr>
          <p:nvPr/>
        </p:nvSpPr>
        <p:spPr>
          <a:xfrm>
            <a:off x="7505700" y="7524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Who are we speaking to?</a:t>
            </a:r>
          </a:p>
        </p:txBody>
      </p:sp>
      <p:sp>
        <p:nvSpPr>
          <p:cNvPr id="9" name="[Life stage, role, location and&#10;shared mindse">
            <a:extLst>
              <a:ext uri="{FF2B5EF4-FFF2-40B4-BE49-F238E27FC236}">
                <a16:creationId xmlns:a16="http://schemas.microsoft.com/office/drawing/2014/main" id="{382604BB-FAE4-405C-85FF-8D18A8F3DD9B}"/>
              </a:ext>
            </a:extLst>
          </p:cNvPr>
          <p:cNvSpPr>
            <a:spLocks noGrp="1"/>
          </p:cNvSpPr>
          <p:nvPr/>
        </p:nvSpPr>
        <p:spPr>
          <a:xfrm>
            <a:off x="7505700" y="1114425"/>
            <a:ext cx="4286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Renters in major US cities,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furnishing a first apartment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or moving in with a partner.</a:t>
            </a:r>
          </a:p>
        </p:txBody>
      </p:sp>
      <p:sp>
        <p:nvSpPr>
          <p:cNvPr id="10" name="What do they care about?">
            <a:extLst>
              <a:ext uri="{FF2B5EF4-FFF2-40B4-BE49-F238E27FC236}">
                <a16:creationId xmlns:a16="http://schemas.microsoft.com/office/drawing/2014/main" id="{CE797143-1A77-4523-A4B7-1245D5A8BBFA}"/>
              </a:ext>
            </a:extLst>
          </p:cNvPr>
          <p:cNvSpPr>
            <a:spLocks noGrp="1"/>
          </p:cNvSpPr>
          <p:nvPr/>
        </p:nvSpPr>
        <p:spPr>
          <a:xfrm>
            <a:off x="7505700" y="260032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What do they care about?</a:t>
            </a:r>
          </a:p>
        </p:txBody>
      </p:sp>
      <p:sp>
        <p:nvSpPr>
          <p:cNvPr id="11" name="[The need or ambition that&#10;matters most when ">
            <a:extLst>
              <a:ext uri="{FF2B5EF4-FFF2-40B4-BE49-F238E27FC236}">
                <a16:creationId xmlns:a16="http://schemas.microsoft.com/office/drawing/2014/main" id="{917B687A-60ED-4CFA-844D-9A690722CAEB}"/>
              </a:ext>
            </a:extLst>
          </p:cNvPr>
          <p:cNvSpPr>
            <a:spLocks noGrp="1"/>
          </p:cNvSpPr>
          <p:nvPr/>
        </p:nvSpPr>
        <p:spPr>
          <a:xfrm>
            <a:off x="7505700" y="2962275"/>
            <a:ext cx="4286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 home that feels like their own,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with flexible furniture and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clear, affordable pricing.</a:t>
            </a:r>
          </a:p>
        </p:txBody>
      </p:sp>
      <p:sp>
        <p:nvSpPr>
          <p:cNvPr id="12" name="What gets in their way?">
            <a:extLst>
              <a:ext uri="{FF2B5EF4-FFF2-40B4-BE49-F238E27FC236}">
                <a16:creationId xmlns:a16="http://schemas.microsoft.com/office/drawing/2014/main" id="{CE591C69-7C8E-4B42-9842-BA2A736CC0C2}"/>
              </a:ext>
            </a:extLst>
          </p:cNvPr>
          <p:cNvSpPr>
            <a:spLocks noGrp="1"/>
          </p:cNvSpPr>
          <p:nvPr/>
        </p:nvSpPr>
        <p:spPr>
          <a:xfrm>
            <a:off x="7505700" y="44481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What gets in their way?</a:t>
            </a:r>
          </a:p>
        </p:txBody>
      </p:sp>
      <p:sp>
        <p:nvSpPr>
          <p:cNvPr id="13" name="[The practical or emotional&#10;barrier that the ">
            <a:extLst>
              <a:ext uri="{FF2B5EF4-FFF2-40B4-BE49-F238E27FC236}">
                <a16:creationId xmlns:a16="http://schemas.microsoft.com/office/drawing/2014/main" id="{24CFC143-340A-463B-83EA-FCA31B87C66A}"/>
              </a:ext>
            </a:extLst>
          </p:cNvPr>
          <p:cNvSpPr>
            <a:spLocks noGrp="1"/>
          </p:cNvSpPr>
          <p:nvPr/>
        </p:nvSpPr>
        <p:spPr>
          <a:xfrm>
            <a:off x="7505700" y="4810125"/>
            <a:ext cx="4286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Limited space and uncertainty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about the next move make</a:t>
            </a:r>
          </a:p>
          <a:p>
            <a:pPr algn="l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big purchases feel risky.</a:t>
            </a:r>
          </a:p>
        </p:txBody>
      </p:sp>
    </p:spTree>
    <p:extLst>
      <p:ext uri="{BB962C8B-B14F-4D97-AF65-F5344CB8AC3E}">
        <p14:creationId xmlns:p14="http://schemas.microsoft.com/office/powerpoint/2010/main" val="200904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DIENCE INSIGHT">
            <a:extLst>
              <a:ext uri="{FF2B5EF4-FFF2-40B4-BE49-F238E27FC236}">
                <a16:creationId xmlns:a16="http://schemas.microsoft.com/office/drawing/2014/main" id="{70DDDC0F-BC6E-47E6-A342-159515E58288}"/>
              </a:ext>
            </a:extLst>
          </p:cNvPr>
          <p:cNvSpPr>
            <a:spLocks noGrp="1"/>
          </p:cNvSpPr>
          <p:nvPr/>
        </p:nvSpPr>
        <p:spPr>
          <a:xfrm>
            <a:off x="342900" y="609600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AUDIENCE INSIGHT</a:t>
            </a:r>
          </a:p>
        </p:txBody>
      </p:sp>
      <p:sp>
        <p:nvSpPr>
          <p:cNvPr id="3" name="[A human truth that makes&#10;the audience feel u">
            <a:extLst>
              <a:ext uri="{FF2B5EF4-FFF2-40B4-BE49-F238E27FC236}">
                <a16:creationId xmlns:a16="http://schemas.microsoft.com/office/drawing/2014/main" id="{D9F78564-D420-4280-8747-6E87158DD6E7}"/>
              </a:ext>
            </a:extLst>
          </p:cNvPr>
          <p:cNvSpPr>
            <a:spLocks noGrp="1"/>
          </p:cNvSpPr>
          <p:nvPr/>
        </p:nvSpPr>
        <p:spPr>
          <a:xfrm>
            <a:off x="342900" y="923925"/>
            <a:ext cx="5381625" cy="2838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60605C"/>
                </a:solidFill>
                <a:latin typeface="Inter"/>
                <a:ea typeface="Inter"/>
                <a:cs typeface="Inter"/>
              </a:rPr>
              <a:t>“I want my home to feel like me,</a:t>
            </a:r>
          </a:p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60605C"/>
                </a:solidFill>
                <a:latin typeface="Inter"/>
                <a:ea typeface="Inter"/>
                <a:cs typeface="Inter"/>
              </a:rPr>
              <a:t>even when the lease is temporary.”</a:t>
            </a:r>
          </a:p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endParaRPr sz="2625" b="0">
              <a:solidFill>
                <a:srgbClr val="60605C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60605C"/>
                </a:solidFill>
                <a:latin typeface="Inter"/>
                <a:ea typeface="Inter"/>
                <a:cs typeface="Inter"/>
              </a:rPr>
              <a:t>Show the same furniture in</a:t>
            </a:r>
          </a:p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60605C"/>
                </a:solidFill>
                <a:latin typeface="Inter"/>
                <a:ea typeface="Inter"/>
                <a:cs typeface="Inter"/>
              </a:rPr>
              <a:t>different rooms, so the next</a:t>
            </a:r>
          </a:p>
          <a:p>
            <a:pPr algn="l">
              <a:lnSpc>
                <a:spcPct val="105000"/>
              </a:lnSpc>
              <a:buNone/>
              <a:defRPr sz="2625" b="0">
                <a:solidFill>
                  <a:srgbClr val="60605C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60605C"/>
                </a:solidFill>
                <a:latin typeface="Inter"/>
                <a:ea typeface="Inter"/>
                <a:cs typeface="Inter"/>
              </a:rPr>
              <a:t>move feels easier.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t="7353" b="7353"/>
          <a:stretch>
            <a:fillRect/>
          </a:stretch>
        </p:blipFill>
        <p:spPr>
          <a:xfrm>
            <a:off x="342900" y="4143375"/>
            <a:ext cx="2914650" cy="2486025"/>
          </a:xfrm>
          <a:prstGeom prst="roundRect">
            <a:avLst>
              <a:gd name="adj" fmla="val 2299"/>
            </a:avLst>
          </a:prstGeom>
        </p:spPr>
      </p:pic>
      <p:sp>
        <p:nvSpPr>
          <p:cNvPr id="5" name="Divider">
            <a:extLst>
              <a:ext uri="{FF2B5EF4-FFF2-40B4-BE49-F238E27FC236}">
                <a16:creationId xmlns:a16="http://schemas.microsoft.com/office/drawing/2014/main" id="{244EB598-73F4-4300-86C7-D7039EC1F48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A9A0DFF-F1D2-46EF-84E2-5C28042A1C06}"/>
              </a:ext>
            </a:extLst>
          </p:cNvPr>
          <p:cNvSpPr>
            <a:spLocks noGrp="1"/>
          </p:cNvSpPr>
          <p:nvPr/>
        </p:nvSpPr>
        <p:spPr>
          <a:xfrm>
            <a:off x="6096000" y="3419475"/>
            <a:ext cx="60960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ivider">
            <a:extLst>
              <a:ext uri="{FF2B5EF4-FFF2-40B4-BE49-F238E27FC236}">
                <a16:creationId xmlns:a16="http://schemas.microsoft.com/office/drawing/2014/main" id="{30387524-B2C2-4AA8-8F74-280A868077A3}"/>
              </a:ext>
            </a:extLst>
          </p:cNvPr>
          <p:cNvSpPr>
            <a:spLocks noGrp="1"/>
          </p:cNvSpPr>
          <p:nvPr/>
        </p:nvSpPr>
        <p:spPr>
          <a:xfrm>
            <a:off x="9144000" y="3419475"/>
            <a:ext cx="9525" cy="3438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Behavior">
            <a:extLst>
              <a:ext uri="{FF2B5EF4-FFF2-40B4-BE49-F238E27FC236}">
                <a16:creationId xmlns:a16="http://schemas.microsoft.com/office/drawing/2014/main" id="{CC915F6A-C809-4A51-835A-1C2A30D5B057}"/>
              </a:ext>
            </a:extLst>
          </p:cNvPr>
          <p:cNvSpPr>
            <a:spLocks noGrp="1"/>
          </p:cNvSpPr>
          <p:nvPr/>
        </p:nvSpPr>
        <p:spPr>
          <a:xfrm>
            <a:off x="6353175" y="57150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Behavior</a:t>
            </a:r>
          </a:p>
        </p:txBody>
      </p:sp>
      <p:sp>
        <p:nvSpPr>
          <p:cNvPr id="9" name="[They want to achieve ______,&#10;but their curre">
            <a:extLst>
              <a:ext uri="{FF2B5EF4-FFF2-40B4-BE49-F238E27FC236}">
                <a16:creationId xmlns:a16="http://schemas.microsoft.com/office/drawing/2014/main" id="{361C1059-5A9B-48C6-A5E9-32EE9716FA07}"/>
              </a:ext>
            </a:extLst>
          </p:cNvPr>
          <p:cNvSpPr>
            <a:spLocks noGrp="1"/>
          </p:cNvSpPr>
          <p:nvPr/>
        </p:nvSpPr>
        <p:spPr>
          <a:xfrm>
            <a:off x="6353175" y="962025"/>
            <a:ext cx="5238750" cy="2105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1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They want a home they love,</a:t>
            </a:r>
          </a:p>
          <a:p>
            <a:pPr algn="l">
              <a:lnSpc>
                <a:spcPct val="106000"/>
              </a:lnSpc>
              <a:buNone/>
              <a:defRPr sz="21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but delay buying furniture</a:t>
            </a:r>
          </a:p>
          <a:p>
            <a:pPr algn="l">
              <a:lnSpc>
                <a:spcPct val="106000"/>
              </a:lnSpc>
              <a:buNone/>
              <a:defRPr sz="21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because they do not know</a:t>
            </a:r>
          </a:p>
          <a:p>
            <a:pPr algn="l">
              <a:lnSpc>
                <a:spcPct val="106000"/>
              </a:lnSpc>
              <a:buNone/>
              <a:defRPr sz="21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where they will live next.</a:t>
            </a:r>
          </a:p>
        </p:txBody>
      </p:sp>
      <p:sp>
        <p:nvSpPr>
          <p:cNvPr id="10" name="Emotion">
            <a:extLst>
              <a:ext uri="{FF2B5EF4-FFF2-40B4-BE49-F238E27FC236}">
                <a16:creationId xmlns:a16="http://schemas.microsoft.com/office/drawing/2014/main" id="{30BE2E42-1328-4BB1-A176-12AC6056CFB2}"/>
              </a:ext>
            </a:extLst>
          </p:cNvPr>
          <p:cNvSpPr>
            <a:spLocks noGrp="1"/>
          </p:cNvSpPr>
          <p:nvPr/>
        </p:nvSpPr>
        <p:spPr>
          <a:xfrm>
            <a:off x="6353175" y="3781425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Emotion</a:t>
            </a:r>
          </a:p>
        </p:txBody>
      </p:sp>
      <p:sp>
        <p:nvSpPr>
          <p:cNvPr id="11" name="[The feeling they&#10;seek, or the worry&#10;that hol">
            <a:extLst>
              <a:ext uri="{FF2B5EF4-FFF2-40B4-BE49-F238E27FC236}">
                <a16:creationId xmlns:a16="http://schemas.microsoft.com/office/drawing/2014/main" id="{3B217FC1-3571-4D0F-B7E2-9269F5A20F4D}"/>
              </a:ext>
            </a:extLst>
          </p:cNvPr>
          <p:cNvSpPr>
            <a:spLocks noGrp="1"/>
          </p:cNvSpPr>
          <p:nvPr/>
        </p:nvSpPr>
        <p:spPr>
          <a:xfrm>
            <a:off x="6353175" y="4171950"/>
            <a:ext cx="2447925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They want to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feel settled,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without feeling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locked in.</a:t>
            </a:r>
          </a:p>
        </p:txBody>
      </p:sp>
      <p:sp>
        <p:nvSpPr>
          <p:cNvPr id="12" name="Cultural context">
            <a:extLst>
              <a:ext uri="{FF2B5EF4-FFF2-40B4-BE49-F238E27FC236}">
                <a16:creationId xmlns:a16="http://schemas.microsoft.com/office/drawing/2014/main" id="{0F409D8F-F4D5-453D-AAE0-DF6D493A6351}"/>
              </a:ext>
            </a:extLst>
          </p:cNvPr>
          <p:cNvSpPr>
            <a:spLocks noGrp="1"/>
          </p:cNvSpPr>
          <p:nvPr/>
        </p:nvSpPr>
        <p:spPr>
          <a:xfrm>
            <a:off x="9382125" y="3781425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Cultural context</a:t>
            </a:r>
          </a:p>
        </p:txBody>
      </p:sp>
      <p:sp>
        <p:nvSpPr>
          <p:cNvPr id="13" name="[The shared belief&#10;or change that&#10;makes this ">
            <a:extLst>
              <a:ext uri="{FF2B5EF4-FFF2-40B4-BE49-F238E27FC236}">
                <a16:creationId xmlns:a16="http://schemas.microsoft.com/office/drawing/2014/main" id="{A15125CB-D07D-4E7E-82A0-6E8DACECC6FA}"/>
              </a:ext>
            </a:extLst>
          </p:cNvPr>
          <p:cNvSpPr>
            <a:spLocks noGrp="1"/>
          </p:cNvSpPr>
          <p:nvPr/>
        </p:nvSpPr>
        <p:spPr>
          <a:xfrm>
            <a:off x="9382125" y="4171950"/>
            <a:ext cx="2524125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Home also serves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as a workspace.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Each piece needs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to earn its place.</a:t>
            </a:r>
          </a:p>
        </p:txBody>
      </p:sp>
    </p:spTree>
    <p:extLst>
      <p:ext uri="{BB962C8B-B14F-4D97-AF65-F5344CB8AC3E}">
        <p14:creationId xmlns:p14="http://schemas.microsoft.com/office/powerpoint/2010/main" val="12841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EY MESSAGE">
            <a:extLst>
              <a:ext uri="{FF2B5EF4-FFF2-40B4-BE49-F238E27FC236}">
                <a16:creationId xmlns:a16="http://schemas.microsoft.com/office/drawing/2014/main" id="{057798FD-BA35-417F-8085-7AC3A554C4C1}"/>
              </a:ext>
            </a:extLst>
          </p:cNvPr>
          <p:cNvSpPr>
            <a:spLocks noGrp="1"/>
          </p:cNvSpPr>
          <p:nvPr/>
        </p:nvSpPr>
        <p:spPr>
          <a:xfrm>
            <a:off x="276225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KEY MESSAGE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19A8B0FE-EB44-48C7-8226-13211637552C}"/>
              </a:ext>
            </a:extLst>
          </p:cNvPr>
          <p:cNvSpPr>
            <a:spLocks noGrp="1"/>
          </p:cNvSpPr>
          <p:nvPr/>
        </p:nvSpPr>
        <p:spPr>
          <a:xfrm>
            <a:off x="7877175" y="0"/>
            <a:ext cx="9525" cy="6858000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l="5075" r="5075"/>
          <a:stretch>
            <a:fillRect/>
          </a:stretch>
        </p:blipFill>
        <p:spPr>
          <a:xfrm>
            <a:off x="8153400" y="342900"/>
            <a:ext cx="2047875" cy="2847975"/>
          </a:xfrm>
          <a:prstGeom prst="roundRect">
            <a:avLst>
              <a:gd name="adj" fmla="val 2791"/>
            </a:avLst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t="822" b="822"/>
          <a:stretch>
            <a:fillRect/>
          </a:stretch>
        </p:blipFill>
        <p:spPr>
          <a:xfrm>
            <a:off x="10410825" y="342900"/>
            <a:ext cx="1447800" cy="2847975"/>
          </a:xfrm>
          <a:prstGeom prst="roundRect">
            <a:avLst>
              <a:gd name="adj" fmla="val 3947"/>
            </a:avLst>
          </a:prstGeom>
        </p:spPr>
      </p:pic>
      <p:sp>
        <p:nvSpPr>
          <p:cNvPr id="7" name="Reasons to believe">
            <a:extLst>
              <a:ext uri="{FF2B5EF4-FFF2-40B4-BE49-F238E27FC236}">
                <a16:creationId xmlns:a16="http://schemas.microsoft.com/office/drawing/2014/main" id="{0791B08C-64C1-40DE-BB59-8E6A7F2D957F}"/>
              </a:ext>
            </a:extLst>
          </p:cNvPr>
          <p:cNvSpPr>
            <a:spLocks noGrp="1"/>
          </p:cNvSpPr>
          <p:nvPr/>
        </p:nvSpPr>
        <p:spPr>
          <a:xfrm>
            <a:off x="8401050" y="363855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EADDB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EADDB7"/>
                </a:solidFill>
                <a:latin typeface="Inter"/>
                <a:ea typeface="Inter"/>
                <a:cs typeface="Inter"/>
              </a:rPr>
              <a:t>Reasons to believe</a:t>
            </a:r>
          </a:p>
        </p:txBody>
      </p:sp>
      <p:sp>
        <p:nvSpPr>
          <p:cNvPr id="8" name="01   [Specific product benefit]&#10;&#10;02   [Eviden">
            <a:extLst>
              <a:ext uri="{FF2B5EF4-FFF2-40B4-BE49-F238E27FC236}">
                <a16:creationId xmlns:a16="http://schemas.microsoft.com/office/drawing/2014/main" id="{6BDF0036-F439-4EF6-8C57-C83F011244D0}"/>
              </a:ext>
            </a:extLst>
          </p:cNvPr>
          <p:cNvSpPr>
            <a:spLocks noGrp="1"/>
          </p:cNvSpPr>
          <p:nvPr/>
        </p:nvSpPr>
        <p:spPr>
          <a:xfrm>
            <a:off x="8401050" y="4171950"/>
            <a:ext cx="319087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01   Modules fit different rooms</a:t>
            </a: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endParaRPr sz="1650" b="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02   Show a real room makeover</a:t>
            </a: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endParaRPr sz="1650" b="0">
              <a:solidFill>
                <a:srgbClr val="FFFFFF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03   Replaceable covers and parts</a:t>
            </a:r>
          </a:p>
        </p:txBody>
      </p:sp>
      <p:sp>
        <p:nvSpPr>
          <p:cNvPr id="9" name="The single-minded proposition">
            <a:extLst>
              <a:ext uri="{FF2B5EF4-FFF2-40B4-BE49-F238E27FC236}">
                <a16:creationId xmlns:a16="http://schemas.microsoft.com/office/drawing/2014/main" id="{656B6273-7107-438A-A237-C9FC28CBEFBF}"/>
              </a:ext>
            </a:extLst>
          </p:cNvPr>
          <p:cNvSpPr>
            <a:spLocks noGrp="1"/>
          </p:cNvSpPr>
          <p:nvPr/>
        </p:nvSpPr>
        <p:spPr>
          <a:xfrm>
            <a:off x="276225" y="381000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The single-minded proposition</a:t>
            </a:r>
          </a:p>
        </p:txBody>
      </p:sp>
      <p:sp>
        <p:nvSpPr>
          <p:cNvPr id="10" name="For [audience], [brand] offers&#10;[one meaningfu">
            <a:extLst>
              <a:ext uri="{FF2B5EF4-FFF2-40B4-BE49-F238E27FC236}">
                <a16:creationId xmlns:a16="http://schemas.microsoft.com/office/drawing/2014/main" id="{6D89E2F6-4EE6-4B7F-800A-2A55432D2478}"/>
              </a:ext>
            </a:extLst>
          </p:cNvPr>
          <p:cNvSpPr>
            <a:spLocks noGrp="1"/>
          </p:cNvSpPr>
          <p:nvPr/>
        </p:nvSpPr>
        <p:spPr>
          <a:xfrm>
            <a:off x="276225" y="4181475"/>
            <a:ext cx="7191375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For urban renters, Forma offers</a:t>
            </a:r>
          </a:p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furniture that adapts to each home.</a:t>
            </a:r>
          </a:p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endParaRPr sz="2250" b="0">
              <a:solidFill>
                <a:srgbClr val="0B0B0A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The campaign should leave people</a:t>
            </a:r>
          </a:p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with one clear thought:</a:t>
            </a:r>
          </a:p>
          <a:p>
            <a:pPr algn="l">
              <a:lnSpc>
                <a:spcPct val="108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“Make room for the life you’re building.”</a:t>
            </a:r>
          </a:p>
        </p:txBody>
      </p:sp>
    </p:spTree>
    <p:extLst>
      <p:ext uri="{BB962C8B-B14F-4D97-AF65-F5344CB8AC3E}">
        <p14:creationId xmlns:p14="http://schemas.microsoft.com/office/powerpoint/2010/main" val="94399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NE &amp; BRAND VOICE">
            <a:extLst>
              <a:ext uri="{FF2B5EF4-FFF2-40B4-BE49-F238E27FC236}">
                <a16:creationId xmlns:a16="http://schemas.microsoft.com/office/drawing/2014/main" id="{FB4DC091-44F0-41EA-9572-5B0F7861704C}"/>
              </a:ext>
            </a:extLst>
          </p:cNvPr>
          <p:cNvSpPr>
            <a:spLocks noGrp="1"/>
          </p:cNvSpPr>
          <p:nvPr/>
        </p:nvSpPr>
        <p:spPr>
          <a:xfrm>
            <a:off x="276225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TONE &amp; BRAND VOICE</a:t>
            </a:r>
          </a:p>
        </p:txBody>
      </p:sp>
      <p:sp>
        <p:nvSpPr>
          <p:cNvPr id="3" name="This campaign&#10;should sound:">
            <a:extLst>
              <a:ext uri="{FF2B5EF4-FFF2-40B4-BE49-F238E27FC236}">
                <a16:creationId xmlns:a16="http://schemas.microsoft.com/office/drawing/2014/main" id="{5D4A7F12-1469-4E65-825B-D4ADE2C0CD5B}"/>
              </a:ext>
            </a:extLst>
          </p:cNvPr>
          <p:cNvSpPr>
            <a:spLocks noGrp="1"/>
          </p:cNvSpPr>
          <p:nvPr/>
        </p:nvSpPr>
        <p:spPr>
          <a:xfrm>
            <a:off x="276225" y="762000"/>
            <a:ext cx="5429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This campaign</a:t>
            </a:r>
          </a:p>
          <a:p>
            <a:pPr algn="l">
              <a:lnSpc>
                <a:spcPct val="106000"/>
              </a:lnSpc>
              <a:buNone/>
              <a:defRPr sz="21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should sound:</a:t>
            </a:r>
          </a:p>
        </p:txBody>
      </p:sp>
      <p:sp>
        <p:nvSpPr>
          <p:cNvPr id="4" name="Define the character of the writing and the f">
            <a:extLst>
              <a:ext uri="{FF2B5EF4-FFF2-40B4-BE49-F238E27FC236}">
                <a16:creationId xmlns:a16="http://schemas.microsoft.com/office/drawing/2014/main" id="{58A75E76-19B0-4AE9-8519-3FBF27E09360}"/>
              </a:ext>
            </a:extLst>
          </p:cNvPr>
          <p:cNvSpPr>
            <a:spLocks noGrp="1"/>
          </p:cNvSpPr>
          <p:nvPr/>
        </p:nvSpPr>
        <p:spPr>
          <a:xfrm>
            <a:off x="6705600" y="781050"/>
            <a:ext cx="52197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Forma’s voice is warm and direct.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Show how the furniture works in real homes.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Keep every product promise specific.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5633B395-4B8A-4A9B-A133-95817CB9B2CE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Confident">
            <a:extLst>
              <a:ext uri="{FF2B5EF4-FFF2-40B4-BE49-F238E27FC236}">
                <a16:creationId xmlns:a16="http://schemas.microsoft.com/office/drawing/2014/main" id="{30E7E3BA-6C76-4B47-A9A5-0B558F1C33A8}"/>
              </a:ext>
            </a:extLst>
          </p:cNvPr>
          <p:cNvSpPr>
            <a:spLocks noGrp="1"/>
          </p:cNvSpPr>
          <p:nvPr/>
        </p:nvSpPr>
        <p:spPr>
          <a:xfrm>
            <a:off x="276225" y="2000250"/>
            <a:ext cx="6096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3900" b="1">
                <a:solidFill>
                  <a:srgbClr val="9B7926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9B7926"/>
                </a:solidFill>
                <a:latin typeface="Inter"/>
                <a:ea typeface="Inter"/>
                <a:cs typeface="Inter"/>
              </a:rPr>
              <a:t>Confident</a:t>
            </a:r>
          </a:p>
        </p:txBody>
      </p:sp>
      <p:sp>
        <p:nvSpPr>
          <p:cNvPr id="7" name="In practice">
            <a:extLst>
              <a:ext uri="{FF2B5EF4-FFF2-40B4-BE49-F238E27FC236}">
                <a16:creationId xmlns:a16="http://schemas.microsoft.com/office/drawing/2014/main" id="{88183792-4911-4EDA-9604-3A1D43F908EB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In practice</a:t>
            </a:r>
          </a:p>
        </p:txBody>
      </p:sp>
      <p:sp>
        <p:nvSpPr>
          <p:cNvPr id="8" name="[Make a clear promise and support it with evi">
            <a:extLst>
              <a:ext uri="{FF2B5EF4-FFF2-40B4-BE49-F238E27FC236}">
                <a16:creationId xmlns:a16="http://schemas.microsoft.com/office/drawing/2014/main" id="{46117437-35E9-48A3-B00E-22DD6A16E223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509587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“One sofa. Your next three apartments.”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Show the modules in different room layouts.</a:t>
            </a:r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02401D7C-2D38-4107-B49A-F978EF2916DD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Human">
            <a:extLst>
              <a:ext uri="{FF2B5EF4-FFF2-40B4-BE49-F238E27FC236}">
                <a16:creationId xmlns:a16="http://schemas.microsoft.com/office/drawing/2014/main" id="{9FA56759-9141-41F6-BFFB-BC478D58460D}"/>
              </a:ext>
            </a:extLst>
          </p:cNvPr>
          <p:cNvSpPr>
            <a:spLocks noGrp="1"/>
          </p:cNvSpPr>
          <p:nvPr/>
        </p:nvSpPr>
        <p:spPr>
          <a:xfrm>
            <a:off x="276225" y="3714750"/>
            <a:ext cx="6096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3900" b="1">
                <a:solidFill>
                  <a:srgbClr val="9B7926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9B7926"/>
                </a:solidFill>
                <a:latin typeface="Inter"/>
                <a:ea typeface="Inter"/>
                <a:cs typeface="Inter"/>
              </a:rPr>
              <a:t>Human</a:t>
            </a:r>
          </a:p>
        </p:txBody>
      </p:sp>
      <p:sp>
        <p:nvSpPr>
          <p:cNvPr id="11" name="In practice">
            <a:extLst>
              <a:ext uri="{FF2B5EF4-FFF2-40B4-BE49-F238E27FC236}">
                <a16:creationId xmlns:a16="http://schemas.microsoft.com/office/drawing/2014/main" id="{C5823E93-1EAF-4089-905E-FE3F76F95A3F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In practice</a:t>
            </a:r>
          </a:p>
        </p:txBody>
      </p:sp>
      <p:sp>
        <p:nvSpPr>
          <p:cNvPr id="12" name="[Use familiar words and a natural rhythm.&#10;Mak">
            <a:extLst>
              <a:ext uri="{FF2B5EF4-FFF2-40B4-BE49-F238E27FC236}">
                <a16:creationId xmlns:a16="http://schemas.microsoft.com/office/drawing/2014/main" id="{A10A42C4-3022-4AA5-B258-A6A1C98CFB0B}"/>
              </a:ext>
            </a:extLst>
          </p:cNvPr>
          <p:cNvSpPr>
            <a:spLocks noGrp="1"/>
          </p:cNvSpPr>
          <p:nvPr/>
        </p:nvSpPr>
        <p:spPr>
          <a:xfrm>
            <a:off x="6705600" y="4038600"/>
            <a:ext cx="509587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“Your place, even when you’re renting.”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Reflect the small moments that make a home.</a:t>
            </a:r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CB8E928C-2046-4794-8EC7-C2D84650B9D4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urious">
            <a:extLst>
              <a:ext uri="{FF2B5EF4-FFF2-40B4-BE49-F238E27FC236}">
                <a16:creationId xmlns:a16="http://schemas.microsoft.com/office/drawing/2014/main" id="{A2958BE6-311A-4E50-B8C8-1EDB3FBFAE35}"/>
              </a:ext>
            </a:extLst>
          </p:cNvPr>
          <p:cNvSpPr>
            <a:spLocks noGrp="1"/>
          </p:cNvSpPr>
          <p:nvPr/>
        </p:nvSpPr>
        <p:spPr>
          <a:xfrm>
            <a:off x="276225" y="5429250"/>
            <a:ext cx="6096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3900" b="1">
                <a:solidFill>
                  <a:srgbClr val="9B7926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9B7926"/>
                </a:solidFill>
                <a:latin typeface="Inter"/>
                <a:ea typeface="Inter"/>
                <a:cs typeface="Inter"/>
              </a:rPr>
              <a:t>Curious</a:t>
            </a:r>
          </a:p>
        </p:txBody>
      </p:sp>
      <p:sp>
        <p:nvSpPr>
          <p:cNvPr id="15" name="In practice">
            <a:extLst>
              <a:ext uri="{FF2B5EF4-FFF2-40B4-BE49-F238E27FC236}">
                <a16:creationId xmlns:a16="http://schemas.microsoft.com/office/drawing/2014/main" id="{960509A2-204F-4BB0-8715-4E31F66B7159}"/>
              </a:ext>
            </a:extLst>
          </p:cNvPr>
          <p:cNvSpPr>
            <a:spLocks noGrp="1"/>
          </p:cNvSpPr>
          <p:nvPr/>
        </p:nvSpPr>
        <p:spPr>
          <a:xfrm>
            <a:off x="6705600" y="542925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In practice</a:t>
            </a:r>
          </a:p>
        </p:txBody>
      </p:sp>
      <p:sp>
        <p:nvSpPr>
          <p:cNvPr id="16" name="[Invite people to look again, explore a possi">
            <a:extLst>
              <a:ext uri="{FF2B5EF4-FFF2-40B4-BE49-F238E27FC236}">
                <a16:creationId xmlns:a16="http://schemas.microsoft.com/office/drawing/2014/main" id="{BD3D077F-2441-4681-8E7D-E3AF270C87D6}"/>
              </a:ext>
            </a:extLst>
          </p:cNvPr>
          <p:cNvSpPr>
            <a:spLocks noGrp="1"/>
          </p:cNvSpPr>
          <p:nvPr/>
        </p:nvSpPr>
        <p:spPr>
          <a:xfrm>
            <a:off x="6705600" y="5753100"/>
            <a:ext cx="509587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“What could this corner become?”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Invite people to try a layout in the room planner.</a:t>
            </a:r>
          </a:p>
        </p:txBody>
      </p:sp>
    </p:spTree>
    <p:extLst>
      <p:ext uri="{BB962C8B-B14F-4D97-AF65-F5344CB8AC3E}">
        <p14:creationId xmlns:p14="http://schemas.microsoft.com/office/powerpoint/2010/main" val="117123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LIVERABLES">
            <a:extLst>
              <a:ext uri="{FF2B5EF4-FFF2-40B4-BE49-F238E27FC236}">
                <a16:creationId xmlns:a16="http://schemas.microsoft.com/office/drawing/2014/main" id="{C38090F6-A9B1-4F2A-8EA2-DF925D625D3F}"/>
              </a:ext>
            </a:extLst>
          </p:cNvPr>
          <p:cNvSpPr>
            <a:spLocks noGrp="1"/>
          </p:cNvSpPr>
          <p:nvPr/>
        </p:nvSpPr>
        <p:spPr>
          <a:xfrm>
            <a:off x="276225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DELIVERABLES</a:t>
            </a:r>
          </a:p>
        </p:txBody>
      </p:sp>
      <p:sp>
        <p:nvSpPr>
          <p:cNvPr id="3" name="[List the assets, their role, formats, quanti">
            <a:extLst>
              <a:ext uri="{FF2B5EF4-FFF2-40B4-BE49-F238E27FC236}">
                <a16:creationId xmlns:a16="http://schemas.microsoft.com/office/drawing/2014/main" id="{41A9CD97-811F-44F6-A0C3-81BF7DBBAB98}"/>
              </a:ext>
            </a:extLst>
          </p:cNvPr>
          <p:cNvSpPr>
            <a:spLocks noGrp="1"/>
          </p:cNvSpPr>
          <p:nvPr/>
        </p:nvSpPr>
        <p:spPr>
          <a:xfrm>
            <a:off x="7820025" y="523875"/>
            <a:ext cx="4000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Launch assets show how Forma fits real homes.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All versions include captions and a</a:t>
            </a:r>
          </a:p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“Plan your room” call to action.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F0E65456-C5F5-4C2C-88F1-27E95426FDA7}"/>
              </a:ext>
            </a:extLst>
          </p:cNvPr>
          <p:cNvSpPr>
            <a:spLocks noGrp="1"/>
          </p:cNvSpPr>
          <p:nvPr/>
        </p:nvSpPr>
        <p:spPr>
          <a:xfrm>
            <a:off x="228600" y="1733550"/>
            <a:ext cx="1173480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7EACA8A3-91BC-414E-BD66-F5F660A04C2A}"/>
              </a:ext>
            </a:extLst>
          </p:cNvPr>
          <p:cNvSpPr>
            <a:spLocks noGrp="1"/>
          </p:cNvSpPr>
          <p:nvPr/>
        </p:nvSpPr>
        <p:spPr>
          <a:xfrm>
            <a:off x="2695575" y="1733550"/>
            <a:ext cx="9525" cy="4724400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5084A8E-74B8-4E49-B021-C24B0593D024}"/>
              </a:ext>
            </a:extLst>
          </p:cNvPr>
          <p:cNvSpPr>
            <a:spLocks noGrp="1"/>
          </p:cNvSpPr>
          <p:nvPr/>
        </p:nvSpPr>
        <p:spPr>
          <a:xfrm>
            <a:off x="8248650" y="1733550"/>
            <a:ext cx="9525" cy="4724400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33400" y="1976438"/>
            <a:ext cx="1752600" cy="3505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95625" y="2033588"/>
            <a:ext cx="4572000" cy="3429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 l="15877" r="15877"/>
          <a:stretch>
            <a:fillRect/>
          </a:stretch>
        </p:blipFill>
        <p:spPr>
          <a:xfrm>
            <a:off x="8686800" y="2124075"/>
            <a:ext cx="2647950" cy="3105150"/>
          </a:xfrm>
          <a:prstGeom prst="roundRect">
            <a:avLst>
              <a:gd name="adj" fmla="val 2158"/>
            </a:avLst>
          </a:prstGeom>
        </p:spPr>
      </p:pic>
      <p:sp>
        <p:nvSpPr>
          <p:cNvPr id="10" name="Social &amp; mobile">
            <a:extLst>
              <a:ext uri="{FF2B5EF4-FFF2-40B4-BE49-F238E27FC236}">
                <a16:creationId xmlns:a16="http://schemas.microsoft.com/office/drawing/2014/main" id="{738CE129-53F0-48BB-9A7A-D385DA026214}"/>
              </a:ext>
            </a:extLst>
          </p:cNvPr>
          <p:cNvSpPr>
            <a:spLocks noGrp="1"/>
          </p:cNvSpPr>
          <p:nvPr/>
        </p:nvSpPr>
        <p:spPr>
          <a:xfrm>
            <a:off x="561975" y="5648325"/>
            <a:ext cx="20669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Social &amp; mobile</a:t>
            </a:r>
          </a:p>
        </p:txBody>
      </p:sp>
      <p:sp>
        <p:nvSpPr>
          <p:cNvPr id="11" name="[Formats and quantity]&#10;[Platform / CTA]">
            <a:extLst>
              <a:ext uri="{FF2B5EF4-FFF2-40B4-BE49-F238E27FC236}">
                <a16:creationId xmlns:a16="http://schemas.microsoft.com/office/drawing/2014/main" id="{4F34DFAE-A744-4618-9085-D5376EB197D9}"/>
              </a:ext>
            </a:extLst>
          </p:cNvPr>
          <p:cNvSpPr>
            <a:spLocks noGrp="1"/>
          </p:cNvSpPr>
          <p:nvPr/>
        </p:nvSpPr>
        <p:spPr>
          <a:xfrm>
            <a:off x="561975" y="5895975"/>
            <a:ext cx="20574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6 × 15s videos, 9:16</a:t>
            </a: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Instagram / Plan your room</a:t>
            </a:r>
          </a:p>
        </p:txBody>
      </p:sp>
      <p:sp>
        <p:nvSpPr>
          <p:cNvPr id="12" name="Hero campaign assets">
            <a:extLst>
              <a:ext uri="{FF2B5EF4-FFF2-40B4-BE49-F238E27FC236}">
                <a16:creationId xmlns:a16="http://schemas.microsoft.com/office/drawing/2014/main" id="{44366657-A7BF-4F97-B3FF-B97107053544}"/>
              </a:ext>
            </a:extLst>
          </p:cNvPr>
          <p:cNvSpPr>
            <a:spLocks noGrp="1"/>
          </p:cNvSpPr>
          <p:nvPr/>
        </p:nvSpPr>
        <p:spPr>
          <a:xfrm>
            <a:off x="3133725" y="5648325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Hero campaign assets</a:t>
            </a:r>
          </a:p>
        </p:txBody>
      </p:sp>
      <p:sp>
        <p:nvSpPr>
          <p:cNvPr id="13" name="[Hero film, website or launch experience]&#10;[Di">
            <a:extLst>
              <a:ext uri="{FF2B5EF4-FFF2-40B4-BE49-F238E27FC236}">
                <a16:creationId xmlns:a16="http://schemas.microsoft.com/office/drawing/2014/main" id="{A48B762C-488C-49D1-AABF-35E002D617E4}"/>
              </a:ext>
            </a:extLst>
          </p:cNvPr>
          <p:cNvSpPr>
            <a:spLocks noGrp="1"/>
          </p:cNvSpPr>
          <p:nvPr/>
        </p:nvSpPr>
        <p:spPr>
          <a:xfrm>
            <a:off x="3133725" y="5895975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1 × 30s film + room planner landing page</a:t>
            </a: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16:9 hero, 9:16 cutdown, US English</a:t>
            </a:r>
          </a:p>
        </p:txBody>
      </p:sp>
      <p:sp>
        <p:nvSpPr>
          <p:cNvPr id="14" name="Print &amp; partnerships">
            <a:extLst>
              <a:ext uri="{FF2B5EF4-FFF2-40B4-BE49-F238E27FC236}">
                <a16:creationId xmlns:a16="http://schemas.microsoft.com/office/drawing/2014/main" id="{5D305B8C-EC3F-4629-8414-34DEF6F86407}"/>
              </a:ext>
            </a:extLst>
          </p:cNvPr>
          <p:cNvSpPr>
            <a:spLocks noGrp="1"/>
          </p:cNvSpPr>
          <p:nvPr/>
        </p:nvSpPr>
        <p:spPr>
          <a:xfrm>
            <a:off x="8648700" y="564832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Print &amp; partnerships</a:t>
            </a:r>
          </a:p>
        </p:txBody>
      </p:sp>
      <p:sp>
        <p:nvSpPr>
          <p:cNvPr id="15" name="[Placements and specifications]&#10;[Mandatory me">
            <a:extLst>
              <a:ext uri="{FF2B5EF4-FFF2-40B4-BE49-F238E27FC236}">
                <a16:creationId xmlns:a16="http://schemas.microsoft.com/office/drawing/2014/main" id="{EEE1DC1A-84F9-48B9-AA73-CB64A44B8EA2}"/>
              </a:ext>
            </a:extLst>
          </p:cNvPr>
          <p:cNvSpPr>
            <a:spLocks noGrp="1"/>
          </p:cNvSpPr>
          <p:nvPr/>
        </p:nvSpPr>
        <p:spPr>
          <a:xfrm>
            <a:off x="8648700" y="5895975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2 × A2 posters for retail partners</a:t>
            </a: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QR code / Plan your room</a:t>
            </a:r>
          </a:p>
        </p:txBody>
      </p:sp>
    </p:spTree>
    <p:extLst>
      <p:ext uri="{BB962C8B-B14F-4D97-AF65-F5344CB8AC3E}">
        <p14:creationId xmlns:p14="http://schemas.microsoft.com/office/powerpoint/2010/main" val="23080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DGET &amp; TIMELINE">
            <a:extLst>
              <a:ext uri="{FF2B5EF4-FFF2-40B4-BE49-F238E27FC236}">
                <a16:creationId xmlns:a16="http://schemas.microsoft.com/office/drawing/2014/main" id="{A61152BC-492F-44F5-9D80-DCBF1250E418}"/>
              </a:ext>
            </a:extLst>
          </p:cNvPr>
          <p:cNvSpPr>
            <a:spLocks noGrp="1"/>
          </p:cNvSpPr>
          <p:nvPr/>
        </p:nvSpPr>
        <p:spPr>
          <a:xfrm>
            <a:off x="276225" y="46672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00" b="0">
                <a:solidFill>
                  <a:srgbClr val="0B0B0A"/>
                </a:solidFill>
                <a:latin typeface="DM Mono"/>
                <a:ea typeface="DM Mono"/>
                <a:cs typeface="DM Mono"/>
              </a:defRPr>
            </a:pPr>
            <a:r>
              <a:rPr sz="900" b="0">
                <a:solidFill>
                  <a:srgbClr val="0B0B0A"/>
                </a:solidFill>
                <a:latin typeface="DM Mono"/>
                <a:ea typeface="DM Mono"/>
                <a:cs typeface="DM Mono"/>
              </a:rPr>
              <a:t>BUDGET &amp; TIMELINE</a:t>
            </a:r>
          </a:p>
        </p:txBody>
      </p:sp>
      <p:sp>
        <p:nvSpPr>
          <p:cNvPr id="3" name="[Set the budget and the key milestones&#10;from c">
            <a:extLst>
              <a:ext uri="{FF2B5EF4-FFF2-40B4-BE49-F238E27FC236}">
                <a16:creationId xmlns:a16="http://schemas.microsoft.com/office/drawing/2014/main" id="{27D39833-AB0F-4F5B-825B-C98C180DA3D4}"/>
              </a:ext>
            </a:extLst>
          </p:cNvPr>
          <p:cNvSpPr>
            <a:spLocks noGrp="1"/>
          </p:cNvSpPr>
          <p:nvPr/>
        </p:nvSpPr>
        <p:spPr>
          <a:xfrm>
            <a:off x="276225" y="771525"/>
            <a:ext cx="704850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Reserve $150K–$180K for the launch.</a:t>
            </a:r>
          </a:p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Complete production before November.</a:t>
            </a:r>
          </a:p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endParaRPr sz="2250" b="0">
              <a:solidFill>
                <a:srgbClr val="0B0B0A"/>
              </a:solidFill>
              <a:latin typeface="Inter"/>
              <a:ea typeface="Inter"/>
              <a:cs typeface="Inter"/>
            </a:endParaRPr>
          </a:p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Budget covers creative and paid media.</a:t>
            </a:r>
          </a:p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Maya approves concepts and final assets.</a:t>
            </a:r>
          </a:p>
          <a:p>
            <a:pPr algn="l">
              <a:lnSpc>
                <a:spcPct val="110000"/>
              </a:lnSpc>
              <a:buNone/>
              <a:defRPr sz="22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Allow two working days for feedback.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834A3FC2-4C32-45C8-B1E0-97C908E962D9}"/>
              </a:ext>
            </a:extLst>
          </p:cNvPr>
          <p:cNvSpPr>
            <a:spLocks noGrp="1"/>
          </p:cNvSpPr>
          <p:nvPr/>
        </p:nvSpPr>
        <p:spPr>
          <a:xfrm>
            <a:off x="342900" y="5010150"/>
            <a:ext cx="962025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852ECF03-D3F4-4A64-A27F-641D35FBE8F2}"/>
              </a:ext>
            </a:extLst>
          </p:cNvPr>
          <p:cNvSpPr>
            <a:spLocks noGrp="1"/>
          </p:cNvSpPr>
          <p:nvPr/>
        </p:nvSpPr>
        <p:spPr>
          <a:xfrm>
            <a:off x="4267200" y="5010150"/>
            <a:ext cx="962025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udget range">
            <a:extLst>
              <a:ext uri="{FF2B5EF4-FFF2-40B4-BE49-F238E27FC236}">
                <a16:creationId xmlns:a16="http://schemas.microsoft.com/office/drawing/2014/main" id="{BFBA372C-8C4A-4A93-9869-1AD244891711}"/>
              </a:ext>
            </a:extLst>
          </p:cNvPr>
          <p:cNvSpPr>
            <a:spLocks noGrp="1"/>
          </p:cNvSpPr>
          <p:nvPr/>
        </p:nvSpPr>
        <p:spPr>
          <a:xfrm>
            <a:off x="342900" y="5238750"/>
            <a:ext cx="3381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Budget range</a:t>
            </a:r>
          </a:p>
        </p:txBody>
      </p:sp>
      <p:sp>
        <p:nvSpPr>
          <p:cNvPr id="7" name="[Min] – [Max]">
            <a:extLst>
              <a:ext uri="{FF2B5EF4-FFF2-40B4-BE49-F238E27FC236}">
                <a16:creationId xmlns:a16="http://schemas.microsoft.com/office/drawing/2014/main" id="{AAF08778-3483-4F36-ADE9-77BF2CAE0BC2}"/>
              </a:ext>
            </a:extLst>
          </p:cNvPr>
          <p:cNvSpPr>
            <a:spLocks noGrp="1"/>
          </p:cNvSpPr>
          <p:nvPr/>
        </p:nvSpPr>
        <p:spPr>
          <a:xfrm>
            <a:off x="342900" y="5514975"/>
            <a:ext cx="35718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7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7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$150K–$180K</a:t>
            </a:r>
          </a:p>
        </p:txBody>
      </p:sp>
      <p:sp>
        <p:nvSpPr>
          <p:cNvPr id="8" name="[Currency] / [Included costs]">
            <a:extLst>
              <a:ext uri="{FF2B5EF4-FFF2-40B4-BE49-F238E27FC236}">
                <a16:creationId xmlns:a16="http://schemas.microsoft.com/office/drawing/2014/main" id="{2B6DEB39-E8E9-4095-9EFA-7E956726CB63}"/>
              </a:ext>
            </a:extLst>
          </p:cNvPr>
          <p:cNvSpPr>
            <a:spLocks noGrp="1"/>
          </p:cNvSpPr>
          <p:nvPr/>
        </p:nvSpPr>
        <p:spPr>
          <a:xfrm>
            <a:off x="342900" y="6086475"/>
            <a:ext cx="37623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USD / Creative, production and media</a:t>
            </a:r>
          </a:p>
        </p:txBody>
      </p:sp>
      <p:sp>
        <p:nvSpPr>
          <p:cNvPr id="9" name="Launch date">
            <a:extLst>
              <a:ext uri="{FF2B5EF4-FFF2-40B4-BE49-F238E27FC236}">
                <a16:creationId xmlns:a16="http://schemas.microsoft.com/office/drawing/2014/main" id="{3E5D16F3-F852-402A-8C35-BB3C19CF670F}"/>
              </a:ext>
            </a:extLst>
          </p:cNvPr>
          <p:cNvSpPr>
            <a:spLocks noGrp="1"/>
          </p:cNvSpPr>
          <p:nvPr/>
        </p:nvSpPr>
        <p:spPr>
          <a:xfrm>
            <a:off x="4267200" y="52387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98984"/>
                </a:solidFill>
                <a:latin typeface="Inter"/>
                <a:ea typeface="Inter"/>
                <a:cs typeface="Inter"/>
              </a:rPr>
              <a:t>Launch date</a:t>
            </a:r>
          </a:p>
        </p:txBody>
      </p:sp>
      <p:sp>
        <p:nvSpPr>
          <p:cNvPr id="10" name="[Date]">
            <a:extLst>
              <a:ext uri="{FF2B5EF4-FFF2-40B4-BE49-F238E27FC236}">
                <a16:creationId xmlns:a16="http://schemas.microsoft.com/office/drawing/2014/main" id="{B87306F3-0EF2-4C23-A6D7-E356F018B625}"/>
              </a:ext>
            </a:extLst>
          </p:cNvPr>
          <p:cNvSpPr>
            <a:spLocks noGrp="1"/>
          </p:cNvSpPr>
          <p:nvPr/>
        </p:nvSpPr>
        <p:spPr>
          <a:xfrm>
            <a:off x="4267200" y="5514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7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27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Nov 2, 2026</a:t>
            </a:r>
          </a:p>
        </p:txBody>
      </p:sp>
      <p:sp>
        <p:nvSpPr>
          <p:cNvPr id="11" name="Timeline">
            <a:extLst>
              <a:ext uri="{FF2B5EF4-FFF2-40B4-BE49-F238E27FC236}">
                <a16:creationId xmlns:a16="http://schemas.microsoft.com/office/drawing/2014/main" id="{99CFEF2C-9C89-4654-BFC9-FB97ED418B05}"/>
              </a:ext>
            </a:extLst>
          </p:cNvPr>
          <p:cNvSpPr>
            <a:spLocks noGrp="1"/>
          </p:cNvSpPr>
          <p:nvPr/>
        </p:nvSpPr>
        <p:spPr>
          <a:xfrm>
            <a:off x="8048625" y="304800"/>
            <a:ext cx="0" cy="6153150"/>
          </a:xfrm>
          <a:prstGeom prst="line">
            <a:avLst/>
          </a:prstGeom>
          <a:noFill/>
          <a:ln w="9525">
            <a:solidFill>
              <a:srgbClr val="CCCCC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Milestone 1">
            <a:extLst>
              <a:ext uri="{FF2B5EF4-FFF2-40B4-BE49-F238E27FC236}">
                <a16:creationId xmlns:a16="http://schemas.microsoft.com/office/drawing/2014/main" id="{A7B12B9D-1FD9-4F28-903B-2F18D43924C5}"/>
              </a:ext>
            </a:extLst>
          </p:cNvPr>
          <p:cNvSpPr>
            <a:spLocks noGrp="1"/>
          </p:cNvSpPr>
          <p:nvPr/>
        </p:nvSpPr>
        <p:spPr>
          <a:xfrm>
            <a:off x="7991475" y="762000"/>
            <a:ext cx="114300" cy="114300"/>
          </a:xfrm>
          <a:prstGeom prst="ellipse">
            <a:avLst/>
          </a:prstGeom>
          <a:solidFill>
            <a:srgbClr val="CCCCC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Milestone 2">
            <a:extLst>
              <a:ext uri="{FF2B5EF4-FFF2-40B4-BE49-F238E27FC236}">
                <a16:creationId xmlns:a16="http://schemas.microsoft.com/office/drawing/2014/main" id="{30C6F277-7EA8-4135-B8C2-9A3A3582D5A6}"/>
              </a:ext>
            </a:extLst>
          </p:cNvPr>
          <p:cNvSpPr>
            <a:spLocks noGrp="1"/>
          </p:cNvSpPr>
          <p:nvPr/>
        </p:nvSpPr>
        <p:spPr>
          <a:xfrm>
            <a:off x="7991475" y="2895600"/>
            <a:ext cx="114300" cy="114300"/>
          </a:xfrm>
          <a:prstGeom prst="ellipse">
            <a:avLst/>
          </a:prstGeom>
          <a:solidFill>
            <a:srgbClr val="CCCCC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ilestone 3">
            <a:extLst>
              <a:ext uri="{FF2B5EF4-FFF2-40B4-BE49-F238E27FC236}">
                <a16:creationId xmlns:a16="http://schemas.microsoft.com/office/drawing/2014/main" id="{715D232F-F7BD-4FFC-B6E7-4EA97C9B37DF}"/>
              </a:ext>
            </a:extLst>
          </p:cNvPr>
          <p:cNvSpPr>
            <a:spLocks noGrp="1"/>
          </p:cNvSpPr>
          <p:nvPr/>
        </p:nvSpPr>
        <p:spPr>
          <a:xfrm>
            <a:off x="7991475" y="5029200"/>
            <a:ext cx="114300" cy="114300"/>
          </a:xfrm>
          <a:prstGeom prst="ellipse">
            <a:avLst/>
          </a:prstGeom>
          <a:solidFill>
            <a:srgbClr val="9B792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01">
            <a:extLst>
              <a:ext uri="{FF2B5EF4-FFF2-40B4-BE49-F238E27FC236}">
                <a16:creationId xmlns:a16="http://schemas.microsoft.com/office/drawing/2014/main" id="{0ADD9BAF-F5CF-4BE0-A217-D179B1833B59}"/>
              </a:ext>
            </a:extLst>
          </p:cNvPr>
          <p:cNvSpPr>
            <a:spLocks noGrp="1"/>
          </p:cNvSpPr>
          <p:nvPr/>
        </p:nvSpPr>
        <p:spPr>
          <a:xfrm>
            <a:off x="8286750" y="704850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9B7926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9B7926"/>
                </a:solidFill>
                <a:latin typeface="DM Mono"/>
                <a:ea typeface="DM Mono"/>
                <a:cs typeface="DM Mono"/>
              </a:rPr>
              <a:t>01</a:t>
            </a:r>
          </a:p>
        </p:txBody>
      </p:sp>
      <p:sp>
        <p:nvSpPr>
          <p:cNvPr id="16" name="Concept">
            <a:extLst>
              <a:ext uri="{FF2B5EF4-FFF2-40B4-BE49-F238E27FC236}">
                <a16:creationId xmlns:a16="http://schemas.microsoft.com/office/drawing/2014/main" id="{F7C0611F-7230-44B9-9B52-108846CAC1FF}"/>
              </a:ext>
            </a:extLst>
          </p:cNvPr>
          <p:cNvSpPr>
            <a:spLocks noGrp="1"/>
          </p:cNvSpPr>
          <p:nvPr/>
        </p:nvSpPr>
        <p:spPr>
          <a:xfrm>
            <a:off x="8753475" y="7143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7" name="[Review date]">
            <a:extLst>
              <a:ext uri="{FF2B5EF4-FFF2-40B4-BE49-F238E27FC236}">
                <a16:creationId xmlns:a16="http://schemas.microsoft.com/office/drawing/2014/main" id="{B8A3CA1D-94C8-4A2E-8874-C43C97D24159}"/>
              </a:ext>
            </a:extLst>
          </p:cNvPr>
          <p:cNvSpPr>
            <a:spLocks noGrp="1"/>
          </p:cNvSpPr>
          <p:nvPr/>
        </p:nvSpPr>
        <p:spPr>
          <a:xfrm>
            <a:off x="8753475" y="11239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October 16, 2026</a:t>
            </a:r>
          </a:p>
        </p:txBody>
      </p:sp>
      <p:sp>
        <p:nvSpPr>
          <p:cNvPr id="18" name="[Decision owner]">
            <a:extLst>
              <a:ext uri="{FF2B5EF4-FFF2-40B4-BE49-F238E27FC236}">
                <a16:creationId xmlns:a16="http://schemas.microsoft.com/office/drawing/2014/main" id="{74AA4701-61A3-4609-898D-B55BF45DA6DA}"/>
              </a:ext>
            </a:extLst>
          </p:cNvPr>
          <p:cNvSpPr>
            <a:spLocks noGrp="1"/>
          </p:cNvSpPr>
          <p:nvPr/>
        </p:nvSpPr>
        <p:spPr>
          <a:xfrm>
            <a:off x="8753475" y="14954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Maya Chen, Brand Director</a:t>
            </a:r>
          </a:p>
        </p:txBody>
      </p:sp>
      <p:sp>
        <p:nvSpPr>
          <p:cNvPr id="19" name="02">
            <a:extLst>
              <a:ext uri="{FF2B5EF4-FFF2-40B4-BE49-F238E27FC236}">
                <a16:creationId xmlns:a16="http://schemas.microsoft.com/office/drawing/2014/main" id="{7F4F2FCD-15D6-44E6-A716-81DDF5936C90}"/>
              </a:ext>
            </a:extLst>
          </p:cNvPr>
          <p:cNvSpPr>
            <a:spLocks noGrp="1"/>
          </p:cNvSpPr>
          <p:nvPr/>
        </p:nvSpPr>
        <p:spPr>
          <a:xfrm>
            <a:off x="8286750" y="2838450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9B7926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9B7926"/>
                </a:solidFill>
                <a:latin typeface="DM Mono"/>
                <a:ea typeface="DM Mono"/>
                <a:cs typeface="DM Mono"/>
              </a:rPr>
              <a:t>02</a:t>
            </a:r>
          </a:p>
        </p:txBody>
      </p:sp>
      <p:sp>
        <p:nvSpPr>
          <p:cNvPr id="20" name="Production">
            <a:extLst>
              <a:ext uri="{FF2B5EF4-FFF2-40B4-BE49-F238E27FC236}">
                <a16:creationId xmlns:a16="http://schemas.microsoft.com/office/drawing/2014/main" id="{3538F087-15FF-4562-914F-1D4D5EA97DC7}"/>
              </a:ext>
            </a:extLst>
          </p:cNvPr>
          <p:cNvSpPr>
            <a:spLocks noGrp="1"/>
          </p:cNvSpPr>
          <p:nvPr/>
        </p:nvSpPr>
        <p:spPr>
          <a:xfrm>
            <a:off x="8753475" y="28479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1" name="[Delivery date]">
            <a:extLst>
              <a:ext uri="{FF2B5EF4-FFF2-40B4-BE49-F238E27FC236}">
                <a16:creationId xmlns:a16="http://schemas.microsoft.com/office/drawing/2014/main" id="{000683F8-267F-4B1C-BDBB-08927F35F8A4}"/>
              </a:ext>
            </a:extLst>
          </p:cNvPr>
          <p:cNvSpPr>
            <a:spLocks noGrp="1"/>
          </p:cNvSpPr>
          <p:nvPr/>
        </p:nvSpPr>
        <p:spPr>
          <a:xfrm>
            <a:off x="8753475" y="32575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October 28, 2026</a:t>
            </a:r>
          </a:p>
        </p:txBody>
      </p:sp>
      <p:sp>
        <p:nvSpPr>
          <p:cNvPr id="22" name="[Decision owner]">
            <a:extLst>
              <a:ext uri="{FF2B5EF4-FFF2-40B4-BE49-F238E27FC236}">
                <a16:creationId xmlns:a16="http://schemas.microsoft.com/office/drawing/2014/main" id="{9BD16C95-C441-4B96-97A6-AFE4BF510ED5}"/>
              </a:ext>
            </a:extLst>
          </p:cNvPr>
          <p:cNvSpPr>
            <a:spLocks noGrp="1"/>
          </p:cNvSpPr>
          <p:nvPr/>
        </p:nvSpPr>
        <p:spPr>
          <a:xfrm>
            <a:off x="8753475" y="36290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Maya Chen, Brand Director</a:t>
            </a:r>
          </a:p>
        </p:txBody>
      </p:sp>
      <p:sp>
        <p:nvSpPr>
          <p:cNvPr id="23" name="03">
            <a:extLst>
              <a:ext uri="{FF2B5EF4-FFF2-40B4-BE49-F238E27FC236}">
                <a16:creationId xmlns:a16="http://schemas.microsoft.com/office/drawing/2014/main" id="{4247B0E7-5DA9-4C95-A1F9-58BB13031272}"/>
              </a:ext>
            </a:extLst>
          </p:cNvPr>
          <p:cNvSpPr>
            <a:spLocks noGrp="1"/>
          </p:cNvSpPr>
          <p:nvPr/>
        </p:nvSpPr>
        <p:spPr>
          <a:xfrm>
            <a:off x="8286750" y="4972050"/>
            <a:ext cx="571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050" b="0">
                <a:solidFill>
                  <a:srgbClr val="9B7926"/>
                </a:solidFill>
                <a:latin typeface="DM Mono"/>
                <a:ea typeface="DM Mono"/>
                <a:cs typeface="DM Mono"/>
              </a:defRPr>
            </a:pPr>
            <a:r>
              <a:rPr sz="1050" b="0">
                <a:solidFill>
                  <a:srgbClr val="9B7926"/>
                </a:solidFill>
                <a:latin typeface="DM Mono"/>
                <a:ea typeface="DM Mono"/>
                <a:cs typeface="DM Mono"/>
              </a:rPr>
              <a:t>03</a:t>
            </a:r>
          </a:p>
        </p:txBody>
      </p:sp>
      <p:sp>
        <p:nvSpPr>
          <p:cNvPr id="24" name="Launch">
            <a:extLst>
              <a:ext uri="{FF2B5EF4-FFF2-40B4-BE49-F238E27FC236}">
                <a16:creationId xmlns:a16="http://schemas.microsoft.com/office/drawing/2014/main" id="{69A41D75-E76A-47F9-B72C-6381B3870C48}"/>
              </a:ext>
            </a:extLst>
          </p:cNvPr>
          <p:cNvSpPr>
            <a:spLocks noGrp="1"/>
          </p:cNvSpPr>
          <p:nvPr/>
        </p:nvSpPr>
        <p:spPr>
          <a:xfrm>
            <a:off x="8753475" y="49815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B0B0A"/>
                </a:solidFill>
                <a:latin typeface="Inter"/>
                <a:ea typeface="Inter"/>
                <a:cs typeface="Inter"/>
              </a:rPr>
              <a:t>Launch</a:t>
            </a:r>
          </a:p>
        </p:txBody>
      </p:sp>
      <p:sp>
        <p:nvSpPr>
          <p:cNvPr id="25" name="[Go-live date]">
            <a:extLst>
              <a:ext uri="{FF2B5EF4-FFF2-40B4-BE49-F238E27FC236}">
                <a16:creationId xmlns:a16="http://schemas.microsoft.com/office/drawing/2014/main" id="{DAD94190-A749-4393-8776-DA4C2867E76D}"/>
              </a:ext>
            </a:extLst>
          </p:cNvPr>
          <p:cNvSpPr>
            <a:spLocks noGrp="1"/>
          </p:cNvSpPr>
          <p:nvPr/>
        </p:nvSpPr>
        <p:spPr>
          <a:xfrm>
            <a:off x="8753475" y="539115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72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November 2, 2026</a:t>
            </a:r>
          </a:p>
        </p:txBody>
      </p:sp>
      <p:sp>
        <p:nvSpPr>
          <p:cNvPr id="26" name="[Decision owner]">
            <a:extLst>
              <a:ext uri="{FF2B5EF4-FFF2-40B4-BE49-F238E27FC236}">
                <a16:creationId xmlns:a16="http://schemas.microsoft.com/office/drawing/2014/main" id="{48C46C70-2C76-45C4-9F47-661DE68FCDE2}"/>
              </a:ext>
            </a:extLst>
          </p:cNvPr>
          <p:cNvSpPr>
            <a:spLocks noGrp="1"/>
          </p:cNvSpPr>
          <p:nvPr/>
        </p:nvSpPr>
        <p:spPr>
          <a:xfrm>
            <a:off x="8753475" y="57626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898984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898984"/>
                </a:solidFill>
                <a:latin typeface="Inter"/>
                <a:ea typeface="Inter"/>
                <a:cs typeface="Inter"/>
              </a:rPr>
              <a:t>Alex Rivera, Marketing Lead</a:t>
            </a:r>
          </a:p>
        </p:txBody>
      </p:sp>
    </p:spTree>
    <p:extLst>
      <p:ext uri="{BB962C8B-B14F-4D97-AF65-F5344CB8AC3E}">
        <p14:creationId xmlns:p14="http://schemas.microsoft.com/office/powerpoint/2010/main" val="67613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t’s get&#10;started">
            <a:extLst>
              <a:ext uri="{FF2B5EF4-FFF2-40B4-BE49-F238E27FC236}">
                <a16:creationId xmlns:a16="http://schemas.microsoft.com/office/drawing/2014/main" id="{545C9770-314E-45D8-B875-E92C67A0519C}"/>
              </a:ext>
            </a:extLst>
          </p:cNvPr>
          <p:cNvSpPr>
            <a:spLocks noGrp="1"/>
          </p:cNvSpPr>
          <p:nvPr/>
        </p:nvSpPr>
        <p:spPr>
          <a:xfrm>
            <a:off x="304800" y="647700"/>
            <a:ext cx="9144000" cy="2781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900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900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Let’s get</a:t>
            </a:r>
          </a:p>
          <a:p>
            <a:pPr algn="l">
              <a:lnSpc>
                <a:spcPct val="98000"/>
              </a:lnSpc>
              <a:buNone/>
              <a:defRPr sz="900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900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started</a:t>
            </a:r>
          </a:p>
        </p:txBody>
      </p:sp>
      <p:sp>
        <p:nvSpPr>
          <p:cNvPr id="4" name="Brief approval&#10;[Name / role] by [Date]">
            <a:extLst>
              <a:ext uri="{FF2B5EF4-FFF2-40B4-BE49-F238E27FC236}">
                <a16:creationId xmlns:a16="http://schemas.microsoft.com/office/drawing/2014/main" id="{05651CF9-73A0-4D47-BB3C-EF574D26E615}"/>
              </a:ext>
            </a:extLst>
          </p:cNvPr>
          <p:cNvSpPr>
            <a:spLocks noGrp="1"/>
          </p:cNvSpPr>
          <p:nvPr/>
        </p:nvSpPr>
        <p:spPr>
          <a:xfrm>
            <a:off x="8001000" y="4695825"/>
            <a:ext cx="37528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6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Brief approval</a:t>
            </a:r>
          </a:p>
          <a:p>
            <a:pPr algn="r">
              <a:lnSpc>
                <a:spcPct val="106000"/>
              </a:lnSpc>
              <a:buNone/>
              <a:defRPr sz="165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Maya Chen, Brand Director by Oct 12</a:t>
            </a:r>
          </a:p>
        </p:txBody>
      </p:sp>
      <p:sp>
        <p:nvSpPr>
          <p:cNvPr id="5" name="Questions? Contact [Name]&#10;[Email address]">
            <a:extLst>
              <a:ext uri="{FF2B5EF4-FFF2-40B4-BE49-F238E27FC236}">
                <a16:creationId xmlns:a16="http://schemas.microsoft.com/office/drawing/2014/main" id="{7AE858E8-1E82-4907-BFDF-1E395E576747}"/>
              </a:ext>
            </a:extLst>
          </p:cNvPr>
          <p:cNvSpPr>
            <a:spLocks noGrp="1"/>
          </p:cNvSpPr>
          <p:nvPr/>
        </p:nvSpPr>
        <p:spPr>
          <a:xfrm>
            <a:off x="7620000" y="5553075"/>
            <a:ext cx="41338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Questions? Contact Alex Rivera</a:t>
            </a:r>
          </a:p>
          <a:p>
            <a:pPr algn="r">
              <a:lnSpc>
                <a:spcPct val="106000"/>
              </a:lnSpc>
              <a:buNone/>
              <a:defRPr sz="1875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alex@forma.example</a:t>
            </a: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6062F21A-6A82-40CF-A78C-4F459D1A7421}"/>
              </a:ext>
            </a:extLst>
          </p:cNvPr>
          <p:cNvSpPr>
            <a:spLocks noGrp="1"/>
          </p:cNvSpPr>
          <p:nvPr/>
        </p:nvSpPr>
        <p:spPr>
          <a:xfrm>
            <a:off x="314325" y="6419850"/>
            <a:ext cx="11563350" cy="9525"/>
          </a:xfrm>
          <a:prstGeom prst="rect">
            <a:avLst/>
          </a:prstGeom>
          <a:solidFill>
            <a:srgbClr val="BBBB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Next step: [Action, owner and due date]">
            <a:extLst>
              <a:ext uri="{FF2B5EF4-FFF2-40B4-BE49-F238E27FC236}">
                <a16:creationId xmlns:a16="http://schemas.microsoft.com/office/drawing/2014/main" id="{E4E1B70C-A40F-43F2-815B-C416490DEA10}"/>
              </a:ext>
            </a:extLst>
          </p:cNvPr>
          <p:cNvSpPr>
            <a:spLocks noGrp="1"/>
          </p:cNvSpPr>
          <p:nvPr/>
        </p:nvSpPr>
        <p:spPr>
          <a:xfrm>
            <a:off x="333375" y="6534150"/>
            <a:ext cx="11430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0B0B0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B0B0A"/>
                </a:solidFill>
                <a:latin typeface="Inter"/>
                <a:ea typeface="Inter"/>
                <a:cs typeface="Inter"/>
              </a:rPr>
              <a:t>Next step: Alex shares two creative concepts by October 16, 2026</a:t>
            </a:r>
          </a:p>
        </p:txBody>
      </p:sp>
    </p:spTree>
    <p:extLst>
      <p:ext uri="{BB962C8B-B14F-4D97-AF65-F5344CB8AC3E}">
        <p14:creationId xmlns:p14="http://schemas.microsoft.com/office/powerpoint/2010/main" val="1115823830"/>
      </p:ext>
    </p:extLst>
  </p:cSld>
  <p:clrMapOvr>
    <a:masterClrMapping/>
  </p:clrMapOvr>
</p:sld>
</file>

<file path=ppt/theme/theme1.xml><?xml version="1.0" encoding="utf-8"?>
<a:theme xmlns:a="http://schemas.openxmlformats.org/drawingml/2006/main" name="Gold Creative Campaign Brief">
  <a:themeElements>
    <a:clrScheme name="Gold / Creative Campaign Brief">
      <a:dk1>
        <a:srgbClr val="0B0B0A"/>
      </a:dk1>
      <a:lt1>
        <a:srgbClr val="FFFFFF"/>
      </a:lt1>
      <a:dk2>
        <a:srgbClr val="0B0B0A"/>
      </a:dk2>
      <a:lt2>
        <a:srgbClr val="FFF9E9"/>
      </a:lt2>
      <a:accent1>
        <a:srgbClr val="9B7926"/>
      </a:accent1>
      <a:accent2>
        <a:srgbClr val="EADDB7"/>
      </a:accent2>
      <a:accent3>
        <a:srgbClr val="BBBBAF"/>
      </a:accent3>
      <a:accent4>
        <a:srgbClr val="898984"/>
      </a:accent4>
      <a:accent5>
        <a:srgbClr val="0B0B0A"/>
      </a:accent5>
      <a:accent6>
        <a:srgbClr val="FFF9E9"/>
      </a:accent6>
      <a:hlink>
        <a:srgbClr val="9B7926"/>
      </a:hlink>
      <a:folHlink>
        <a:srgbClr val="0B0B0A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Gold / Creative Campaign Brief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Macintosh PowerPoint</Application>
  <DocSecurity>0</DocSecurity>
  <PresentationFormat>Widescreen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DM Mono</vt:lpstr>
      <vt:lpstr>Inter</vt:lpstr>
      <vt:lpstr>Gold Creative Campaign Brief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>
  <dc:title>Presentation</dc:title>
</ns0:coreProperties>
</file>