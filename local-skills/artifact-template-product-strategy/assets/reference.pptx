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Default Extension="xlsx" ContentType="application/vnd.openxmlformats-officedocument.spreadsheetml.sheet"/>
  <Override PartName="/ppt/media/image.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cd71b1da845e3" /><Relationship Type="http://schemas.openxmlformats.org/officeDocument/2006/relationships/extended-properties" Target="/docProps/app.xml" Id="R3f8e02a0d2204654" /><Relationship Type="http://schemas.openxmlformats.org/officeDocument/2006/relationships/officeDocument" Target="/ppt/presentation.xml" Id="Rdb5af460630e4abc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7057fdadb2aa4790"/>
  </p:notesMasterIdLst>
  <p:sldIdLst>
    <p:sldId xmlns:r="http://schemas.openxmlformats.org/officeDocument/2006/relationships" id="256" r:id="R1c8d529e16554c82"/>
    <p:sldId xmlns:r="http://schemas.openxmlformats.org/officeDocument/2006/relationships" id="257" r:id="R5709844c8cc04334"/>
    <p:sldId xmlns:r="http://schemas.openxmlformats.org/officeDocument/2006/relationships" id="258" r:id="R3ba83d5bc68d4dd0"/>
    <p:sldId xmlns:r="http://schemas.openxmlformats.org/officeDocument/2006/relationships" id="259" r:id="Ra466372e67ed4432"/>
    <p:sldId xmlns:r="http://schemas.openxmlformats.org/officeDocument/2006/relationships" id="260" r:id="R654d749adea248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F813B33-CD10-5032-9125-B79F07E07410}">
  <a:tblStyle styleId="{5F813B33-CD10-5032-9125-B79F07E07410}" styleName="Product Strategy — Blue Cyan">
    <a:wholeTbl>
      <a:tcTxStyle b="off" i="off">
        <a:fontRef idx="minor">
          <a:srgbClr val="FFFFFF"/>
        </a:fontRef>
        <a:srgbClr val="FFFFFF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9525">
              <a:solidFill>
                <a:srgbClr val="FFFFFF">
                  <a:alpha val="33333"/>
                </a:srgbClr>
              </a:solidFill>
            </a:ln>
          </a:bottom>
          <a:insideH>
            <a:ln w="9525">
              <a:solidFill>
                <a:srgbClr val="FFFFFF">
                  <a:alpha val="33333"/>
                </a:srgbClr>
              </a:solidFill>
            </a:ln>
          </a:insideH>
          <a:insideV>
            <a:ln w="0">
              <a:noFill/>
            </a:ln>
          </a:insideV>
        </a:tcBdr>
        <a:fill>
          <a:solidFill>
            <a:srgbClr val="0E3C8C"/>
          </a:solidFill>
        </a:fill>
      </a:tcStyle>
    </a:wholeTbl>
    <a:firstCol>
      <a:tcTxStyle b="off" i="off">
        <a:fontRef idx="minor">
          <a:srgbClr val="02C1EF"/>
        </a:fontRef>
        <a:srgbClr val="02C1EF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9525">
              <a:solidFill>
                <a:srgbClr val="FFFFFF">
                  <a:alpha val="33333"/>
                </a:srgbClr>
              </a:solidFill>
            </a:ln>
          </a:bottom>
          <a:insideH>
            <a:ln w="9525">
              <a:solidFill>
                <a:srgbClr val="FFFFFF">
                  <a:alpha val="33333"/>
                </a:srgbClr>
              </a:solidFill>
            </a:ln>
          </a:insideH>
          <a:insideV>
            <a:ln w="0">
              <a:noFill/>
            </a:ln>
          </a:insideV>
        </a:tcBdr>
        <a:fill>
          <a:solidFill>
            <a:srgbClr val="0E3C8C"/>
          </a:solidFill>
        </a:fill>
      </a:tcStyle>
    </a:firstCol>
    <a:firstRow>
      <a:tcTxStyle b="on" i="off">
        <a:fontRef idx="minor">
          <a:srgbClr val="FFFFFF"/>
        </a:fontRef>
        <a:srgbClr val="FFFFFF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9525">
              <a:solidFill>
                <a:srgbClr val="FFFFFF">
                  <a:alpha val="33333"/>
                </a:srgbClr>
              </a:solidFill>
            </a:ln>
          </a:bottom>
          <a:insideH>
            <a:ln w="9525">
              <a:solidFill>
                <a:srgbClr val="FFFFFF">
                  <a:alpha val="33333"/>
                </a:srgbClr>
              </a:solidFill>
            </a:ln>
          </a:insideH>
          <a:insideV>
            <a:ln w="0">
              <a:noFill/>
            </a:ln>
          </a:insideV>
        </a:tcBdr>
        <a:fill>
          <a:solidFill>
            <a:srgbClr val="0E3C8C"/>
          </a:solidFill>
        </a:fill>
      </a:tcStyle>
    </a:firstRow>
    <a:neCell>
      <a:tcTxStyle b="on" i="off">
        <a:fontRef idx="minor">
          <a:srgbClr val="FFFFFF"/>
        </a:fontRef>
        <a:srgbClr val="FFFFFF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9525">
              <a:solidFill>
                <a:srgbClr val="FFFFFF">
                  <a:alpha val="33333"/>
                </a:srgbClr>
              </a:solidFill>
            </a:ln>
          </a:bottom>
          <a:insideH>
            <a:ln w="9525">
              <a:solidFill>
                <a:srgbClr val="FFFFFF">
                  <a:alpha val="33333"/>
                </a:srgbClr>
              </a:solidFill>
            </a:ln>
          </a:insideH>
          <a:insideV>
            <a:ln w="0">
              <a:noFill/>
            </a:ln>
          </a:insideV>
        </a:tcBdr>
        <a:fill>
          <a:solidFill>
            <a:srgbClr val="0E3C8C"/>
          </a:solidFill>
        </a:fill>
      </a:tcStyle>
    </a:neCell>
    <a:nwCell>
      <a:tcTxStyle b="on" i="off">
        <a:fontRef idx="minor">
          <a:srgbClr val="FFFFFF"/>
        </a:fontRef>
        <a:srgbClr val="FFFFFF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9525">
              <a:solidFill>
                <a:srgbClr val="FFFFFF">
                  <a:alpha val="33333"/>
                </a:srgbClr>
              </a:solidFill>
            </a:ln>
          </a:bottom>
          <a:insideH>
            <a:ln w="9525">
              <a:solidFill>
                <a:srgbClr val="FFFFFF">
                  <a:alpha val="33333"/>
                </a:srgbClr>
              </a:solidFill>
            </a:ln>
          </a:insideH>
          <a:insideV>
            <a:ln w="0">
              <a:noFill/>
            </a:ln>
          </a:insideV>
        </a:tcBdr>
        <a:fill>
          <a:solidFill>
            <a:srgbClr val="0E3C8C"/>
          </a:solidFill>
        </a:fill>
      </a:tcStyle>
    </a:nwCell>
  </a:tblStyle>
</a:tblStyleLst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49c9212f82e4889"/><Relationship Type="http://schemas.openxmlformats.org/officeDocument/2006/relationships/notesMaster" Target="/ppt/notesMasters/notesMaster1.xml" Id="R7057fdadb2aa4790"/><Relationship Type="http://schemas.openxmlformats.org/officeDocument/2006/relationships/presProps" Target="/ppt/presProps.xml" Id="R77c883ea9b554f1a"/><Relationship Type="http://schemas.openxmlformats.org/officeDocument/2006/relationships/tableStyles" Target="/ppt/tableStyles.xml" Id="R0c6c20c364d740c0"/><Relationship Type="http://schemas.openxmlformats.org/officeDocument/2006/relationships/slide" Target="/ppt/slides/slide1.xml" Id="R1c8d529e16554c82"/><Relationship Type="http://schemas.openxmlformats.org/officeDocument/2006/relationships/slide" Target="/ppt/slides/slide2.xml" Id="R5709844c8cc04334"/><Relationship Type="http://schemas.openxmlformats.org/officeDocument/2006/relationships/slide" Target="/ppt/slides/slide3.xml" Id="R3ba83d5bc68d4dd0"/><Relationship Type="http://schemas.openxmlformats.org/officeDocument/2006/relationships/slide" Target="/ppt/slides/slide4.xml" Id="Ra466372e67ed4432"/><Relationship Type="http://schemas.openxmlformats.org/officeDocument/2006/relationships/slide" Target="/ppt/slides/slide5.xml" Id="R654d749adea24824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8fd21eeca7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396f142774a8d" /><Relationship Type="http://schemas.openxmlformats.org/officeDocument/2006/relationships/notesMaster" Target="/ppt/notesMasters/notesMaster1.xml" Id="R68a45f3d7e2641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5fdfb4df1e4960" /><Relationship Type="http://schemas.openxmlformats.org/officeDocument/2006/relationships/notesMaster" Target="/ppt/notesMasters/notesMaster1.xml" Id="R246f9b9aaba046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a0d07da2f430a" /><Relationship Type="http://schemas.openxmlformats.org/officeDocument/2006/relationships/notesMaster" Target="/ppt/notesMasters/notesMaster1.xml" Id="Rd1c16c35479f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42d4531cf4627" /><Relationship Type="http://schemas.openxmlformats.org/officeDocument/2006/relationships/notesMaster" Target="/ppt/notesMasters/notesMaster1.xml" Id="R2816a41b044d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f26a7c301c4721" /><Relationship Type="http://schemas.openxmlformats.org/officeDocument/2006/relationships/notesMaster" Target="/ppt/notesMasters/notesMaster1.xml" Id="Rb3b1978c521d4e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 standalone='yes'?>
<Relationships xmlns="http://schemas.openxmlformats.org/package/2006/relationships"><Relationship Type="http://schemas.openxmlformats.org/officeDocument/2006/relationships/image" Target="../media/image.png" Id="R5b256bc7f3884754"/><Relationship Id="rTemplateMaster" Type="http://schemas.openxmlformats.org/officeDocument/2006/relationships/slideMaster" Target="../slideMasters/templateMaster.xml"/></Relationships>
</file>

<file path=ppt/slideLayouts/_rels/templateLayout2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3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4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 standalone='yes'?>
<Relationships xmlns="http://schemas.openxmlformats.org/package/2006/relationships"><Relationship Type="http://schemas.openxmlformats.org/officeDocument/2006/relationships/chart" Target="../slides/charts/chart1.xml" Id="R1797c5c6b2494e00"/><Relationship Id="rTemplateMaster" Type="http://schemas.openxmlformats.org/officeDocument/2006/relationships/slideMaster" Target="../slideMasters/templateMaster.xml"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Strateg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7C3D2C5-B9AB-4E00-9D16-E4972B571069}"/>
              </a:ext>
            </a:extLst>
          </p:cNvPr>
          <p:cNvPicPr>
            <a:picLocks noChangeAspect="1"/>
          </p:cNvPicPr>
          <p:nvPr/>
        </p:nvPicPr>
        <p:blipFill>
          <a:blip r:embed="R5b256bc7f3884754">
            <a:alphaModFix amt="70000"/>
          </a:blip>
          <a:stretch/>
        </p:blipFill>
        <p:spPr>
          <a:xfrm>
            <a:off x="741494" y="-11500"/>
            <a:ext cx="10287000" cy="6858000"/>
          </a:xfrm>
          <a:prstGeom prst="rect">
            <a:avLst/>
          </a:prstGeom>
        </p:spPr>
      </p:pic>
      <p:sp>
        <p:nvSpPr>
          <p:cNvPr id="3" name="2027">
            <a:extLst>
              <a:ext uri="{FF2B5EF4-FFF2-40B4-BE49-F238E27FC236}">
                <a16:creationId xmlns:a16="http://schemas.microsoft.com/office/drawing/2014/main" id="{42DC4921-4731-4FA3-A717-04CA251E5127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944110" y="1956501"/>
            <a:ext cx="2303780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ctr" marL="0" indent="0">
              <a:lnSpc>
                <a:spcPct val="100000"/>
              </a:lnSpc>
              <a:buNone/>
              <a:defRPr sz="75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2027</a:t>
            </a:r>
          </a:p>
        </p:txBody>
      </p:sp>
      <p:sp>
        <p:nvSpPr>
          <p:cNvPr id="4" name="Product">
            <a:extLst>
              <a:ext uri="{FF2B5EF4-FFF2-40B4-BE49-F238E27FC236}">
                <a16:creationId xmlns:a16="http://schemas.microsoft.com/office/drawing/2014/main" id="{F27CA01D-B935-45EB-97BD-5FC9072F0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4335" y="2911845"/>
            <a:ext cx="3783330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 marL="0" indent="0">
              <a:lnSpc>
                <a:spcPct val="100000"/>
              </a:lnSpc>
              <a:buNone/>
              <a:defRPr sz="7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5" name="Strategy">
            <a:extLst>
              <a:ext uri="{FF2B5EF4-FFF2-40B4-BE49-F238E27FC236}">
                <a16:creationId xmlns:a16="http://schemas.microsoft.com/office/drawing/2014/main" id="{9C0ADE3E-2A7B-4C13-A525-0675E4D38B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091622" y="3889848"/>
            <a:ext cx="4008755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 marL="0" indent="0">
              <a:lnSpc>
                <a:spcPct val="100000"/>
              </a:lnSpc>
              <a:buNone/>
              <a:defRPr sz="7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Sectio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">
            <a:extLst>
              <a:ext uri="{FF2B5EF4-FFF2-40B4-BE49-F238E27FC236}">
                <a16:creationId xmlns:a16="http://schemas.microsoft.com/office/drawing/2014/main" id="{81F10859-A946-44BA-9DD5-634278A0A132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835795" y="1524000"/>
            <a:ext cx="13144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48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Focus Areas">
            <a:extLst>
              <a:ext uri="{FF2B5EF4-FFF2-40B4-BE49-F238E27FC236}">
                <a16:creationId xmlns:a16="http://schemas.microsoft.com/office/drawing/2014/main" id="{D278B89A-BAE1-4BE7-9CCC-FA9D3F74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5045" y="1647825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36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4" name="row-rule">
            <a:extLst>
              <a:ext uri="{FF2B5EF4-FFF2-40B4-BE49-F238E27FC236}">
                <a16:creationId xmlns:a16="http://schemas.microsoft.com/office/drawing/2014/main" id="{1C160AC4-757A-46CC-9B8E-FC1AF9BDDB8F}"/>
              </a:ext>
            </a:extLst>
          </p:cNvPr>
          <p:cNvSpPr>
            <a:spLocks noGrp="1"/>
          </p:cNvSpPr>
          <p:nvPr/>
        </p:nvSpPr>
        <p:spPr>
          <a:xfrm>
            <a:off x="835795" y="2590800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5" name="02">
            <a:extLst>
              <a:ext uri="{FF2B5EF4-FFF2-40B4-BE49-F238E27FC236}">
                <a16:creationId xmlns:a16="http://schemas.microsoft.com/office/drawing/2014/main" id="{5BF536FB-5A6B-4F40-9059-10B674452055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5795" y="2800350"/>
            <a:ext cx="13144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48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Product Development">
            <a:extLst>
              <a:ext uri="{FF2B5EF4-FFF2-40B4-BE49-F238E27FC236}">
                <a16:creationId xmlns:a16="http://schemas.microsoft.com/office/drawing/2014/main" id="{279ED0DA-5626-455C-9BF1-9796BDFEE43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449541" y="2928334"/>
            <a:ext cx="8283506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36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7" name="row-rule">
            <a:extLst>
              <a:ext uri="{FF2B5EF4-FFF2-40B4-BE49-F238E27FC236}">
                <a16:creationId xmlns:a16="http://schemas.microsoft.com/office/drawing/2014/main" id="{C7CC9E1B-3BBF-4543-A825-A75717A7AC17}"/>
              </a:ext>
            </a:extLst>
          </p:cNvPr>
          <p:cNvSpPr>
            <a:spLocks noGrp="1"/>
          </p:cNvSpPr>
          <p:nvPr/>
        </p:nvSpPr>
        <p:spPr>
          <a:xfrm>
            <a:off x="835795" y="3981450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8" name="03">
            <a:extLst>
              <a:ext uri="{FF2B5EF4-FFF2-40B4-BE49-F238E27FC236}">
                <a16:creationId xmlns:a16="http://schemas.microsoft.com/office/drawing/2014/main" id="{9F8D09A6-399C-43F7-8836-4D85AB8A36C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835795" y="4238625"/>
            <a:ext cx="13144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48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Growth Targets">
            <a:extLst>
              <a:ext uri="{FF2B5EF4-FFF2-40B4-BE49-F238E27FC236}">
                <a16:creationId xmlns:a16="http://schemas.microsoft.com/office/drawing/2014/main" id="{ECA150AE-8734-46F8-BB24-7473E23D1E8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2455045" y="4370579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36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Strategy Prior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2"/>
          <p:cNvSpPr>
            <a:spLocks noGrp="1"/>
          </p:cNvSpPr>
          <p:nvPr>
            <p:ph type="tbl" idx="1"/>
          </p:nvPr>
        </p:nvSpPr>
        <p:spPr>
          <a:xfrm>
            <a:off x="5772150" y="828675"/>
            <a:ext cx="5772150" cy="495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w-rule">
            <a:extLst>
              <a:ext uri="{FF2B5EF4-FFF2-40B4-BE49-F238E27FC236}">
                <a16:creationId xmlns:a16="http://schemas.microsoft.com/office/drawing/2014/main" id="{79739FB3-F1E4-4905-BCAA-CCF3416D94AC}"/>
              </a:ext>
            </a:extLst>
          </p:cNvPr>
          <p:cNvSpPr>
            <a:spLocks noGrp="1"/>
          </p:cNvSpPr>
          <p:nvPr/>
        </p:nvSpPr>
        <p:spPr>
          <a:xfrm>
            <a:off x="5772150" y="1790700"/>
            <a:ext cx="577215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</a:ln>
        </p:spPr>
      </p:sp>
      <p:sp>
        <p:nvSpPr>
          <p:cNvPr id="4" name="row-rule">
            <a:extLst>
              <a:ext uri="{FF2B5EF4-FFF2-40B4-BE49-F238E27FC236}">
                <a16:creationId xmlns:a16="http://schemas.microsoft.com/office/drawing/2014/main" id="{BA79ABC5-3FA1-47F5-9C0F-9AB644458085}"/>
              </a:ext>
            </a:extLst>
          </p:cNvPr>
          <p:cNvSpPr>
            <a:spLocks noGrp="1"/>
          </p:cNvSpPr>
          <p:nvPr/>
        </p:nvSpPr>
        <p:spPr>
          <a:xfrm>
            <a:off x="5772150" y="2781300"/>
            <a:ext cx="577215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</a:ln>
        </p:spPr>
      </p:sp>
      <p:sp>
        <p:nvSpPr>
          <p:cNvPr id="5" name="row-rule">
            <a:extLst>
              <a:ext uri="{FF2B5EF4-FFF2-40B4-BE49-F238E27FC236}">
                <a16:creationId xmlns:a16="http://schemas.microsoft.com/office/drawing/2014/main" id="{30C157D7-8FA9-469D-B38E-F4295B2601FF}"/>
              </a:ext>
            </a:extLst>
          </p:cNvPr>
          <p:cNvSpPr>
            <a:spLocks noGrp="1"/>
          </p:cNvSpPr>
          <p:nvPr/>
        </p:nvSpPr>
        <p:spPr>
          <a:xfrm>
            <a:off x="5772150" y="3771900"/>
            <a:ext cx="577215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</a:ln>
        </p:spPr>
      </p:sp>
      <p:sp>
        <p:nvSpPr>
          <p:cNvPr id="6" name="row-rule">
            <a:extLst>
              <a:ext uri="{FF2B5EF4-FFF2-40B4-BE49-F238E27FC236}">
                <a16:creationId xmlns:a16="http://schemas.microsoft.com/office/drawing/2014/main" id="{B8E8500D-AB15-4629-95AC-82F30876A748}"/>
              </a:ext>
            </a:extLst>
          </p:cNvPr>
          <p:cNvSpPr>
            <a:spLocks noGrp="1"/>
          </p:cNvSpPr>
          <p:nvPr/>
        </p:nvSpPr>
        <p:spPr>
          <a:xfrm>
            <a:off x="5772150" y="4762500"/>
            <a:ext cx="577215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</a:ln>
        </p:spPr>
      </p:sp>
      <p:sp>
        <p:nvSpPr>
          <p:cNvPr id="7" name="row-rule">
            <a:extLst>
              <a:ext uri="{FF2B5EF4-FFF2-40B4-BE49-F238E27FC236}">
                <a16:creationId xmlns:a16="http://schemas.microsoft.com/office/drawing/2014/main" id="{E8FFA46F-3FBD-4625-8276-8B7A5DF409F6}"/>
              </a:ext>
            </a:extLst>
          </p:cNvPr>
          <p:cNvSpPr>
            <a:spLocks noGrp="1"/>
          </p:cNvSpPr>
          <p:nvPr/>
        </p:nvSpPr>
        <p:spPr>
          <a:xfrm>
            <a:off x="5772150" y="5753100"/>
            <a:ext cx="577215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</a:ln>
        </p:spPr>
      </p:sp>
      <p:sp>
        <p:nvSpPr>
          <p:cNvPr id="8" name="Focus">
            <a:extLst>
              <a:ext uri="{FF2B5EF4-FFF2-40B4-BE49-F238E27FC236}">
                <a16:creationId xmlns:a16="http://schemas.microsoft.com/office/drawing/2014/main" id="{7B5FD8F0-3D59-49AE-BCCE-A77AE2BD9D3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619250" y="2207199"/>
            <a:ext cx="2878536" cy="1123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7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9" name="Areas">
            <a:extLst>
              <a:ext uri="{FF2B5EF4-FFF2-40B4-BE49-F238E27FC236}">
                <a16:creationId xmlns:a16="http://schemas.microsoft.com/office/drawing/2014/main" id="{C5748FAD-AA63-45D3-8268-45F9E7C9391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19250" y="3198675"/>
            <a:ext cx="2878536" cy="1123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7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roduct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 Development">
            <a:extLst>
              <a:ext uri="{FF2B5EF4-FFF2-40B4-BE49-F238E27FC236}">
                <a16:creationId xmlns:a16="http://schemas.microsoft.com/office/drawing/2014/main" id="{5EA1CEF2-8D7D-4E56-B453-E3615F0A047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38200" y="566298"/>
            <a:ext cx="95250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6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row-rule">
            <a:extLst>
              <a:ext uri="{FF2B5EF4-FFF2-40B4-BE49-F238E27FC236}">
                <a16:creationId xmlns:a16="http://schemas.microsoft.com/office/drawing/2014/main" id="{BE8AC38E-50BC-4640-A55A-72D9B8D3E84D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53333"/>
              </a:srgbClr>
            </a:solidFill>
          </a:ln>
        </p:spPr>
      </p:sp>
      <p:sp>
        <p:nvSpPr>
          <p:cNvPr id="4" name="01">
            <a:extLst>
              <a:ext uri="{FF2B5EF4-FFF2-40B4-BE49-F238E27FC236}">
                <a16:creationId xmlns:a16="http://schemas.microsoft.com/office/drawing/2014/main" id="{65B9F89F-D41C-47F8-9D5E-E31066A8F6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495550"/>
            <a:ext cx="20955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60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Observe">
            <a:extLst>
              <a:ext uri="{FF2B5EF4-FFF2-40B4-BE49-F238E27FC236}">
                <a16:creationId xmlns:a16="http://schemas.microsoft.com/office/drawing/2014/main" id="{42E65D4E-C5CE-4485-BA95-764DD68AD3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8200" y="35814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285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6" name="Watch users complete the task">
            <a:extLst>
              <a:ext uri="{FF2B5EF4-FFF2-40B4-BE49-F238E27FC236}">
                <a16:creationId xmlns:a16="http://schemas.microsoft.com/office/drawing/2014/main" id="{D22F7E54-6B6B-44BC-928C-8A017BED7F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38200" y="4200525"/>
            <a:ext cx="24574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55E705B7-0BCB-48C0-BA65-7D397F3345E0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43300" y="2495550"/>
            <a:ext cx="20955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60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Prototype">
            <a:extLst>
              <a:ext uri="{FF2B5EF4-FFF2-40B4-BE49-F238E27FC236}">
                <a16:creationId xmlns:a16="http://schemas.microsoft.com/office/drawing/2014/main" id="{A258C90F-83D0-4E17-986F-3886A4611582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3543300" y="35814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285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9" name="Test a shorter path to completion">
            <a:extLst>
              <a:ext uri="{FF2B5EF4-FFF2-40B4-BE49-F238E27FC236}">
                <a16:creationId xmlns:a16="http://schemas.microsoft.com/office/drawing/2014/main" id="{9500EFED-933D-471C-ADF8-39043000832A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3543300" y="4200525"/>
            <a:ext cx="24574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F2DE8005-2BD5-4539-9583-3E878ECFB02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248400" y="2495550"/>
            <a:ext cx="20955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60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Pilot">
            <a:extLst>
              <a:ext uri="{FF2B5EF4-FFF2-40B4-BE49-F238E27FC236}">
                <a16:creationId xmlns:a16="http://schemas.microsoft.com/office/drawing/2014/main" id="{C2EA2C3C-21FD-4BD8-ADF8-3D7FC60E74B0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248400" y="35814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285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2" name="Release to a limited cohort of testers">
            <a:extLst>
              <a:ext uri="{FF2B5EF4-FFF2-40B4-BE49-F238E27FC236}">
                <a16:creationId xmlns:a16="http://schemas.microsoft.com/office/drawing/2014/main" id="{BBAB71B8-310A-491C-BAB9-2D2714EB273D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248400" y="4200525"/>
            <a:ext cx="24574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04">
            <a:extLst>
              <a:ext uri="{FF2B5EF4-FFF2-40B4-BE49-F238E27FC236}">
                <a16:creationId xmlns:a16="http://schemas.microsoft.com/office/drawing/2014/main" id="{EF2D9E61-86FC-4A10-86D7-CD2F589B0CB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953500" y="2495550"/>
            <a:ext cx="20955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60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Decide">
            <a:extLst>
              <a:ext uri="{FF2B5EF4-FFF2-40B4-BE49-F238E27FC236}">
                <a16:creationId xmlns:a16="http://schemas.microsoft.com/office/drawing/2014/main" id="{470B8EBB-22C8-442A-946C-1872F4FC49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953500" y="35814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285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5" name="Expand, revise or stop development">
            <a:extLst>
              <a:ext uri="{FF2B5EF4-FFF2-40B4-BE49-F238E27FC236}">
                <a16:creationId xmlns:a16="http://schemas.microsoft.com/office/drawing/2014/main" id="{6D464055-6A33-4A5A-82B8-E86605A7FCF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953500" y="4200525"/>
            <a:ext cx="24574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Regional Grow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wth Targets">
            <a:extLst>
              <a:ext uri="{FF2B5EF4-FFF2-40B4-BE49-F238E27FC236}">
                <a16:creationId xmlns:a16="http://schemas.microsoft.com/office/drawing/2014/main" id="{3D5E592E-E428-4521-AFEF-4DB208703D9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40747" y="609600"/>
            <a:ext cx="105156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57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Chart 2"/>
          <p:cNvSpPr>
            <a:spLocks noGrp="1"/>
          </p:cNvSpPr>
          <p:nvPr>
            <p:ph type="chart" idx="1"/>
          </p:nvPr>
        </p:nvSpPr>
        <p:spPr>
          <a:xfrm>
            <a:off x="735162" y="2264871"/>
            <a:ext cx="6991350" cy="3714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ow-rule">
            <a:extLst>
              <a:ext uri="{FF2B5EF4-FFF2-40B4-BE49-F238E27FC236}">
                <a16:creationId xmlns:a16="http://schemas.microsoft.com/office/drawing/2014/main" id="{728209F7-C51E-4019-AA85-861BDBBEBC4B}"/>
              </a:ext>
            </a:extLst>
          </p:cNvPr>
          <p:cNvSpPr>
            <a:spLocks noGrp="1"/>
          </p:cNvSpPr>
          <p:nvPr/>
        </p:nvSpPr>
        <p:spPr>
          <a:xfrm>
            <a:off x="840747" y="2016699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53333"/>
              </a:srgbClr>
            </a:solidFill>
          </a:ln>
        </p:spPr>
      </p:sp>
    </p:spTree>
  </p:cSld>
  <p:clrMapOvr>
    <a:masterClrMapping/>
  </p:clrMapOvr>
</p:sldLayout>
</file>

<file path=ppt/slideMasters/_rels/templateMaster.xml.rels><?xml version='1.0' encoding='UTF-8' standalone='yes'?>
<Relationships xmlns="http://schemas.openxmlformats.org/package/2006/relationships"><Relationship Type="http://schemas.openxmlformats.org/officeDocument/2006/relationships/image" Target="../media/image.png" Id="R5b256bc7f3884754"/><Relationship Id="rTemplateTheme" Type="http://schemas.openxmlformats.org/officeDocument/2006/relationships/theme" Target="../theme/templateTheme.xml"/><Relationship Id="rTemplateLayout1" Type="http://schemas.openxmlformats.org/officeDocument/2006/relationships/slideLayout" Target="../slideLayouts/templateLayout1.xml"/><Relationship Id="rTemplateLayout2" Type="http://schemas.openxmlformats.org/officeDocument/2006/relationships/slideLayout" Target="../slideLayouts/templateLayout2.xml"/><Relationship Id="rTemplateLayout3" Type="http://schemas.openxmlformats.org/officeDocument/2006/relationships/slideLayout" Target="../slideLayouts/templateLayout3.xml"/><Relationship Id="rTemplateLayout4" Type="http://schemas.openxmlformats.org/officeDocument/2006/relationships/slideLayout" Target="../slideLayouts/templateLayout4.xml"/><Relationship Id="rTemplateLayout5" Type="http://schemas.openxmlformats.org/officeDocument/2006/relationships/slideLayout" Target="../slideLayouts/templateLayout5.xml"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Product Strategy Master">
    <p:bg>
      <p:bgPr>
        <a:solidFill>
          <a:srgbClr val="0E3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42DC4921-4731-4FA3-A717-04CA251E5127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944110" y="1956501"/>
            <a:ext cx="2303780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  <a:lvl1pPr algn="ctr" marL="0" indent="0">
              <a:lnSpc>
                <a:spcPct val="100000"/>
              </a:lnSpc>
              <a:buNone/>
              <a:defRPr sz="7500" b="1" i="0" u="none">
                <a:solidFill>
                  <a:srgbClr val="02C1E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2027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BBAB71B8-310A-491C-BAB9-2D2714EB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8400" y="4200525"/>
            <a:ext cx="24574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12000"/>
              </a:lnSpc>
              <a:buNone/>
              <a:defRPr sz="18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</p:sldLayoutIdLst>
  <p:hf hdr="0" ftr="0" dt="0" sldNum="0"/>
  <p:txStyles>
    <p:titleStyle>
      <a:lvl1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7500" b="1" i="0" u="none">
          <a:solidFill>
            <a:srgbClr val="02C1EF">
              <a:alpha val="100000"/>
            </a:srgbClr>
          </a:solidFill>
          <a:latin typeface="Helvetica Neue"/>
          <a:ea typeface="Helvetica Neue"/>
          <a:cs typeface="Helvetica Neue"/>
        </a:defRPr>
      </a:lvl9pPr>
    </p:titleStyle>
    <p:bodyStyle>
      <a:lvl1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9pPr>
    </p:bodyStyle>
    <p:otherStyle>
      <a:lvl1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1800" b="0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image" Target="../media/image.png" Id="R5b256bc7f3884754"/><Relationship Type="http://schemas.openxmlformats.org/officeDocument/2006/relationships/notesSlide" Target="../notesSlides/notesSlide1.xml" Id="R79b6914fac3d4f30"/><Relationship Id="rTemplateLayout" Type="http://schemas.openxmlformats.org/officeDocument/2006/relationships/slideLayout" Target="../slideLayouts/templateLayout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2.xml" Id="Ra161009bc7b04675"/><Relationship Id="rTemplateLayout" Type="http://schemas.openxmlformats.org/officeDocument/2006/relationships/slideLayout" Target="../slideLayouts/templateLayout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3.xml" Id="Rb0a80fd13a724865"/><Relationship Id="rTemplateLayout" Type="http://schemas.openxmlformats.org/officeDocument/2006/relationships/slideLayout" Target="../slideLayouts/templateLayout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4.xml" Id="Rfcd6d4856a5847ca"/><Relationship Id="rTemplateLayout" Type="http://schemas.openxmlformats.org/officeDocument/2006/relationships/slideLayout" Target="../slideLayouts/templateLayout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chart" Target="charts/chart1.xml" Id="R1797c5c6b2494e00"/><Relationship Type="http://schemas.openxmlformats.org/officeDocument/2006/relationships/notesSlide" Target="../notesSlides/notesSlide5.xml" Id="R600295427dd64a04"/><Relationship Id="rTemplateLayout" Type="http://schemas.openxmlformats.org/officeDocument/2006/relationships/slideLayout" Target="../slideLayouts/templateLayout5.xm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Target increase</c:v>
          </c:tx>
          <c:spPr>
            <a:solidFill xmlns:a="http://schemas.openxmlformats.org/drawingml/2006/main">
              <a:srgbClr val="02C1EF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+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1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E3C8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E3C8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2027">
            <a:extLst xmlns:a="http://schemas.openxmlformats.org/drawingml/2006/main">
              <a:ext uri="{FF2B5EF4-FFF2-40B4-BE49-F238E27FC236}">
                <a16:creationId xmlns:a16="http://schemas.microsoft.com/office/drawing/2014/main" id="{42DC4921-4731-4FA3-A717-04CA251E5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44110" y="1956501"/>
            <a:ext cx="23037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2027</a:t>
            </a:r>
          </a:p>
        </p:txBody>
      </p:sp>
      <p:sp>
        <p:nvSpPr>
          <p:cNvPr id="4" name="Product">
            <a:extLst xmlns:a="http://schemas.openxmlformats.org/drawingml/2006/main">
              <a:ext uri="{FF2B5EF4-FFF2-40B4-BE49-F238E27FC236}">
                <a16:creationId xmlns:a16="http://schemas.microsoft.com/office/drawing/2014/main" id="{F27CA01D-B935-45EB-97BD-5FC9072F0F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04335" y="2911845"/>
            <a:ext cx="378333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5" name="Strategy">
            <a:extLst xmlns:a="http://schemas.openxmlformats.org/drawingml/2006/main">
              <a:ext uri="{FF2B5EF4-FFF2-40B4-BE49-F238E27FC236}">
                <a16:creationId xmlns:a16="http://schemas.microsoft.com/office/drawing/2014/main" id="{9C0ADE3E-2A7B-4C13-A525-0675E4D38B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91622" y="3889848"/>
            <a:ext cx="4008755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970349818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1F10859-A946-44BA-9DD5-634278A0A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5795" y="1524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Focus Areas">
            <a:extLst xmlns:a="http://schemas.openxmlformats.org/drawingml/2006/main">
              <a:ext uri="{FF2B5EF4-FFF2-40B4-BE49-F238E27FC236}">
                <a16:creationId xmlns:a16="http://schemas.microsoft.com/office/drawing/2014/main" id="{D278B89A-BAE1-4BE7-9CCC-FA9D3F74AC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55045" y="16478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Focus Areas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5BF536FB-5A6B-4F40-9059-10B6744520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5795" y="28003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Product Development">
            <a:extLst xmlns:a="http://schemas.openxmlformats.org/drawingml/2006/main">
              <a:ext uri="{FF2B5EF4-FFF2-40B4-BE49-F238E27FC236}">
                <a16:creationId xmlns:a16="http://schemas.microsoft.com/office/drawing/2014/main" id="{279ED0DA-5626-455C-9BF1-9796BDFEE4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449541" y="2928334"/>
            <a:ext cx="8283506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Development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9F8D09A6-399C-43F7-8836-4D85AB8A36C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35795" y="423862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Growth Targets">
            <a:extLst xmlns:a="http://schemas.openxmlformats.org/drawingml/2006/main">
              <a:ext uri="{FF2B5EF4-FFF2-40B4-BE49-F238E27FC236}">
                <a16:creationId xmlns:a16="http://schemas.microsoft.com/office/drawing/2014/main" id="{ECA150AE-8734-46F8-BB24-7473E23D1E8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455045" y="4370579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Growth Targets</a:t>
            </a:r>
          </a:p>
        </p:txBody>
      </p:sp>
    </p:spTree>
    <p:extLst>
      <p:ext uri="{BB962C8B-B14F-4D97-AF65-F5344CB8AC3E}">
        <p14:creationId xmlns:p14="http://schemas.microsoft.com/office/powerpoint/2010/main" val="970349818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Table 2">
            <a:extLst xmlns:a="http://schemas.openxmlformats.org/drawingml/2006/main">
              <a:ext uri="{FF2B5EF4-FFF2-40B4-BE49-F238E27FC236}">
                <a16:creationId xmlns:a16="http://schemas.microsoft.com/office/drawing/2014/main" id="{17B0343E-D358-4D83-9DBE-4526DC7D0442}"/>
              </a:ext>
            </a:extLst>
          </p:cNvPr>
          <p:cNvGraphicFramePr/>
          <p:nvPr>
            <p:ph type="tbl" idx="1"/>
          </p:nvPr>
        </p:nvGraphicFramePr>
        <p:xfrm>
          <a:off xmlns:a="http://schemas.openxmlformats.org/drawingml/2006/main" x="5772150" y="828675"/>
          <a:ext xmlns:a="http://schemas.openxmlformats.org/drawingml/2006/main" cx="5772150" cy="4953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143000"/>
                <a:gridCol w="2381250"/>
                <a:gridCol w="2247900"/>
              </a:tblGrid>
              <a:tr h="990600"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Quarter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DRI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2C1EF">
                              <a:alpha val="100000"/>
                            </a:srgb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Performance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Abigail Thomas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2C1EF">
                              <a:alpha val="100000"/>
                            </a:srgb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workflows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Jesse Aarons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2C1EF">
                              <a:alpha val="100000"/>
                            </a:srgb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Maya Patel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2C1EF">
                              <a:alpha val="100000"/>
                            </a:srgb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Secondary workflows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  <a:tc>
                  <a:txBody>
                    <a:bodyPr lIns="0" tIns="95250" rIns="1524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Henry Caldwell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0E3C8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row-rule">
            <a:extLst xmlns:a="http://schemas.openxmlformats.org/drawingml/2006/main">
              <a:ext uri="{FF2B5EF4-FFF2-40B4-BE49-F238E27FC236}">
                <a16:creationId xmlns:a16="http://schemas.microsoft.com/office/drawing/2014/main" id="{79739FB3-F1E4-4905-BCAA-CCF3416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90700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4" name="row-rule">
            <a:extLst xmlns:a="http://schemas.openxmlformats.org/drawingml/2006/main">
              <a:ext uri="{FF2B5EF4-FFF2-40B4-BE49-F238E27FC236}">
                <a16:creationId xmlns:a16="http://schemas.microsoft.com/office/drawing/2014/main" id="{BA79ABC5-3FA1-47F5-9C0F-9AB6444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5" name="row-rule">
            <a:extLst xmlns:a="http://schemas.openxmlformats.org/drawingml/2006/main">
              <a:ext uri="{FF2B5EF4-FFF2-40B4-BE49-F238E27FC236}">
                <a16:creationId xmlns:a16="http://schemas.microsoft.com/office/drawing/2014/main" id="{30C157D7-8FA9-469D-B38E-F4295B26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71900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6" name="row-rule">
            <a:extLst xmlns:a="http://schemas.openxmlformats.org/drawingml/2006/main">
              <a:ext uri="{FF2B5EF4-FFF2-40B4-BE49-F238E27FC236}">
                <a16:creationId xmlns:a16="http://schemas.microsoft.com/office/drawing/2014/main" id="{B8E8500D-AB15-4629-95AC-82F3087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7" name="row-rule">
            <a:extLst xmlns:a="http://schemas.openxmlformats.org/drawingml/2006/main">
              <a:ext uri="{FF2B5EF4-FFF2-40B4-BE49-F238E27FC236}">
                <a16:creationId xmlns:a16="http://schemas.microsoft.com/office/drawing/2014/main" id="{E8FFA46F-3FBD-4625-8276-8B7A5DF4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753100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8" name="Focus">
            <a:extLst xmlns:a="http://schemas.openxmlformats.org/drawingml/2006/main">
              <a:ext uri="{FF2B5EF4-FFF2-40B4-BE49-F238E27FC236}">
                <a16:creationId xmlns:a16="http://schemas.microsoft.com/office/drawing/2014/main" id="{7B5FD8F0-3D59-49AE-BCCE-A77AE2BD9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19250" y="2207199"/>
            <a:ext cx="2878536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9" name="Areas">
            <a:extLst xmlns:a="http://schemas.openxmlformats.org/drawingml/2006/main">
              <a:ext uri="{FF2B5EF4-FFF2-40B4-BE49-F238E27FC236}">
                <a16:creationId xmlns:a16="http://schemas.microsoft.com/office/drawing/2014/main" id="{C5748FAD-AA63-45D3-8268-45F9E7C939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19250" y="3198675"/>
            <a:ext cx="2878536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Areas</a:t>
            </a:r>
          </a:p>
        </p:txBody>
      </p:sp>
    </p:spTree>
    <p:extLst>
      <p:ext uri="{BB962C8B-B14F-4D97-AF65-F5344CB8AC3E}">
        <p14:creationId xmlns:p14="http://schemas.microsoft.com/office/powerpoint/2010/main" val="970349818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roduct Development">
            <a:extLst xmlns:a="http://schemas.openxmlformats.org/drawingml/2006/main">
              <a:ext uri="{FF2B5EF4-FFF2-40B4-BE49-F238E27FC236}">
                <a16:creationId xmlns:a16="http://schemas.microsoft.com/office/drawing/2014/main" id="{5EA1CEF2-8D7D-4E56-B453-E3615F0A0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66298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Development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65B9F89F-D41C-47F8-9D5E-E31066A8F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4955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Observe">
            <a:extLst xmlns:a="http://schemas.openxmlformats.org/drawingml/2006/main">
              <a:ext uri="{FF2B5EF4-FFF2-40B4-BE49-F238E27FC236}">
                <a16:creationId xmlns:a16="http://schemas.microsoft.com/office/drawing/2014/main" id="{42E65D4E-C5CE-4485-BA95-764DD68AD3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8200" y="3581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6" name="Watch users complete the task">
            <a:extLst xmlns:a="http://schemas.openxmlformats.org/drawingml/2006/main">
              <a:ext uri="{FF2B5EF4-FFF2-40B4-BE49-F238E27FC236}">
                <a16:creationId xmlns:a16="http://schemas.microsoft.com/office/drawing/2014/main" id="{D22F7E54-6B6B-44BC-928C-8A017BED7F9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38200" y="42005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Watch users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 the task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5E705B7-0BCB-48C0-BA65-7D397F3345E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543300" y="24955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Prototype">
            <a:extLst xmlns:a="http://schemas.openxmlformats.org/drawingml/2006/main">
              <a:ext uri="{FF2B5EF4-FFF2-40B4-BE49-F238E27FC236}">
                <a16:creationId xmlns:a16="http://schemas.microsoft.com/office/drawing/2014/main" id="{A258C90F-83D0-4E17-986F-3886A461158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543300" y="3581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Prototype</a:t>
            </a:r>
          </a:p>
        </p:txBody>
      </p:sp>
      <p:sp>
        <p:nvSpPr>
          <p:cNvPr id="9" name="Test a shorter path to completion">
            <a:extLst xmlns:a="http://schemas.openxmlformats.org/drawingml/2006/main">
              <a:ext uri="{FF2B5EF4-FFF2-40B4-BE49-F238E27FC236}">
                <a16:creationId xmlns:a16="http://schemas.microsoft.com/office/drawing/2014/main" id="{9500EFED-933D-471C-ADF8-39043000832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43300" y="42005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a shorter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path to completion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F2DE8005-2BD5-4539-9583-3E878ECFB02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48400" y="24955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Pilot">
            <a:extLst xmlns:a="http://schemas.openxmlformats.org/drawingml/2006/main">
              <a:ext uri="{FF2B5EF4-FFF2-40B4-BE49-F238E27FC236}">
                <a16:creationId xmlns:a16="http://schemas.microsoft.com/office/drawing/2014/main" id="{C2EA2C3C-21FD-4BD8-ADF8-3D7FC60E74B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248400" y="3581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2" name="Release to a limited cohort of testers">
            <a:extLst xmlns:a="http://schemas.openxmlformats.org/drawingml/2006/main">
              <a:ext uri="{FF2B5EF4-FFF2-40B4-BE49-F238E27FC236}">
                <a16:creationId xmlns:a16="http://schemas.microsoft.com/office/drawing/2014/main" id="{BBAB71B8-310A-491C-BAB9-2D2714EB273D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48400" y="42005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Release to a limited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cohort of testers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EF2D9E61-86FC-4A10-86D7-CD2F589B0CB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953500" y="24955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2C1E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Decide">
            <a:extLst xmlns:a="http://schemas.openxmlformats.org/drawingml/2006/main">
              <a:ext uri="{FF2B5EF4-FFF2-40B4-BE49-F238E27FC236}">
                <a16:creationId xmlns:a16="http://schemas.microsoft.com/office/drawing/2014/main" id="{470B8EBB-22C8-442A-946C-1872F4FC4956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8953500" y="3581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15" name="Expand, revise or stop development">
            <a:extLst xmlns:a="http://schemas.openxmlformats.org/drawingml/2006/main">
              <a:ext uri="{FF2B5EF4-FFF2-40B4-BE49-F238E27FC236}">
                <a16:creationId xmlns:a16="http://schemas.microsoft.com/office/drawing/2014/main" id="{6D464055-6A33-4A5A-82B8-E86605A7FCF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953500" y="42005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Expand, revise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 stop development</a:t>
            </a:r>
          </a:p>
        </p:txBody>
      </p:sp>
    </p:spTree>
    <p:extLst>
      <p:ext uri="{BB962C8B-B14F-4D97-AF65-F5344CB8AC3E}">
        <p14:creationId xmlns:p14="http://schemas.microsoft.com/office/powerpoint/2010/main" val="970349818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Growth Targets">
            <a:extLst xmlns:a="http://schemas.openxmlformats.org/drawingml/2006/main">
              <a:ext uri="{FF2B5EF4-FFF2-40B4-BE49-F238E27FC236}">
                <a16:creationId xmlns:a16="http://schemas.microsoft.com/office/drawing/2014/main" id="{3D5E592E-E428-4521-AFEF-4DB208703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747" y="6096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Growth Targets</a:t>
            </a:r>
          </a:p>
        </p:txBody>
      </p:sp>
      <p:graphicFrame>
        <p:nvGraphicFramePr>
          <p:cNvPr id="3" name="Chart 2">
            <a:extLst xmlns:a="http://schemas.openxmlformats.org/drawingml/2006/main">
              <a:ext uri="{FF2B5EF4-FFF2-40B4-BE49-F238E27FC236}">
                <a16:creationId xmlns:a16="http://schemas.microsoft.com/office/drawing/2014/main" id="{F673864D-FEE4-4BE6-8B20-A5281002667C}"/>
              </a:ext>
            </a:extLst>
          </p:cNvPr>
          <p:cNvGraphicFramePr/>
          <p:nvPr>
            <p:ph type="chart" idx="1"/>
          </p:nvPr>
        </p:nvGraphicFramePr>
        <p:xfrm>
          <a:off xmlns:a="http://schemas.openxmlformats.org/drawingml/2006/main" x="735162" y="2264871"/>
          <a:ext xmlns:a="http://schemas.openxmlformats.org/drawingml/2006/main" cx="69913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97c5c6b2494e00"/>
          </a:graphicData>
        </a:graphic>
      </p:graphicFrame>
    </p:spTree>
    <p:extLst>
      <p:ext uri="{BB962C8B-B14F-4D97-AF65-F5344CB8AC3E}">
        <p14:creationId xmlns:p14="http://schemas.microsoft.com/office/powerpoint/2010/main" val="970349818"/>
      </p:ext>
    </p:extLst>
  </p:cSld>
</p:sld>
</file>

<file path=ppt/theme/templateTheme.xml><?xml version="1.0" encoding="utf-8"?>
<a:theme xmlns:a="http://schemas.openxmlformats.org/drawingml/2006/main" name="Product Strategy">
  <a:themeElements>
    <a:clrScheme name="Product Strategy">
      <a:dk1>
        <a:srgbClr val="000000"/>
      </a:dk1>
      <a:lt1>
        <a:srgbClr val="FFFFFF"/>
      </a:lt1>
      <a:dk2>
        <a:srgbClr val="0E3C8C"/>
      </a:dk2>
      <a:lt2>
        <a:srgbClr val="FFFFFF"/>
      </a:lt2>
      <a:accent1>
        <a:srgbClr val="02C1EF"/>
      </a:accent1>
      <a:accent2>
        <a:srgbClr val="0E3C8C"/>
      </a:accent2>
      <a:accent3>
        <a:srgbClr val="FFFFFF"/>
      </a:accent3>
      <a:accent4>
        <a:srgbClr val="000000"/>
      </a:accent4>
      <a:accent5>
        <a:srgbClr val="02C1EF"/>
      </a:accent5>
      <a:accent6>
        <a:srgbClr val="0E3C8C"/>
      </a:accent6>
      <a:hlink>
        <a:srgbClr val="02C1EF"/>
      </a:hlink>
      <a:folHlink>
        <a:srgbClr val="02C1EF"/>
      </a:folHlink>
    </a:clrScheme>
    <a:fontScheme name="Product Strategy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