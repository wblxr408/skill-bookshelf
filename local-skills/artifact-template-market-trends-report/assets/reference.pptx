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1-optimized.jpg" ContentType="image/jpeg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8"/>
  </p:notesMasterIdLst>
  <p:sldIdLst>
    <p:sldId id="394" r:id="rId2"/>
    <p:sldId id="378" r:id="rId3"/>
    <p:sldId id="314" r:id="rId4"/>
    <p:sldId id="350" r:id="rId5"/>
    <p:sldId id="376" r:id="rId6"/>
    <p:sldId id="324" r:id="rId7"/>
  </p:sldIdLst>
  <p:sldSz cx="12192000" cy="6858000"/>
  <p:notesSz cx="6858000" cy="9144000"/>
  <p:embeddedFontLst>
    <p:embeddedFont>
      <p:font typeface="Lora" pitchFamily="2" charset="77"/>
      <p:regular r:id="rId9"/>
      <p:bold r:id="rId10"/>
      <p:italic r:id="rId11"/>
      <p:boldItalic r:id="rId12"/>
    </p:embeddedFont>
    <p:embeddedFont>
      <p:font typeface="OpenAI Sans" panose="020B0004030202060203" pitchFamily="34" charset="77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09"/>
    <a:srgbClr val="FF4305"/>
    <a:srgbClr val="FF4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9"/>
    <p:restoredTop sz="94658"/>
  </p:normalViewPr>
  <p:slideViewPr>
    <p:cSldViewPr snapToGrid="0">
      <p:cViewPr>
        <p:scale>
          <a:sx n="111" d="100"/>
          <a:sy n="111" d="100"/>
        </p:scale>
        <p:origin x="816" y="296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14D2-2802-9381-3FF9-B1BDC227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838E4-A3D7-443C-4771-74618E3C9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27993-9BBE-6B01-9733-AB1FA903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A6BD-8166-9F1E-E1F9-3EC85E4DC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13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CFF8FD1-F32C-FBBD-584A-C36FE0DF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2432F26-92DC-62C8-ED09-AB1B1F5F5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E256758-F923-3503-0236-6FA20A85D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70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A2160B53-C94F-F324-57D4-92A3DDB7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A8C3294-CEB6-98B4-66A8-33CF6430B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211CB72-9E4F-9726-D62D-FFD7A145B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309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C14113F-029B-FB33-F177-B2B418A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CF3E01E-64AE-4922-C4A9-4D2F8BFA6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D457944-AF00-713C-09E0-2B2ECB0FC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170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'1.0' encoding='utf-8'?>
<Relationships xmlns="http://schemas.openxmlformats.org/package/2006/relationships"><Relationship Id="rId3" Type="http://schemas.openxmlformats.org/officeDocument/2006/relationships/image" Target="../media/image1-optimized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F939-D34A-71EB-689B-60A3AE9D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079" y="2031642"/>
            <a:ext cx="11063842" cy="2491490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>
                <a:latin typeface="Lora" pitchFamily="2" charset="77"/>
              </a:rPr>
              <a:t>Market Industry</a:t>
            </a:r>
            <a:br>
              <a:rPr lang="en-US" sz="7200" dirty="0">
                <a:latin typeface="Lora" pitchFamily="2" charset="77"/>
              </a:rPr>
            </a:br>
            <a:r>
              <a:rPr lang="en-US" sz="7200" dirty="0">
                <a:latin typeface="Lora" pitchFamily="2" charset="77"/>
              </a:rPr>
              <a:t>Trends Report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8999" y="5045149"/>
            <a:ext cx="7394002" cy="794439"/>
          </a:xfrm>
        </p:spPr>
        <p:txBody>
          <a:bodyPr>
            <a:norm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Signals, shifts, and strategic implications for 2025 to 2026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 txBox="1">
            <a:spLocks/>
          </p:cNvSpPr>
          <p:nvPr/>
        </p:nvSpPr>
        <p:spPr>
          <a:xfrm>
            <a:off x="3244850" y="1352742"/>
            <a:ext cx="5702300" cy="3617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FF470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 Report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55627D7-4531-FF60-E9C2-2F11A639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schemeClr val="bg1">
                    <a:lumMod val="65000"/>
                    <a:lumOff val="35000"/>
                  </a:schemeClr>
                </a:solidFill>
                <a:sym typeface="OpenAI Sans"/>
              </a:rPr>
              <a:pPr/>
              <a:t>2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0202" y="1553822"/>
            <a:ext cx="9031596" cy="1262107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lang="en-US" sz="3600" dirty="0"/>
              <a:t>The market is entering a </a:t>
            </a:r>
            <a:br>
              <a:rPr lang="en-US" sz="3600" dirty="0"/>
            </a:br>
            <a:r>
              <a:rPr lang="en-US" sz="3600" dirty="0">
                <a:solidFill>
                  <a:srgbClr val="FF4204"/>
                </a:solidFill>
              </a:rPr>
              <a:t>new phase of change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147257" y="3329711"/>
            <a:ext cx="7897486" cy="2616365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[market/category] is moving from [previous state] toward</a:t>
            </a:r>
            <a:b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[emerging state]. What was once driven primarily by [legacy factor] is increasingly shaped by [driver one], [driver two], and [driver three].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This transition is creating new opportunities—but it is also raising expectations for speed, differentiation, and execution.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 txBox="1">
            <a:spLocks/>
          </p:cNvSpPr>
          <p:nvPr/>
        </p:nvSpPr>
        <p:spPr>
          <a:xfrm>
            <a:off x="3244850" y="1001877"/>
            <a:ext cx="5702300" cy="3617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Thesis Statement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0E7F48D-6160-4C7B-F1E4-6DA13560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bg1">
                    <a:lumMod val="65000"/>
                    <a:lumOff val="35000"/>
                  </a:schemeClr>
                </a:solidFill>
                <a:sym typeface="OpenAI Sans"/>
              </a:rPr>
              <a:pPr/>
              <a:t>3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531203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Four signals define the market today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Momentum is building across the market, but progress remains uneven. Organizations are increasing investment, customers are reconsidering established choices, and new competitors are changing the basis of advantage.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 txBox="1">
            <a:spLocks/>
          </p:cNvSpPr>
          <p:nvPr/>
        </p:nvSpPr>
        <p:spPr>
          <a:xfrm>
            <a:off x="460256" y="3933441"/>
            <a:ext cx="2653334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500" u="none" strike="noStrike" kern="1200" cap="none" spc="0" normalizeH="0" baseline="0" noProof="0" dirty="0">
                <a:ln>
                  <a:noFill/>
                </a:ln>
                <a:solidFill>
                  <a:srgbClr val="FF4305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XY%</a:t>
            </a:r>
            <a:endParaRPr lang="en-US" sz="5500"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 txBox="1">
            <a:spLocks/>
          </p:cNvSpPr>
          <p:nvPr/>
        </p:nvSpPr>
        <p:spPr>
          <a:xfrm>
            <a:off x="460256" y="4975635"/>
            <a:ext cx="2653334" cy="903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expect [trend] to accelerate during the next [time period].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 txBox="1">
            <a:spLocks/>
          </p:cNvSpPr>
          <p:nvPr/>
        </p:nvSpPr>
        <p:spPr>
          <a:xfrm>
            <a:off x="4106280" y="3933441"/>
            <a:ext cx="2653334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500" u="none" strike="noStrike" kern="1200" cap="none" spc="0" normalizeH="0" baseline="0" noProof="0" dirty="0">
                <a:ln>
                  <a:noFill/>
                </a:ln>
                <a:solidFill>
                  <a:srgbClr val="FF4305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XY%</a:t>
            </a:r>
            <a:endParaRPr lang="en-US" sz="5500"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 txBox="1">
            <a:spLocks/>
          </p:cNvSpPr>
          <p:nvPr/>
        </p:nvSpPr>
        <p:spPr>
          <a:xfrm>
            <a:off x="4106280" y="4975635"/>
            <a:ext cx="2653334" cy="903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have increased investment </a:t>
            </a:r>
            <a:b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in [capability or category].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 txBox="1">
            <a:spLocks/>
          </p:cNvSpPr>
          <p:nvPr/>
        </p:nvSpPr>
        <p:spPr>
          <a:xfrm>
            <a:off x="7752304" y="3933441"/>
            <a:ext cx="2653334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500" u="none" strike="noStrike" kern="1200" cap="none" spc="0" normalizeH="0" baseline="0" noProof="0" dirty="0">
                <a:ln>
                  <a:noFill/>
                </a:ln>
                <a:solidFill>
                  <a:srgbClr val="FF4305"/>
                </a:solidFill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XY%</a:t>
            </a:r>
            <a:endParaRPr lang="en-US" sz="5500"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 txBox="1">
            <a:spLocks/>
          </p:cNvSpPr>
          <p:nvPr/>
        </p:nvSpPr>
        <p:spPr>
          <a:xfrm>
            <a:off x="7752304" y="4975635"/>
            <a:ext cx="2653334" cy="903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identify [barrier] as the main constraint on progress.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B0323E1-B478-9FE3-B5ED-6819FF0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bg1">
                    <a:lumMod val="65000"/>
                    <a:lumOff val="35000"/>
                  </a:schemeClr>
                </a:solidFill>
                <a:sym typeface="OpenAI Sans"/>
              </a:rPr>
              <a:pPr/>
              <a:t>4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5372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Half text, half image slide</a:t>
            </a:r>
          </a:p>
        </p:txBody>
      </p:sp>
      <p:pic>
        <p:nvPicPr>
          <p:cNvPr id="4" name="Picture 3" descr="Replace with image.">
            <a:extLst>
              <a:ext uri="{FF2B5EF4-FFF2-40B4-BE49-F238E27FC236}">
                <a16:creationId xmlns:a16="http://schemas.microsoft.com/office/drawing/2014/main" id="{151807BD-12E8-1C71-568D-447C013D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b="23013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 txBox="1">
            <a:spLocks/>
          </p:cNvSpPr>
          <p:nvPr/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amet, </a:t>
            </a:r>
            <a:br>
              <a:rPr lang="en-US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 adipiscing elit </a:t>
            </a:r>
            <a:endParaRPr lang="en-US"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 txBox="1"/>
          <p:nvPr/>
        </p:nvSpPr>
        <p:spPr>
          <a:xfrm>
            <a:off x="393700" y="2918564"/>
            <a:ext cx="5537200" cy="2923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fontAlgn="auto">
              <a:lnSpc>
                <a:spcPct val="114000"/>
              </a:lnSpc>
              <a:spcAft>
                <a:spcPts val="800"/>
              </a:spcAft>
              <a:buClrTx/>
              <a:buSzTx/>
              <a:tabLst/>
              <a:defRPr/>
            </a:pP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R="0" lvl="0" fontAlgn="auto">
              <a:lnSpc>
                <a:spcPct val="114000"/>
              </a:lnSpc>
              <a:spcAft>
                <a:spcPts val="800"/>
              </a:spcAft>
              <a:buClrTx/>
              <a:buSzTx/>
              <a:tabLst/>
              <a:defRPr/>
            </a:pP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Nam non ante quis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bg1">
                    <a:lumMod val="65000"/>
                    <a:lumOff val="35000"/>
                  </a:schemeClr>
                </a:solidFill>
                <a:sym typeface="OpenAI Sans"/>
              </a:rPr>
              <a:pPr/>
              <a:t>5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checklist 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b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dirty="0" err="1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solidFill>
                  <a:srgbClr val="FF4305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endParaRPr dirty="0">
              <a:solidFill>
                <a:srgbClr val="FF4305"/>
              </a:solidFill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 txBox="1">
            <a:spLocks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/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3700" y="2918564"/>
            <a:ext cx="5537200" cy="2923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fontAlgn="auto">
              <a:lnSpc>
                <a:spcPct val="114000"/>
              </a:lnSpc>
              <a:spcAft>
                <a:spcPts val="800"/>
              </a:spcAft>
              <a:buClrTx/>
              <a:buSzTx/>
              <a:tabLst/>
              <a:defRPr/>
            </a:pP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R="0" lvl="0" fontAlgn="auto">
              <a:lnSpc>
                <a:spcPct val="114000"/>
              </a:lnSpc>
              <a:spcAft>
                <a:spcPts val="800"/>
              </a:spcAft>
              <a:buClrTx/>
              <a:buSzTx/>
              <a:tabLst/>
              <a:defRPr/>
            </a:pP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Nam non ante quis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 txBox="1">
            <a:spLocks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/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 txBox="1">
            <a:spLocks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/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 txBox="1">
            <a:spLocks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/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 txBox="1">
            <a:spLocks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/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bg1">
                    <a:lumMod val="65000"/>
                    <a:lumOff val="35000"/>
                  </a:schemeClr>
                </a:solidFill>
                <a:sym typeface="OpenAI Sans"/>
              </a:rPr>
              <a:pPr/>
              <a:t>6</a:t>
            </a:fld>
            <a:endParaRPr lang="en" dirty="0">
              <a:solidFill>
                <a:schemeClr val="bg1">
                  <a:lumMod val="65000"/>
                  <a:lumOff val="35000"/>
                </a:schemeClr>
              </a:solidFill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solidFill>
                  <a:srgbClr val="FF4709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  <a:endParaRPr sz="1800" dirty="0">
              <a:solidFill>
                <a:srgbClr val="FF4709"/>
              </a:solidFill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sz="18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dirty="0">
                <a:solidFill>
                  <a:srgbClr val="FF4709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dirty="0">
                <a:solidFill>
                  <a:srgbClr val="FF4709"/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solidFill>
                  <a:schemeClr val="bg1">
                    <a:lumMod val="65000"/>
                    <a:lumOff val="35000"/>
                  </a:schemeClr>
                </a:solidFill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endParaRPr lang="en-US" sz="1800" dirty="0">
              <a:solidFill>
                <a:schemeClr val="bg1">
                  <a:lumMod val="65000"/>
                  <a:lumOff val="35000"/>
                </a:schemeClr>
              </a:solidFill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1877</TotalTime>
  <Words>521</Words>
  <Application>Microsoft Macintosh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Lora</vt:lpstr>
      <vt:lpstr>OpenAI Sans</vt:lpstr>
      <vt:lpstr>Aptos</vt:lpstr>
      <vt:lpstr>Roboto</vt:lpstr>
      <vt:lpstr>Helvetica Neue</vt:lpstr>
      <vt:lpstr>Default Codex Theme</vt:lpstr>
      <vt:lpstr>Market Industry Trends Report</vt:lpstr>
      <vt:lpstr>The market is entering a  new phase of change</vt:lpstr>
      <vt:lpstr>Four signals define the market today</vt:lpstr>
      <vt:lpstr>Half text, half image slide</vt:lpstr>
      <vt:lpstr>One column layout with checklist </vt:lpstr>
      <vt:lpstr>Three column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>
  <dc:title/>
</ns0:coreProperties>
</file>