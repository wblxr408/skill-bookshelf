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Default Extension="jpg" ContentType="image/jpeg"/>
  <Override PartName="/ppt/media/image4-q90.jpg" ContentType="image/jpeg"/>
  <Override PartName="/ppt/media/image17-q90.jpg" ContentType="image/jpeg"/>
  <Override PartName="/ppt/media/image18-q90.jpg" ContentType="image/jpeg"/>
  <Override PartName="/ppt/media/image16-q90.jpg" ContentType="image/jpeg"/>
  <Override PartName="/ppt/media/image1-q90.jpg" ContentType="image/jpeg"/>
  <Override PartName="/ppt/media/image19-q90.jpg" ContentType="image/jpeg"/>
  <Override PartName="/ppt/media/image9-q90.jpg" ContentType="image/jpeg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Nunito SemiBold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Nunito Medium"/>
      <p:regular r:id="rId29"/>
      <p:bold r:id="rId30"/>
      <p:italic r:id="rId31"/>
      <p:boldItalic r:id="rId32"/>
    </p:embeddedFont>
    <p:embeddedFont>
      <p:font typeface="Nunito Black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jciHn1h9UekHFdpbKHfO2Sg5gS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unitoMedium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Medium-italic.fntdata"/><Relationship Id="rId30" Type="http://schemas.openxmlformats.org/officeDocument/2006/relationships/font" Target="fonts/NunitoMedium-bold.fntdata"/><Relationship Id="rId11" Type="http://schemas.openxmlformats.org/officeDocument/2006/relationships/slide" Target="slides/slide7.xml"/><Relationship Id="rId33" Type="http://schemas.openxmlformats.org/officeDocument/2006/relationships/font" Target="fonts/NunitoBlack-bold.fntdata"/><Relationship Id="rId10" Type="http://schemas.openxmlformats.org/officeDocument/2006/relationships/slide" Target="slides/slide6.xml"/><Relationship Id="rId32" Type="http://schemas.openxmlformats.org/officeDocument/2006/relationships/font" Target="fonts/NunitoMedium-boldItalic.fntdata"/><Relationship Id="rId13" Type="http://schemas.openxmlformats.org/officeDocument/2006/relationships/slide" Target="slides/slide9.xml"/><Relationship Id="rId35" Type="http://customschemas.google.com/relationships/presentationmetadata" Target="metadata"/><Relationship Id="rId12" Type="http://schemas.openxmlformats.org/officeDocument/2006/relationships/slide" Target="slides/slide8.xml"/><Relationship Id="rId34" Type="http://schemas.openxmlformats.org/officeDocument/2006/relationships/font" Target="fonts/NunitoBlack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SemiBold-regular.fntdata"/><Relationship Id="rId16" Type="http://schemas.openxmlformats.org/officeDocument/2006/relationships/slide" Target="slides/slide12.xml"/><Relationship Id="rId19" Type="http://schemas.openxmlformats.org/officeDocument/2006/relationships/font" Target="fonts/NunitoSemiBold-italic.fntdata"/><Relationship Id="rId18" Type="http://schemas.openxmlformats.org/officeDocument/2006/relationships/font" Target="fonts/Nunito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9-q90.jpg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Relationship Id="rId3" Type="http://schemas.openxmlformats.org/officeDocument/2006/relationships/image" Target="../media/image4-q90.jpg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Relationship Id="rId3" Type="http://schemas.openxmlformats.org/officeDocument/2006/relationships/image" Target="../media/image4-q90.jpg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Relationship Id="rId3" Type="http://schemas.openxmlformats.org/officeDocument/2006/relationships/image" Target="../media/image4-q90.jpg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Relationship Id="rId3" Type="http://schemas.openxmlformats.org/officeDocument/2006/relationships/image" Target="../media/image4-q90.jpg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Relationship Id="rId3" Type="http://schemas.openxmlformats.org/officeDocument/2006/relationships/image" Target="../media/image4-q90.jpg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1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_rels/slideLayout1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1-q90.jpg" /></Relationships>
</file>

<file path=ppt/slideLayouts/_rels/slideLayout1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_rels/slideLayout1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_rels/slideLayout1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Relationship Id="rId2" Type="http://schemas.openxmlformats.org/officeDocument/2006/relationships/image" Target="../media/image4-q90.jpg"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4"/>
          <p:cNvSpPr/>
          <p:nvPr/>
        </p:nvSpPr>
        <p:spPr>
          <a:xfrm>
            <a:off x="228600" y="228600"/>
            <a:ext cx="11734800" cy="6400800"/>
          </a:xfrm>
          <a:prstGeom prst="rect">
            <a:avLst/>
          </a:prstGeom>
          <a:noFill/>
          <a:ln cap="flat" cmpd="sng" w="9525">
            <a:solidFill>
              <a:srgbClr val="F4F0E5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4"/>
          <p:cNvSpPr txBox="1"/>
          <p:nvPr>
            <p:ph type="title"/>
          </p:nvPr>
        </p:nvSpPr>
        <p:spPr>
          <a:xfrm>
            <a:off x="476250" y="819150"/>
            <a:ext cx="885825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b="0" i="0" sz="66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600"/>
              <a:buFont typeface="Inter"/>
              <a:buNone/>
              <a:defRPr sz="6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" type="subTitle"/>
          </p:nvPr>
        </p:nvSpPr>
        <p:spPr>
          <a:xfrm>
            <a:off x="533400" y="1981200"/>
            <a:ext cx="7239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2" type="body"/>
          </p:nvPr>
        </p:nvSpPr>
        <p:spPr>
          <a:xfrm>
            <a:off x="533400" y="6124575"/>
            <a:ext cx="7810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4"/>
          <p:cNvSpPr txBox="1"/>
          <p:nvPr>
            <p:ph idx="3" type="body"/>
          </p:nvPr>
        </p:nvSpPr>
        <p:spPr>
          <a:xfrm>
            <a:off x="10096500" y="6124575"/>
            <a:ext cx="1619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– Split Background">
  <p:cSld name="2 Columns – Split Backgroun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5"/>
          <p:cNvPicPr preferRelativeResize="0"/>
          <p:nvPr/>
        </p:nvPicPr>
        <p:blipFill rotWithShape="1">
          <a:blip r:embed="rId3">
            <a:alphaModFix/>
          </a:blip>
          <a:srcRect b="0" l="24987" r="24987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 txBox="1"/>
          <p:nvPr>
            <p:ph type="title"/>
          </p:nvPr>
        </p:nvSpPr>
        <p:spPr>
          <a:xfrm>
            <a:off x="533400" y="704850"/>
            <a:ext cx="4953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" name="Google Shape;15;p15"/>
          <p:cNvSpPr txBox="1"/>
          <p:nvPr>
            <p:ph idx="1" type="body"/>
          </p:nvPr>
        </p:nvSpPr>
        <p:spPr>
          <a:xfrm>
            <a:off x="533400" y="2762250"/>
            <a:ext cx="47625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" name="Google Shape;16;p15"/>
          <p:cNvSpPr txBox="1"/>
          <p:nvPr>
            <p:ph idx="2" type="body"/>
          </p:nvPr>
        </p:nvSpPr>
        <p:spPr>
          <a:xfrm>
            <a:off x="6667500" y="1524000"/>
            <a:ext cx="4762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3150"/>
              <a:buFont typeface="Inter"/>
              <a:buNone/>
              <a:defRPr b="0" i="0" sz="31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" name="Google Shape;17;p15"/>
          <p:cNvSpPr txBox="1"/>
          <p:nvPr>
            <p:ph idx="3" type="body"/>
          </p:nvPr>
        </p:nvSpPr>
        <p:spPr>
          <a:xfrm>
            <a:off x="6667500" y="2762250"/>
            <a:ext cx="476250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533400" y="495300"/>
            <a:ext cx="152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" name="Google Shape;20;p16"/>
          <p:cNvSpPr txBox="1"/>
          <p:nvPr>
            <p:ph type="title"/>
          </p:nvPr>
        </p:nvSpPr>
        <p:spPr>
          <a:xfrm>
            <a:off x="533400" y="1943100"/>
            <a:ext cx="10953750" cy="1619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b="0" i="0" sz="58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5850"/>
              <a:buFont typeface="Inter"/>
              <a:buNone/>
              <a:defRPr sz="58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" name="Google Shape;21;p16"/>
          <p:cNvSpPr txBox="1"/>
          <p:nvPr>
            <p:ph idx="2" type="subTitle"/>
          </p:nvPr>
        </p:nvSpPr>
        <p:spPr>
          <a:xfrm>
            <a:off x="571500" y="3876675"/>
            <a:ext cx="7429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Text">
  <p:cSld name="Image +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/>
          <p:nvPr>
            <p:ph idx="2" type="pic"/>
          </p:nvPr>
        </p:nvSpPr>
        <p:spPr>
          <a:xfrm>
            <a:off x="0" y="0"/>
            <a:ext cx="54292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17"/>
          <p:cNvSpPr txBox="1"/>
          <p:nvPr>
            <p:ph type="title"/>
          </p:nvPr>
        </p:nvSpPr>
        <p:spPr>
          <a:xfrm>
            <a:off x="6143625" y="952500"/>
            <a:ext cx="5381625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b="0" i="0" sz="42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200"/>
              <a:buFont typeface="Inter"/>
              <a:buNone/>
              <a:defRPr sz="42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" name="Google Shape;25;p17"/>
          <p:cNvSpPr txBox="1"/>
          <p:nvPr>
            <p:ph idx="1" type="subTitle"/>
          </p:nvPr>
        </p:nvSpPr>
        <p:spPr>
          <a:xfrm>
            <a:off x="6191250" y="3048000"/>
            <a:ext cx="5429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3" type="body"/>
          </p:nvPr>
        </p:nvSpPr>
        <p:spPr>
          <a:xfrm>
            <a:off x="6191250" y="3971925"/>
            <a:ext cx="5238750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Caption">
  <p:cSld name="Image + Ca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>
            <p:ph idx="2" type="pic"/>
          </p:nvPr>
        </p:nvSpPr>
        <p:spPr>
          <a:xfrm>
            <a:off x="0" y="0"/>
            <a:ext cx="12192000" cy="5476875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8"/>
          <p:cNvSpPr txBox="1"/>
          <p:nvPr>
            <p:ph type="title"/>
          </p:nvPr>
        </p:nvSpPr>
        <p:spPr>
          <a:xfrm>
            <a:off x="533400" y="5819775"/>
            <a:ext cx="809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sz="30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9382125" y="6115050"/>
            <a:ext cx="2190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350"/>
              <a:buFont typeface="Inter"/>
              <a:buNone/>
              <a:defRPr b="0" i="0" sz="135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+ Text – Right">
  <p:cSld name="Image + Text – Right"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9"/>
          <p:cNvPicPr preferRelativeResize="0"/>
          <p:nvPr/>
        </p:nvPicPr>
        <p:blipFill rotWithShape="1">
          <a:blip r:embed="rId2">
            <a:alphaModFix/>
          </a:blip>
          <a:srcRect b="27" l="0" r="0" t="27"/>
          <a:stretch/>
        </p:blipFill>
        <p:spPr>
          <a:xfrm>
            <a:off x="-2218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9"/>
          <p:cNvSpPr txBox="1"/>
          <p:nvPr>
            <p:ph type="title"/>
          </p:nvPr>
        </p:nvSpPr>
        <p:spPr>
          <a:xfrm>
            <a:off x="533400" y="1143000"/>
            <a:ext cx="5381625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b="0" i="0" sz="40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4050"/>
              <a:buFont typeface="Inter"/>
              <a:buNone/>
              <a:defRPr sz="405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533400" y="3667125"/>
            <a:ext cx="5381625" cy="2143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" name="Google Shape;35;p19"/>
          <p:cNvSpPr/>
          <p:nvPr>
            <p:ph idx="2" type="pic"/>
          </p:nvPr>
        </p:nvSpPr>
        <p:spPr>
          <a:xfrm>
            <a:off x="6477000" y="0"/>
            <a:ext cx="5715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 – Paper Header">
  <p:cSld name="3 Columns – Paper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0"/>
          <p:cNvPicPr preferRelativeResize="0"/>
          <p:nvPr/>
        </p:nvPicPr>
        <p:blipFill rotWithShape="1">
          <a:blip r:embed="rId3">
            <a:alphaModFix/>
          </a:blip>
          <a:srcRect b="23972" l="0" r="0" t="23972"/>
          <a:stretch/>
        </p:blipFill>
        <p:spPr>
          <a:xfrm>
            <a:off x="0" y="0"/>
            <a:ext cx="12192000" cy="357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0"/>
          <p:cNvSpPr txBox="1"/>
          <p:nvPr>
            <p:ph type="title"/>
          </p:nvPr>
        </p:nvSpPr>
        <p:spPr>
          <a:xfrm>
            <a:off x="533400" y="1000125"/>
            <a:ext cx="1112520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b="0" i="0" sz="40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533400" y="4095750"/>
            <a:ext cx="3143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533400" y="4838700"/>
            <a:ext cx="3143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1" name="Google Shape;41;p20"/>
          <p:cNvSpPr txBox="1"/>
          <p:nvPr>
            <p:ph idx="3" type="body"/>
          </p:nvPr>
        </p:nvSpPr>
        <p:spPr>
          <a:xfrm>
            <a:off x="4419600" y="4095750"/>
            <a:ext cx="3143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2" name="Google Shape;42;p20"/>
          <p:cNvSpPr txBox="1"/>
          <p:nvPr>
            <p:ph idx="4" type="body"/>
          </p:nvPr>
        </p:nvSpPr>
        <p:spPr>
          <a:xfrm>
            <a:off x="4419600" y="4838700"/>
            <a:ext cx="3143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3" name="Google Shape;43;p20"/>
          <p:cNvSpPr txBox="1"/>
          <p:nvPr>
            <p:ph idx="5" type="body"/>
          </p:nvPr>
        </p:nvSpPr>
        <p:spPr>
          <a:xfrm>
            <a:off x="8305800" y="4095750"/>
            <a:ext cx="3143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325"/>
              <a:buFont typeface="Inter"/>
              <a:buNone/>
              <a:defRPr b="0" i="0" sz="23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4" name="Google Shape;44;p20"/>
          <p:cNvSpPr txBox="1"/>
          <p:nvPr>
            <p:ph idx="6" type="body"/>
          </p:nvPr>
        </p:nvSpPr>
        <p:spPr>
          <a:xfrm>
            <a:off x="8305800" y="4838700"/>
            <a:ext cx="3143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 – Paper Sidebar">
  <p:cSld name="1 Column – Paper Sideba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1"/>
          <p:cNvPicPr preferRelativeResize="0"/>
          <p:nvPr/>
        </p:nvPicPr>
        <p:blipFill rotWithShape="1">
          <a:blip r:embed="rId3">
            <a:alphaModFix/>
          </a:blip>
          <a:srcRect b="0" l="30068" r="30068" t="0"/>
          <a:stretch/>
        </p:blipFill>
        <p:spPr>
          <a:xfrm>
            <a:off x="0" y="0"/>
            <a:ext cx="48577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1"/>
          <p:cNvSpPr txBox="1"/>
          <p:nvPr>
            <p:ph type="title"/>
          </p:nvPr>
        </p:nvSpPr>
        <p:spPr>
          <a:xfrm>
            <a:off x="533400" y="3600450"/>
            <a:ext cx="39052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b="0" i="0" sz="36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600"/>
              <a:buFont typeface="Inter"/>
              <a:buNone/>
              <a:defRPr sz="36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5572125" y="723900"/>
            <a:ext cx="60007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225"/>
              <a:buFont typeface="Inter"/>
              <a:buNone/>
              <a:defRPr b="0" i="0" sz="32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" name="Google Shape;49;p21"/>
          <p:cNvSpPr txBox="1"/>
          <p:nvPr>
            <p:ph idx="2" type="body"/>
          </p:nvPr>
        </p:nvSpPr>
        <p:spPr>
          <a:xfrm>
            <a:off x="5572125" y="2714625"/>
            <a:ext cx="6000750" cy="3143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 – Paper Header">
  <p:cSld name="2 Columns – Paper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2"/>
          <p:cNvPicPr preferRelativeResize="0"/>
          <p:nvPr/>
        </p:nvPicPr>
        <p:blipFill rotWithShape="1">
          <a:blip r:embed="rId3">
            <a:alphaModFix/>
          </a:blip>
          <a:srcRect b="29872" l="0" r="0" t="29872"/>
          <a:stretch/>
        </p:blipFill>
        <p:spPr>
          <a:xfrm>
            <a:off x="0" y="0"/>
            <a:ext cx="12192000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2"/>
          <p:cNvSpPr txBox="1"/>
          <p:nvPr>
            <p:ph type="title"/>
          </p:nvPr>
        </p:nvSpPr>
        <p:spPr>
          <a:xfrm>
            <a:off x="533400" y="523875"/>
            <a:ext cx="11125200" cy="1666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b="0" i="0" sz="40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533400" y="32861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533400" y="4238625"/>
            <a:ext cx="50006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22"/>
          <p:cNvSpPr txBox="1"/>
          <p:nvPr>
            <p:ph idx="3" type="body"/>
          </p:nvPr>
        </p:nvSpPr>
        <p:spPr>
          <a:xfrm>
            <a:off x="6534150" y="328612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22"/>
          <p:cNvSpPr txBox="1"/>
          <p:nvPr>
            <p:ph idx="4" type="body"/>
          </p:nvPr>
        </p:nvSpPr>
        <p:spPr>
          <a:xfrm>
            <a:off x="6534150" y="4238625"/>
            <a:ext cx="500062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– Paper Header">
  <p:cSld name="4 Columns – Paper 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3"/>
          <p:cNvPicPr preferRelativeResize="0"/>
          <p:nvPr/>
        </p:nvPicPr>
        <p:blipFill rotWithShape="1">
          <a:blip r:embed="rId3">
            <a:alphaModFix/>
          </a:blip>
          <a:srcRect b="27443" l="0" r="0" t="27443"/>
          <a:stretch/>
        </p:blipFill>
        <p:spPr>
          <a:xfrm>
            <a:off x="0" y="0"/>
            <a:ext cx="1219200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3"/>
          <p:cNvSpPr txBox="1"/>
          <p:nvPr>
            <p:ph type="title"/>
          </p:nvPr>
        </p:nvSpPr>
        <p:spPr>
          <a:xfrm>
            <a:off x="533400" y="857250"/>
            <a:ext cx="11125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b="0" i="0" sz="40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4050"/>
              <a:buFont typeface="Inter"/>
              <a:buNone/>
              <a:defRPr sz="40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533400" y="3762375"/>
            <a:ext cx="2238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533400" y="4838700"/>
            <a:ext cx="2238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2" name="Google Shape;62;p23"/>
          <p:cNvSpPr txBox="1"/>
          <p:nvPr>
            <p:ph idx="3" type="body"/>
          </p:nvPr>
        </p:nvSpPr>
        <p:spPr>
          <a:xfrm>
            <a:off x="3486150" y="3762375"/>
            <a:ext cx="2238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3" name="Google Shape;63;p23"/>
          <p:cNvSpPr txBox="1"/>
          <p:nvPr>
            <p:ph idx="4" type="body"/>
          </p:nvPr>
        </p:nvSpPr>
        <p:spPr>
          <a:xfrm>
            <a:off x="3486150" y="4838700"/>
            <a:ext cx="2238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4" name="Google Shape;64;p23"/>
          <p:cNvSpPr txBox="1"/>
          <p:nvPr>
            <p:ph idx="5" type="body"/>
          </p:nvPr>
        </p:nvSpPr>
        <p:spPr>
          <a:xfrm>
            <a:off x="6438900" y="3762375"/>
            <a:ext cx="2238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5" name="Google Shape;65;p23"/>
          <p:cNvSpPr txBox="1"/>
          <p:nvPr>
            <p:ph idx="6" type="body"/>
          </p:nvPr>
        </p:nvSpPr>
        <p:spPr>
          <a:xfrm>
            <a:off x="6438900" y="4838700"/>
            <a:ext cx="2238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23"/>
          <p:cNvSpPr txBox="1"/>
          <p:nvPr>
            <p:ph idx="7" type="body"/>
          </p:nvPr>
        </p:nvSpPr>
        <p:spPr>
          <a:xfrm>
            <a:off x="9391650" y="3762375"/>
            <a:ext cx="22383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250"/>
              <a:buFont typeface="Inter"/>
              <a:buNone/>
              <a:defRPr b="0" i="0" sz="22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7" name="Google Shape;67;p23"/>
          <p:cNvSpPr txBox="1"/>
          <p:nvPr>
            <p:ph idx="8" type="body"/>
          </p:nvPr>
        </p:nvSpPr>
        <p:spPr>
          <a:xfrm>
            <a:off x="9391650" y="4838700"/>
            <a:ext cx="223837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533400" y="1104900"/>
            <a:ext cx="10668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b="0" i="0" sz="62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6225"/>
              <a:buFont typeface="Inter"/>
              <a:buNone/>
              <a:defRPr sz="6225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24"/>
          <p:cNvSpPr txBox="1"/>
          <p:nvPr>
            <p:ph idx="1" type="subTitle"/>
          </p:nvPr>
        </p:nvSpPr>
        <p:spPr>
          <a:xfrm>
            <a:off x="590550" y="3800475"/>
            <a:ext cx="10001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625"/>
              <a:buFont typeface="Inter"/>
              <a:buNone/>
              <a:defRPr b="0" i="0" sz="26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24"/>
          <p:cNvSpPr txBox="1"/>
          <p:nvPr>
            <p:ph idx="2" type="body"/>
          </p:nvPr>
        </p:nvSpPr>
        <p:spPr>
          <a:xfrm>
            <a:off x="590550" y="5429250"/>
            <a:ext cx="9048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24"/>
          <p:cNvSpPr txBox="1"/>
          <p:nvPr>
            <p:ph idx="3" type="body"/>
          </p:nvPr>
        </p:nvSpPr>
        <p:spPr>
          <a:xfrm>
            <a:off x="590550" y="5981700"/>
            <a:ext cx="990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725"/>
              <a:buFont typeface="Inter"/>
              <a:buNone/>
              <a:defRPr b="0" i="0" sz="17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olumn">
  <p:cSld name="1 Colum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"/>
          <p:cNvSpPr txBox="1"/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5" name="Google Shape;75;p25"/>
          <p:cNvSpPr txBox="1"/>
          <p:nvPr>
            <p:ph idx="1" type="subTitle"/>
          </p:nvPr>
        </p:nvSpPr>
        <p:spPr>
          <a:xfrm>
            <a:off x="533400" y="2152650"/>
            <a:ext cx="1038225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3000"/>
              <a:buFont typeface="Inter"/>
              <a:buNone/>
              <a:defRPr b="0" i="0" sz="30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6" name="Google Shape;76;p25"/>
          <p:cNvSpPr txBox="1"/>
          <p:nvPr>
            <p:ph idx="2" type="body"/>
          </p:nvPr>
        </p:nvSpPr>
        <p:spPr>
          <a:xfrm>
            <a:off x="533400" y="3581400"/>
            <a:ext cx="10001250" cy="2038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100"/>
              <a:buFont typeface="Inter"/>
              <a:buNone/>
              <a:defRPr b="0" i="0" sz="2100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lumns">
  <p:cSld name="2 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6"/>
          <p:cNvSpPr txBox="1"/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6"/>
          <p:cNvSpPr txBox="1"/>
          <p:nvPr>
            <p:ph idx="1" type="body"/>
          </p:nvPr>
        </p:nvSpPr>
        <p:spPr>
          <a:xfrm>
            <a:off x="533400" y="2257425"/>
            <a:ext cx="500062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0" name="Google Shape;80;p26"/>
          <p:cNvSpPr txBox="1"/>
          <p:nvPr>
            <p:ph idx="2" type="body"/>
          </p:nvPr>
        </p:nvSpPr>
        <p:spPr>
          <a:xfrm>
            <a:off x="533400" y="3067050"/>
            <a:ext cx="485775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1" name="Google Shape;81;p26"/>
          <p:cNvSpPr txBox="1"/>
          <p:nvPr>
            <p:ph idx="3" type="body"/>
          </p:nvPr>
        </p:nvSpPr>
        <p:spPr>
          <a:xfrm>
            <a:off x="6534150" y="2257425"/>
            <a:ext cx="50958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2" name="Google Shape;82;p26"/>
          <p:cNvSpPr txBox="1"/>
          <p:nvPr>
            <p:ph idx="4" type="body"/>
          </p:nvPr>
        </p:nvSpPr>
        <p:spPr>
          <a:xfrm>
            <a:off x="6534150" y="3067050"/>
            <a:ext cx="4857750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7"/>
          <p:cNvSpPr txBox="1"/>
          <p:nvPr>
            <p:ph type="title"/>
          </p:nvPr>
        </p:nvSpPr>
        <p:spPr>
          <a:xfrm>
            <a:off x="533400" y="514350"/>
            <a:ext cx="10096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b="0" i="0" sz="195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950"/>
              <a:buFont typeface="Inter"/>
              <a:buNone/>
              <a:defRPr sz="195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5" name="Google Shape;85;p27"/>
          <p:cNvSpPr txBox="1"/>
          <p:nvPr>
            <p:ph idx="1" type="body"/>
          </p:nvPr>
        </p:nvSpPr>
        <p:spPr>
          <a:xfrm>
            <a:off x="819150" y="1943100"/>
            <a:ext cx="10572750" cy="284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4950"/>
              <a:buFont typeface="Georgia"/>
              <a:buNone/>
              <a:defRPr b="0" i="1" sz="4950" u="none" cap="none" strike="noStrike">
                <a:solidFill>
                  <a:srgbClr val="203A29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86" name="Google Shape;86;p27"/>
          <p:cNvSpPr txBox="1"/>
          <p:nvPr>
            <p:ph idx="2" type="body"/>
          </p:nvPr>
        </p:nvSpPr>
        <p:spPr>
          <a:xfrm>
            <a:off x="857250" y="5410200"/>
            <a:ext cx="9048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>
  <p:cSld name="3 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8"/>
          <p:cNvSpPr txBox="1"/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F0EADB"/>
              </a:buClr>
              <a:buSzPts val="3900"/>
              <a:buFont typeface="Inter"/>
              <a:buNone/>
              <a:defRPr sz="3900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9" name="Google Shape;89;p28"/>
          <p:cNvSpPr txBox="1"/>
          <p:nvPr>
            <p:ph idx="1" type="body"/>
          </p:nvPr>
        </p:nvSpPr>
        <p:spPr>
          <a:xfrm>
            <a:off x="5334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0" name="Google Shape;90;p28"/>
          <p:cNvSpPr txBox="1"/>
          <p:nvPr>
            <p:ph idx="2" type="body"/>
          </p:nvPr>
        </p:nvSpPr>
        <p:spPr>
          <a:xfrm>
            <a:off x="5334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1" name="Google Shape;91;p28"/>
          <p:cNvSpPr txBox="1"/>
          <p:nvPr>
            <p:ph idx="3" type="body"/>
          </p:nvPr>
        </p:nvSpPr>
        <p:spPr>
          <a:xfrm>
            <a:off x="5334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2" name="Google Shape;92;p28"/>
          <p:cNvSpPr txBox="1"/>
          <p:nvPr>
            <p:ph idx="4" type="body"/>
          </p:nvPr>
        </p:nvSpPr>
        <p:spPr>
          <a:xfrm>
            <a:off x="5334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28"/>
          <p:cNvSpPr txBox="1"/>
          <p:nvPr>
            <p:ph idx="5" type="body"/>
          </p:nvPr>
        </p:nvSpPr>
        <p:spPr>
          <a:xfrm>
            <a:off x="44196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4" name="Google Shape;94;p28"/>
          <p:cNvSpPr txBox="1"/>
          <p:nvPr>
            <p:ph idx="6" type="body"/>
          </p:nvPr>
        </p:nvSpPr>
        <p:spPr>
          <a:xfrm>
            <a:off x="44196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5" name="Google Shape;95;p28"/>
          <p:cNvSpPr txBox="1"/>
          <p:nvPr>
            <p:ph idx="7" type="body"/>
          </p:nvPr>
        </p:nvSpPr>
        <p:spPr>
          <a:xfrm>
            <a:off x="44196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6" name="Google Shape;96;p28"/>
          <p:cNvSpPr txBox="1"/>
          <p:nvPr>
            <p:ph idx="8" type="body"/>
          </p:nvPr>
        </p:nvSpPr>
        <p:spPr>
          <a:xfrm>
            <a:off x="44196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" name="Google Shape;97;p28"/>
          <p:cNvSpPr txBox="1"/>
          <p:nvPr>
            <p:ph idx="9" type="body"/>
          </p:nvPr>
        </p:nvSpPr>
        <p:spPr>
          <a:xfrm>
            <a:off x="8305800" y="2105025"/>
            <a:ext cx="3143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FB99B"/>
              </a:buClr>
              <a:buSzPts val="1650"/>
              <a:buFont typeface="Inter"/>
              <a:buNone/>
              <a:defRPr b="0" i="0" sz="1650" u="none" cap="none" strike="noStrike">
                <a:solidFill>
                  <a:srgbClr val="AFB99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8" name="Google Shape;98;p28"/>
          <p:cNvSpPr txBox="1"/>
          <p:nvPr>
            <p:ph idx="13" type="body"/>
          </p:nvPr>
        </p:nvSpPr>
        <p:spPr>
          <a:xfrm>
            <a:off x="8305800" y="2771775"/>
            <a:ext cx="3238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2550"/>
              <a:buFont typeface="Inter"/>
              <a:buNone/>
              <a:defRPr b="0" i="0" sz="2550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8"/>
          <p:cNvSpPr txBox="1"/>
          <p:nvPr>
            <p:ph idx="14" type="body"/>
          </p:nvPr>
        </p:nvSpPr>
        <p:spPr>
          <a:xfrm>
            <a:off x="8305800" y="3609975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0EADB"/>
              </a:buClr>
              <a:buSzPts val="5625"/>
              <a:buFont typeface="Inter"/>
              <a:buNone/>
              <a:defRPr b="0" i="0" sz="5625" u="none" cap="none" strike="noStrike">
                <a:solidFill>
                  <a:srgbClr val="F0EADB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0" name="Google Shape;100;p28"/>
          <p:cNvSpPr txBox="1"/>
          <p:nvPr>
            <p:ph idx="15" type="body"/>
          </p:nvPr>
        </p:nvSpPr>
        <p:spPr>
          <a:xfrm>
            <a:off x="8305800" y="5010150"/>
            <a:ext cx="31718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CB39E"/>
              </a:buClr>
              <a:buSzPts val="1875"/>
              <a:buFont typeface="Inter"/>
              <a:buNone/>
              <a:defRPr b="0" i="0" sz="1875" u="none" cap="none" strike="noStrike">
                <a:solidFill>
                  <a:srgbClr val="ACB39E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 txBox="1"/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3" name="Google Shape;103;p29"/>
          <p:cNvSpPr/>
          <p:nvPr>
            <p:ph idx="2" type="chart"/>
          </p:nvPr>
        </p:nvSpPr>
        <p:spPr>
          <a:xfrm>
            <a:off x="533400" y="2162175"/>
            <a:ext cx="7477125" cy="3571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4" name="Google Shape;104;p29"/>
          <p:cNvSpPr txBox="1"/>
          <p:nvPr>
            <p:ph idx="1" type="body"/>
          </p:nvPr>
        </p:nvSpPr>
        <p:spPr>
          <a:xfrm>
            <a:off x="8667750" y="23622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400"/>
              <a:buFont typeface="Inter"/>
              <a:buNone/>
              <a:defRPr b="0" i="0" sz="24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5" name="Google Shape;105;p29"/>
          <p:cNvSpPr txBox="1"/>
          <p:nvPr>
            <p:ph idx="3" type="body"/>
          </p:nvPr>
        </p:nvSpPr>
        <p:spPr>
          <a:xfrm>
            <a:off x="8667750" y="3200400"/>
            <a:ext cx="276225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2025"/>
              <a:buFont typeface="Inter"/>
              <a:buNone/>
              <a:defRPr b="0" i="0" sz="20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6" name="Google Shape;106;p29"/>
          <p:cNvSpPr txBox="1"/>
          <p:nvPr>
            <p:ph idx="4" type="body"/>
          </p:nvPr>
        </p:nvSpPr>
        <p:spPr>
          <a:xfrm>
            <a:off x="533400" y="6153150"/>
            <a:ext cx="7524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275"/>
              <a:buFont typeface="Inter"/>
              <a:buNone/>
              <a:defRPr b="0" i="0" sz="127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0"/>
          <p:cNvSpPr txBox="1"/>
          <p:nvPr>
            <p:ph type="title"/>
          </p:nvPr>
        </p:nvSpPr>
        <p:spPr>
          <a:xfrm>
            <a:off x="533400" y="533400"/>
            <a:ext cx="1112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b="0" i="0" sz="39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3900"/>
              <a:buFont typeface="Inter"/>
              <a:buNone/>
              <a:defRPr sz="3900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9" name="Google Shape;109;p30"/>
          <p:cNvSpPr/>
          <p:nvPr>
            <p:ph idx="2" type="tbl"/>
          </p:nvPr>
        </p:nvSpPr>
        <p:spPr>
          <a:xfrm>
            <a:off x="533400" y="2133600"/>
            <a:ext cx="11125200" cy="329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rgbClr val="203A29"/>
              </a:buClr>
              <a:buSzPts val="1800"/>
              <a:buFont typeface="Inter"/>
              <a:buNone/>
              <a:defRPr b="0" i="0" sz="18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0" name="Google Shape;110;p30"/>
          <p:cNvSpPr txBox="1"/>
          <p:nvPr>
            <p:ph idx="1" type="body"/>
          </p:nvPr>
        </p:nvSpPr>
        <p:spPr>
          <a:xfrm>
            <a:off x="533400" y="6038850"/>
            <a:ext cx="10287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03A29"/>
              </a:buClr>
              <a:buSzPts val="1500"/>
              <a:buFont typeface="Inter"/>
              <a:buNone/>
              <a:defRPr b="0" i="0" sz="1500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20" Type="http://schemas.openxmlformats.org/officeDocument/2006/relationships/theme" Target="../theme/theme1.xml" /><Relationship Id="rId11" Type="http://schemas.openxmlformats.org/officeDocument/2006/relationships/slideLayout" Target="../slideLayouts/slideLayout10.xml" /><Relationship Id="rId10" Type="http://schemas.openxmlformats.org/officeDocument/2006/relationships/slideLayout" Target="../slideLayouts/slideLayout9.xml" /><Relationship Id="rId13" Type="http://schemas.openxmlformats.org/officeDocument/2006/relationships/slideLayout" Target="../slideLayouts/slideLayout12.xml" /><Relationship Id="rId12" Type="http://schemas.openxmlformats.org/officeDocument/2006/relationships/slideLayout" Target="../slideLayouts/slideLayout11.xml" /><Relationship Id="rId1" Type="http://schemas.openxmlformats.org/officeDocument/2006/relationships/image" Target="../media/image4-q90.jpg" /><Relationship Id="rId2" Type="http://schemas.openxmlformats.org/officeDocument/2006/relationships/slideLayout" Target="../slideLayouts/slideLayout1.xml" /><Relationship Id="rId3" Type="http://schemas.openxmlformats.org/officeDocument/2006/relationships/slideLayout" Target="../slideLayouts/slideLayout2.xml" /><Relationship Id="rId4" Type="http://schemas.openxmlformats.org/officeDocument/2006/relationships/slideLayout" Target="../slideLayouts/slideLayout3.xml" /><Relationship Id="rId9" Type="http://schemas.openxmlformats.org/officeDocument/2006/relationships/slideLayout" Target="../slideLayouts/slideLayout8.xml" /><Relationship Id="rId15" Type="http://schemas.openxmlformats.org/officeDocument/2006/relationships/slideLayout" Target="../slideLayouts/slideLayout14.xml" /><Relationship Id="rId14" Type="http://schemas.openxmlformats.org/officeDocument/2006/relationships/slideLayout" Target="../slideLayouts/slideLayout13.xml" /><Relationship Id="rId17" Type="http://schemas.openxmlformats.org/officeDocument/2006/relationships/slideLayout" Target="../slideLayouts/slideLayout16.xml" /><Relationship Id="rId16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4.xml" /><Relationship Id="rId19" Type="http://schemas.openxmlformats.org/officeDocument/2006/relationships/slideLayout" Target="../slideLayouts/slideLayout18.xml" /><Relationship Id="rId6" Type="http://schemas.openxmlformats.org/officeDocument/2006/relationships/slideLayout" Target="../slideLayouts/slideLayout5.xml" /><Relationship Id="rId18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6.xml" /><Relationship Id="rId8" Type="http://schemas.openxmlformats.org/officeDocument/2006/relationships/slideLayout" Target="../slideLayouts/slideLayout7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16-q90.jp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18-q90.jp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7-q90.jpg" 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19-q90.jpg" 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/>
          <p:nvPr/>
        </p:nvSpPr>
        <p:spPr>
          <a:xfrm>
            <a:off x="457200" y="457200"/>
            <a:ext cx="619125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moss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514350" y="18002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203A29"/>
                </a:solidFill>
                <a:latin typeface="Nunito Medium"/>
                <a:ea typeface="Nunito Medium"/>
                <a:cs typeface="Nunito Medium"/>
                <a:sym typeface="Nunito Medium"/>
              </a:rPr>
              <a:t>Your health, in context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457200" y="6257925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EEE9DC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Product pitch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11001375" y="625792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EEE9DC"/>
                </a:solidFill>
                <a:latin typeface="Nunito Medium"/>
                <a:ea typeface="Nunito Medium"/>
                <a:cs typeface="Nunito Medium"/>
                <a:sym typeface="Nunito Medium"/>
              </a:rPr>
              <a:t>2026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"/>
          <p:cNvSpPr/>
          <p:nvPr/>
        </p:nvSpPr>
        <p:spPr>
          <a:xfrm>
            <a:off x="495300" y="2643081"/>
            <a:ext cx="428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problem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95300" y="2981325"/>
            <a:ext cx="5143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A lot of numbers.</a:t>
            </a:r>
            <a:endParaRPr b="1"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495300" y="3562350"/>
            <a:ext cx="51435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Still no</a:t>
            </a:r>
            <a:r>
              <a:rPr lang="en-US" sz="3600">
                <a:latin typeface="Nunito Medium"/>
                <a:ea typeface="Nunito Medium"/>
                <a:cs typeface="Nunito Medium"/>
                <a:sym typeface="Nunito Medium"/>
              </a:rPr>
              <a:t> </a:t>
            </a:r>
            <a:r>
              <a:rPr i="0" lang="en-US" sz="3600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clear picture.</a:t>
            </a:r>
            <a:endParaRPr sz="36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381875" y="1781175"/>
            <a:ext cx="3619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 u="none" cap="none" strike="noStrike">
                <a:solidFill>
                  <a:srgbClr val="203A29"/>
                </a:solidFill>
                <a:latin typeface="Nunito Black"/>
                <a:ea typeface="Nunito Black"/>
                <a:cs typeface="Nunito Black"/>
                <a:sym typeface="Nunito Black"/>
              </a:rPr>
              <a:t>Sleep</a:t>
            </a:r>
            <a:endParaRPr i="1" sz="360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8334375" y="3209925"/>
            <a:ext cx="3429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 u="none" cap="none" strike="noStrike">
                <a:solidFill>
                  <a:srgbClr val="203A29"/>
                </a:solidFill>
                <a:latin typeface="Nunito Black"/>
                <a:ea typeface="Nunito Black"/>
                <a:cs typeface="Nunito Black"/>
                <a:sym typeface="Nunito Black"/>
              </a:rPr>
              <a:t>Movement</a:t>
            </a:r>
            <a:endParaRPr i="1" sz="3600"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200900" y="4638675"/>
            <a:ext cx="3333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 u="none" cap="none" strike="noStrike">
                <a:solidFill>
                  <a:srgbClr val="203A29"/>
                </a:solidFill>
                <a:latin typeface="Nunito Black"/>
                <a:ea typeface="Nunito Black"/>
                <a:cs typeface="Nunito Black"/>
                <a:sym typeface="Nunito Black"/>
              </a:rPr>
              <a:t>Mood</a:t>
            </a:r>
            <a:endParaRPr i="1" sz="3600"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3238500" y="2578752"/>
            <a:ext cx="5715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203A29"/>
                </a:solidFill>
                <a:latin typeface="Nunito Medium"/>
                <a:ea typeface="Nunito Medium"/>
                <a:cs typeface="Nunito Medium"/>
                <a:sym typeface="Nunito Medium"/>
              </a:rPr>
              <a:t>The opportunity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1619250" y="2940438"/>
            <a:ext cx="89535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A clear picture of your health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2286000" y="3818513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203A29"/>
                </a:solidFill>
                <a:latin typeface="Nunito Medium"/>
                <a:ea typeface="Nunito Medium"/>
                <a:cs typeface="Nunito Medium"/>
                <a:sym typeface="Nunito Medium"/>
              </a:rPr>
              <a:t>A calmer way to understand your everyday patterns.</a:t>
            </a:r>
            <a:endParaRPr sz="2000"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57200" y="6400800"/>
            <a:ext cx="1238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03A29"/>
                </a:solidFill>
                <a:latin typeface="Inter"/>
                <a:ea typeface="Inter"/>
                <a:cs typeface="Inter"/>
                <a:sym typeface="Inter"/>
              </a:rPr>
              <a:t>moss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"/>
          <p:cNvPicPr preferRelativeResize="0"/>
          <p:nvPr/>
        </p:nvPicPr>
        <p:blipFill rotWithShape="1">
          <a:blip r:embed="rId3">
            <a:alphaModFix/>
          </a:blip>
          <a:srcRect b="5000" l="0" r="0" t="5000"/>
          <a:stretch/>
        </p:blipFill>
        <p:spPr>
          <a:xfrm>
            <a:off x="0" y="0"/>
            <a:ext cx="571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6534150" y="2737400"/>
            <a:ext cx="50484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0EADB"/>
                </a:solidFill>
                <a:latin typeface="Nunito"/>
                <a:ea typeface="Nunito"/>
                <a:cs typeface="Nunito"/>
                <a:sym typeface="Nunito"/>
              </a:rPr>
              <a:t>Meet Moss</a:t>
            </a:r>
            <a:endParaRPr b="1"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534150" y="3390450"/>
            <a:ext cx="48579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A health tracking app that brings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sleep, movement and mood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into a single daily view.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5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5"/>
          <p:cNvSpPr/>
          <p:nvPr/>
        </p:nvSpPr>
        <p:spPr>
          <a:xfrm>
            <a:off x="381000" y="266700"/>
            <a:ext cx="28575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203A2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6"/>
          <p:cNvPicPr preferRelativeResize="0"/>
          <p:nvPr/>
        </p:nvPicPr>
        <p:blipFill rotWithShape="1">
          <a:blip r:embed="rId3">
            <a:alphaModFix/>
          </a:blip>
          <a:srcRect b="5000" l="0" r="0" t="5000"/>
          <a:stretch/>
        </p:blipFill>
        <p:spPr>
          <a:xfrm>
            <a:off x="6477000" y="4644"/>
            <a:ext cx="571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361950" y="2737400"/>
            <a:ext cx="5591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0EADB"/>
                </a:solidFill>
                <a:latin typeface="Nunito"/>
                <a:ea typeface="Nunito"/>
                <a:cs typeface="Nunito"/>
                <a:sym typeface="Nunito"/>
              </a:rPr>
              <a:t>See what trends together</a:t>
            </a:r>
            <a:endParaRPr b="1"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61950" y="3390450"/>
            <a:ext cx="55365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Notice how your sleep, movement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and energy line up across the week.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495300" y="1181100"/>
            <a:ext cx="10477500" cy="1400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A little attention.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Every day.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3" name="Google Shape;163;p7"/>
          <p:cNvCxnSpPr/>
          <p:nvPr/>
        </p:nvCxnSpPr>
        <p:spPr>
          <a:xfrm>
            <a:off x="495300" y="4143375"/>
            <a:ext cx="3381375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7"/>
          <p:cNvSpPr/>
          <p:nvPr/>
        </p:nvSpPr>
        <p:spPr>
          <a:xfrm>
            <a:off x="495300" y="4324350"/>
            <a:ext cx="3238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"/>
                <a:ea typeface="Nunito"/>
                <a:cs typeface="Nunito"/>
                <a:sym typeface="Nunito"/>
              </a:rPr>
              <a:t>01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95300" y="4629150"/>
            <a:ext cx="3381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Check in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95300" y="5019675"/>
            <a:ext cx="33813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Log your mood and energy.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Add the context only you know.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67" name="Google Shape;167;p7"/>
          <p:cNvCxnSpPr/>
          <p:nvPr/>
        </p:nvCxnSpPr>
        <p:spPr>
          <a:xfrm>
            <a:off x="4381500" y="4143375"/>
            <a:ext cx="3381375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7"/>
          <p:cNvSpPr/>
          <p:nvPr/>
        </p:nvSpPr>
        <p:spPr>
          <a:xfrm>
            <a:off x="4381500" y="4324350"/>
            <a:ext cx="3238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"/>
                <a:ea typeface="Nunito"/>
                <a:cs typeface="Nunito"/>
                <a:sym typeface="Nunito"/>
              </a:rPr>
              <a:t>02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381500" y="4629150"/>
            <a:ext cx="3381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Look back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4381500" y="5019675"/>
            <a:ext cx="33813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Explore the patterns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in your recent days.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71" name="Google Shape;171;p7"/>
          <p:cNvCxnSpPr/>
          <p:nvPr/>
        </p:nvCxnSpPr>
        <p:spPr>
          <a:xfrm>
            <a:off x="8267700" y="4143375"/>
            <a:ext cx="3381375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7"/>
          <p:cNvSpPr/>
          <p:nvPr/>
        </p:nvSpPr>
        <p:spPr>
          <a:xfrm>
            <a:off x="8267700" y="4324350"/>
            <a:ext cx="3238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"/>
                <a:ea typeface="Nunito"/>
                <a:cs typeface="Nunito"/>
                <a:sym typeface="Nunito"/>
              </a:rPr>
              <a:t>03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267700" y="4629150"/>
            <a:ext cx="3381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Try something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267700" y="5019675"/>
            <a:ext cx="3381300" cy="6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Choose a small habit.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"/>
                <a:ea typeface="Nunito"/>
                <a:cs typeface="Nunito"/>
                <a:sym typeface="Nunito"/>
              </a:rPr>
              <a:t>See how it fits your life.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8"/>
          <p:cNvPicPr preferRelativeResize="0"/>
          <p:nvPr/>
        </p:nvPicPr>
        <p:blipFill rotWithShape="1">
          <a:blip r:embed="rId3">
            <a:alphaModFix/>
          </a:blip>
          <a:srcRect b="5000" l="0" r="0" t="5000"/>
          <a:stretch/>
        </p:blipFill>
        <p:spPr>
          <a:xfrm>
            <a:off x="6477000" y="0"/>
            <a:ext cx="5715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/>
          <p:nvPr/>
        </p:nvSpPr>
        <p:spPr>
          <a:xfrm>
            <a:off x="361950" y="2737400"/>
            <a:ext cx="55911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0EADB"/>
                </a:solidFill>
                <a:latin typeface="Nunito"/>
                <a:ea typeface="Nunito"/>
                <a:cs typeface="Nunito"/>
                <a:sym typeface="Nunito"/>
              </a:rPr>
              <a:t>One small thing to try</a:t>
            </a:r>
            <a:endParaRPr b="1" sz="3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61950" y="3390450"/>
            <a:ext cx="5536500" cy="9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Choose something manageable.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Try it for a week.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Reflect on how it feels.</a:t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CB39E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>
            <a:off x="5715000" y="819150"/>
            <a:ext cx="5924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925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Designed for your control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5715000" y="219075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01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457950" y="2162175"/>
            <a:ext cx="5172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Choose what to connect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457950" y="2549491"/>
            <a:ext cx="517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Bring in only the signals you want.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6457950" y="3105150"/>
            <a:ext cx="5153025" cy="0"/>
          </a:xfrm>
          <a:prstGeom prst="straightConnector1">
            <a:avLst/>
          </a:prstGeom>
          <a:noFill/>
          <a:ln cap="flat" cmpd="sng" w="9525">
            <a:solidFill>
              <a:srgbClr val="344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9"/>
          <p:cNvSpPr/>
          <p:nvPr/>
        </p:nvSpPr>
        <p:spPr>
          <a:xfrm>
            <a:off x="5715000" y="346710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02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457950" y="3438525"/>
            <a:ext cx="5172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Decide what to record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57950" y="3825841"/>
            <a:ext cx="517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Keep check-ins as simple as you like.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6457950" y="4381500"/>
            <a:ext cx="5153025" cy="0"/>
          </a:xfrm>
          <a:prstGeom prst="straightConnector1">
            <a:avLst/>
          </a:prstGeom>
          <a:noFill/>
          <a:ln cap="flat" cmpd="sng" w="9525">
            <a:solidFill>
              <a:srgbClr val="344B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9"/>
          <p:cNvSpPr/>
          <p:nvPr/>
        </p:nvSpPr>
        <p:spPr>
          <a:xfrm>
            <a:off x="5715000" y="4743450"/>
            <a:ext cx="57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425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03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57950" y="4714875"/>
            <a:ext cx="51720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Medium"/>
                <a:ea typeface="Nunito Medium"/>
                <a:cs typeface="Nunito Medium"/>
                <a:sym typeface="Nunito Medium"/>
              </a:rPr>
              <a:t>Keep a way out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57950" y="5102191"/>
            <a:ext cx="5172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Export or delete your information.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73219" y="2513207"/>
            <a:ext cx="3336600" cy="14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Your health is personal</a:t>
            </a:r>
            <a:endParaRPr b="1" sz="4800">
              <a:solidFill>
                <a:srgbClr val="203A2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495300" y="600075"/>
            <a:ext cx="10572750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Space to start.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Room to go deeper.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495300" y="3209925"/>
            <a:ext cx="510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Moss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495300" y="3609693"/>
            <a:ext cx="51054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EADB"/>
                </a:solidFill>
                <a:latin typeface="Nunito"/>
                <a:ea typeface="Nunito"/>
                <a:cs typeface="Nunito"/>
                <a:sym typeface="Nunito"/>
              </a:rPr>
              <a:t>Free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495300" y="4505325"/>
            <a:ext cx="5105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Daily tracking and check-ins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A simple weekly view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6572250" y="3209925"/>
            <a:ext cx="5105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Moss Plus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572250" y="3609693"/>
            <a:ext cx="16383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0EADB"/>
                </a:solidFill>
                <a:latin typeface="Nunito"/>
                <a:ea typeface="Nunito"/>
                <a:cs typeface="Nunito"/>
                <a:sym typeface="Nunito"/>
              </a:rPr>
              <a:t>$8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434686" y="3885918"/>
            <a:ext cx="28575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1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/ month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6572250" y="4505325"/>
            <a:ext cx="51054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Longer-term trends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 habit experiments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950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Deeper weekly reflections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11"/>
          <p:cNvCxnSpPr/>
          <p:nvPr/>
        </p:nvCxnSpPr>
        <p:spPr>
          <a:xfrm>
            <a:off x="495300" y="3705225"/>
            <a:ext cx="2457450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11"/>
          <p:cNvSpPr/>
          <p:nvPr/>
        </p:nvSpPr>
        <p:spPr>
          <a:xfrm>
            <a:off x="495300" y="39433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01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495300" y="4295775"/>
            <a:ext cx="2552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Daily view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495300" y="4690921"/>
            <a:ext cx="255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Sleep, movement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and quick check-ins.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219" name="Google Shape;219;p11"/>
          <p:cNvCxnSpPr/>
          <p:nvPr/>
        </p:nvCxnSpPr>
        <p:spPr>
          <a:xfrm>
            <a:off x="3429000" y="3705225"/>
            <a:ext cx="2457450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11"/>
          <p:cNvSpPr/>
          <p:nvPr/>
        </p:nvSpPr>
        <p:spPr>
          <a:xfrm>
            <a:off x="3429000" y="39433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02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3429000" y="4295775"/>
            <a:ext cx="2552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Connected data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3429000" y="4690921"/>
            <a:ext cx="255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Optional device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and app connections.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223" name="Google Shape;223;p11"/>
          <p:cNvCxnSpPr/>
          <p:nvPr/>
        </p:nvCxnSpPr>
        <p:spPr>
          <a:xfrm>
            <a:off x="6362700" y="3705225"/>
            <a:ext cx="2457450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11"/>
          <p:cNvSpPr/>
          <p:nvPr/>
        </p:nvSpPr>
        <p:spPr>
          <a:xfrm>
            <a:off x="6362700" y="39433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03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6362700" y="4295775"/>
            <a:ext cx="2552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Personal patterns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6362700" y="4690921"/>
            <a:ext cx="255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Weekly views and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thoughtful reflections.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227" name="Google Shape;227;p11"/>
          <p:cNvCxnSpPr/>
          <p:nvPr/>
        </p:nvCxnSpPr>
        <p:spPr>
          <a:xfrm>
            <a:off x="9296400" y="3705225"/>
            <a:ext cx="2457450" cy="0"/>
          </a:xfrm>
          <a:prstGeom prst="straightConnector1">
            <a:avLst/>
          </a:prstGeom>
          <a:noFill/>
          <a:ln cap="flat" cmpd="sng" w="9525">
            <a:solidFill>
              <a:srgbClr val="6471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1"/>
          <p:cNvSpPr/>
          <p:nvPr/>
        </p:nvSpPr>
        <p:spPr>
          <a:xfrm>
            <a:off x="9296400" y="3943350"/>
            <a:ext cx="2476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650" u="none" cap="none" strike="noStrike">
                <a:solidFill>
                  <a:srgbClr val="AFB99B"/>
                </a:solidFill>
                <a:latin typeface="Nunito Medium"/>
                <a:ea typeface="Nunito Medium"/>
                <a:cs typeface="Nunito Medium"/>
                <a:sym typeface="Nunito Medium"/>
              </a:rPr>
              <a:t>04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9296400" y="4295775"/>
            <a:ext cx="25527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25" u="none" cap="none" strike="noStrike">
                <a:solidFill>
                  <a:srgbClr val="F0EADB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Habit experiments</a:t>
            </a:r>
            <a:endParaRPr>
              <a:latin typeface="Nunito SemiBold"/>
              <a:ea typeface="Nunito SemiBold"/>
              <a:cs typeface="Nunito SemiBold"/>
              <a:sym typeface="Nunito SemiBold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9296400" y="4690921"/>
            <a:ext cx="25527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Flexible plans and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75" u="none" cap="none" strike="noStrike">
                <a:solidFill>
                  <a:srgbClr val="ACB39E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progress over time.</a:t>
            </a:r>
            <a:endParaRPr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495300" y="1142718"/>
            <a:ext cx="105729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A focused path to beta</a:t>
            </a:r>
            <a:endParaRPr b="1" sz="48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/>
          <p:nvPr/>
        </p:nvSpPr>
        <p:spPr>
          <a:xfrm>
            <a:off x="4656300" y="2668600"/>
            <a:ext cx="2879400" cy="15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203A29"/>
                </a:solidFill>
                <a:latin typeface="Nunito"/>
                <a:ea typeface="Nunito"/>
                <a:cs typeface="Nunito"/>
                <a:sym typeface="Nunito"/>
              </a:rPr>
              <a:t>moss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ss Product Pitch">
  <a:themeElements>
    <a:clrScheme name="Moss / Product Pitch">
      <a:dk1>
        <a:srgbClr val="203A29"/>
      </a:dk1>
      <a:lt1>
        <a:srgbClr val="FFFFFF"/>
      </a:lt1>
      <a:dk2>
        <a:srgbClr val="203A29"/>
      </a:dk2>
      <a:lt2>
        <a:srgbClr val="F0EADB"/>
      </a:lt2>
      <a:accent1>
        <a:srgbClr val="AFB99B"/>
      </a:accent1>
      <a:accent2>
        <a:srgbClr val="647159"/>
      </a:accent2>
      <a:accent3>
        <a:srgbClr val="BBBBAF"/>
      </a:accent3>
      <a:accent4>
        <a:srgbClr val="898984"/>
      </a:accent4>
      <a:accent5>
        <a:srgbClr val="203A29"/>
      </a:accent5>
      <a:accent6>
        <a:srgbClr val="F0EADB"/>
      </a:accent6>
      <a:hlink>
        <a:srgbClr val="AFB99B"/>
      </a:hlink>
      <a:folHlink>
        <a:srgbClr val="203A2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