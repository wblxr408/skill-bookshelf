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dia/image1-optimized.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8"/>
  </p:normalViewPr>
  <p:slideViewPr>
    <p:cSldViewPr snapToGrid="0">
      <p:cViewPr varScale="1">
        <p:scale>
          <a:sx n="112" d="100"/>
          <a:sy n="112" d="100"/>
        </p:scale>
        <p:origin x="7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Enterprise</c:v>
          </c:tx>
          <c:spPr>
            <a:solidFill>
              <a:srgbClr val="5B2D46"/>
            </a:solidFill>
          </c:spPr>
          <c:invertIfNegative val="0"/>
          <c:cat>
            <c:strLit>
              <c:ptCount val="4"/>
              <c:pt idx="0">
                <c:v>Sep 18</c:v>
              </c:pt>
              <c:pt idx="1">
                <c:v>Sep 25</c:v>
              </c:pt>
              <c:pt idx="2">
                <c:v>Oct 2</c:v>
              </c:pt>
              <c:pt idx="3">
                <c:v>Oct 9</c:v>
              </c:pt>
            </c:strLit>
          </c:cat>
          <c:val>
            <c:numLit>
              <c:formatCode>0"K"</c:formatCode>
              <c:ptCount val="4"/>
              <c:pt idx="0">
                <c:v>270</c:v>
              </c:pt>
              <c:pt idx="1">
                <c:v>280</c:v>
              </c:pt>
              <c:pt idx="2">
                <c:v>330</c:v>
              </c:pt>
              <c:pt idx="3">
                <c:v>420</c:v>
              </c:pt>
            </c:numLit>
          </c:val>
          <c:extLst>
            <c:ext xmlns:c16="http://schemas.microsoft.com/office/drawing/2014/chart" uri="{C3380CC4-5D6E-409C-BE32-E72D297353CC}">
              <c16:uniqueId val="{00000000-39EA-934F-AE5D-7D1E9ECA8131}"/>
            </c:ext>
          </c:extLst>
        </c:ser>
        <c:ser>
          <c:idx val="1"/>
          <c:order val="1"/>
          <c:tx>
            <c:v>Mid-market</c:v>
          </c:tx>
          <c:spPr>
            <a:solidFill>
              <a:srgbClr val="B66E4F"/>
            </a:solidFill>
          </c:spPr>
          <c:invertIfNegative val="0"/>
          <c:cat>
            <c:strLit>
              <c:ptCount val="4"/>
              <c:pt idx="0">
                <c:v>Sep 18</c:v>
              </c:pt>
              <c:pt idx="1">
                <c:v>Sep 25</c:v>
              </c:pt>
              <c:pt idx="2">
                <c:v>Oct 2</c:v>
              </c:pt>
              <c:pt idx="3">
                <c:v>Oct 9</c:v>
              </c:pt>
            </c:strLit>
          </c:cat>
          <c:val>
            <c:numLit>
              <c:formatCode>0"K"</c:formatCode>
              <c:ptCount val="4"/>
              <c:pt idx="0">
                <c:v>140</c:v>
              </c:pt>
              <c:pt idx="1">
                <c:v>160</c:v>
              </c:pt>
              <c:pt idx="2">
                <c:v>170</c:v>
              </c:pt>
              <c:pt idx="3">
                <c:v>150</c:v>
              </c:pt>
            </c:numLit>
          </c:val>
          <c:extLst>
            <c:ext xmlns:c16="http://schemas.microsoft.com/office/drawing/2014/chart" uri="{C3380CC4-5D6E-409C-BE32-E72D297353CC}">
              <c16:uniqueId val="{00000001-39EA-934F-AE5D-7D1E9ECA8131}"/>
            </c:ext>
          </c:extLst>
        </c:ser>
        <c:ser>
          <c:idx val="2"/>
          <c:order val="2"/>
          <c:tx>
            <c:v>Growth</c:v>
          </c:tx>
          <c:spPr>
            <a:solidFill>
              <a:srgbClr val="D8AEA4"/>
            </a:solidFill>
          </c:spPr>
          <c:invertIfNegative val="0"/>
          <c:cat>
            <c:strLit>
              <c:ptCount val="4"/>
              <c:pt idx="0">
                <c:v>Sep 18</c:v>
              </c:pt>
              <c:pt idx="1">
                <c:v>Sep 25</c:v>
              </c:pt>
              <c:pt idx="2">
                <c:v>Oct 2</c:v>
              </c:pt>
              <c:pt idx="3">
                <c:v>Oct 9</c:v>
              </c:pt>
            </c:strLit>
          </c:cat>
          <c:val>
            <c:numLit>
              <c:formatCode>0"K"</c:formatCode>
              <c:ptCount val="4"/>
              <c:pt idx="0">
                <c:v>50</c:v>
              </c:pt>
              <c:pt idx="1">
                <c:v>50</c:v>
              </c:pt>
              <c:pt idx="2">
                <c:v>50</c:v>
              </c:pt>
              <c:pt idx="3">
                <c:v>50</c:v>
              </c:pt>
            </c:numLit>
          </c:val>
          <c:extLst>
            <c:ext xmlns:c16="http://schemas.microsoft.com/office/drawing/2014/chart" uri="{C3380CC4-5D6E-409C-BE32-E72D297353CC}">
              <c16:uniqueId val="{00000002-39EA-934F-AE5D-7D1E9ECA81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100"/>
        <c:axId val="1"/>
        <c:axId val="2"/>
      </c:barChart>
      <c:lineChart>
        <c:grouping val="standard"/>
        <c:varyColors val="0"/>
        <c:ser>
          <c:idx val="3"/>
          <c:order val="3"/>
          <c:tx>
            <c:v>Plan</c:v>
          </c:tx>
          <c:spPr>
            <a:ln w="28575">
              <a:solidFill>
                <a:srgbClr val="301C2B"/>
              </a:solidFill>
              <a:prstDash val="dash"/>
            </a:ln>
          </c:spPr>
          <c:marker>
            <c:symbol val="circle"/>
            <c:size val="6"/>
            <c:spPr>
              <a:solidFill>
                <a:srgbClr val="FBF8F3"/>
              </a:solidFill>
              <a:ln w="19050">
                <a:solidFill>
                  <a:srgbClr val="301C2B"/>
                </a:solidFill>
                <a:prstDash val="solid"/>
              </a:ln>
            </c:spPr>
          </c:marker>
          <c:cat>
            <c:strLit>
              <c:ptCount val="4"/>
              <c:pt idx="0">
                <c:v>Sep 18</c:v>
              </c:pt>
              <c:pt idx="1">
                <c:v>Sep 25</c:v>
              </c:pt>
              <c:pt idx="2">
                <c:v>Oct 2</c:v>
              </c:pt>
              <c:pt idx="3">
                <c:v>Oct 9</c:v>
              </c:pt>
            </c:strLit>
          </c:cat>
          <c:val>
            <c:numLit>
              <c:formatCode>0"K"</c:formatCode>
              <c:ptCount val="4"/>
              <c:pt idx="0">
                <c:v>480</c:v>
              </c:pt>
              <c:pt idx="1">
                <c:v>510</c:v>
              </c:pt>
              <c:pt idx="2">
                <c:v>550</c:v>
              </c:pt>
              <c:pt idx="3">
                <c:v>580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3-39EA-934F-AE5D-7D1E9ECA81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"/>
        <c:axId val="2"/>
      </c:lineChart>
      <c:catAx>
        <c:axId val="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FD5D2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700"/>
          <c:min val="0"/>
        </c:scaling>
        <c:delete val="0"/>
        <c:axPos val="l"/>
        <c:majorGridlines>
          <c:spPr>
            <a:ln w="9525">
              <a:solidFill>
                <a:srgbClr val="DFD5D2"/>
              </a:solidFill>
              <a:prstDash val="solid"/>
            </a:ln>
          </c:spPr>
        </c:majorGridlines>
        <c:numFmt formatCode="0&quot;K&quot;" sourceLinked="1"/>
        <c:majorTickMark val="none"/>
        <c:minorTickMark val="none"/>
        <c:tickLblPos val="nextTo"/>
        <c:spPr>
          <a:ln w="9525">
            <a:solidFill>
              <a:srgbClr val="DFD5D2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 lang="en-US"/>
          </a:p>
        </c:txPr>
        <c:crossAx val="1"/>
        <c:crosses val="autoZero"/>
        <c:crossBetween val="between"/>
        <c:majorUnit val="200"/>
      </c:valAx>
      <c:spPr>
        <a:solidFill>
          <a:srgbClr val="FFFFFF"/>
        </a:solidFill>
        <a:ln w="0">
          <a:noFill/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275">
              <a:solidFill>
                <a:srgbClr val="7B6D74"/>
              </a:solidFill>
              <a:latin typeface="IBM Plex Sans"/>
              <a:ea typeface="IBM Plex Sans"/>
              <a:cs typeface="IBM Plex Sans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 w="0">
              <a:noFill/>
              <a:prstDash val="solid"/>
            </a:ln>
          </c:spPr>
          <c:invertIfNegative val="0"/>
          <c:cat>
            <c:strLit>
              <c:ptCount val="6"/>
              <c:pt idx="0">
                <c:v>Opening</c:v>
              </c:pt>
              <c:pt idx="1">
                <c:v>New logo</c:v>
              </c:pt>
              <c:pt idx="2">
                <c:v>Expansion</c:v>
              </c:pt>
              <c:pt idx="3">
                <c:v>Contraction</c:v>
              </c:pt>
              <c:pt idx="4">
                <c:v>Churn</c:v>
              </c:pt>
              <c:pt idx="5">
                <c:v>Closing</c:v>
              </c:pt>
            </c:strLit>
          </c:cat>
          <c:val>
            <c:numLit>
              <c:formatCode>"$"0.0"M"</c:formatCode>
              <c:ptCount val="6"/>
              <c:pt idx="0">
                <c:v>0</c:v>
              </c:pt>
              <c:pt idx="1">
                <c:v>24.1</c:v>
              </c:pt>
              <c:pt idx="2">
                <c:v>24.57</c:v>
              </c:pt>
              <c:pt idx="3">
                <c:v>24.68</c:v>
              </c:pt>
              <c:pt idx="4">
                <c:v>24.6</c:v>
              </c:pt>
              <c:pt idx="5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BD22-8E4F-95AE-0E11DBC46D47}"/>
            </c:ext>
          </c:extLst>
        </c:ser>
        <c:ser>
          <c:idx val="1"/>
          <c:order val="1"/>
          <c:tx>
            <c:v>Contracted ARR</c:v>
          </c:tx>
          <c:spPr>
            <a:solidFill>
              <a:srgbClr val="5B2D46"/>
            </a:solidFill>
          </c:spPr>
          <c:invertIfNegative val="0"/>
          <c:cat>
            <c:strLit>
              <c:ptCount val="6"/>
              <c:pt idx="0">
                <c:v>Opening</c:v>
              </c:pt>
              <c:pt idx="1">
                <c:v>New logo</c:v>
              </c:pt>
              <c:pt idx="2">
                <c:v>Expansion</c:v>
              </c:pt>
              <c:pt idx="3">
                <c:v>Contraction</c:v>
              </c:pt>
              <c:pt idx="4">
                <c:v>Churn</c:v>
              </c:pt>
              <c:pt idx="5">
                <c:v>Closing</c:v>
              </c:pt>
            </c:strLit>
          </c:cat>
          <c:val>
            <c:numLit>
              <c:formatCode>"$"0.0"M"</c:formatCode>
              <c:ptCount val="6"/>
              <c:pt idx="0">
                <c:v>24.1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24.6</c:v>
              </c:pt>
            </c:numLit>
          </c:val>
          <c:extLst>
            <c:ext xmlns:c16="http://schemas.microsoft.com/office/drawing/2014/chart" uri="{C3380CC4-5D6E-409C-BE32-E72D297353CC}">
              <c16:uniqueId val="{00000001-BD22-8E4F-95AE-0E11DBC46D47}"/>
            </c:ext>
          </c:extLst>
        </c:ser>
        <c:ser>
          <c:idx val="2"/>
          <c:order val="2"/>
          <c:tx>
            <c:v>Added</c:v>
          </c:tx>
          <c:spPr>
            <a:solidFill>
              <a:srgbClr val="B66E4F"/>
            </a:solidFill>
          </c:spPr>
          <c:invertIfNegative val="0"/>
          <c:cat>
            <c:strLit>
              <c:ptCount val="6"/>
              <c:pt idx="0">
                <c:v>Opening</c:v>
              </c:pt>
              <c:pt idx="1">
                <c:v>New logo</c:v>
              </c:pt>
              <c:pt idx="2">
                <c:v>Expansion</c:v>
              </c:pt>
              <c:pt idx="3">
                <c:v>Contraction</c:v>
              </c:pt>
              <c:pt idx="4">
                <c:v>Churn</c:v>
              </c:pt>
              <c:pt idx="5">
                <c:v>Closing</c:v>
              </c:pt>
            </c:strLit>
          </c:cat>
          <c:val>
            <c:numLit>
              <c:formatCode>"$"0.0"M"</c:formatCode>
              <c:ptCount val="6"/>
              <c:pt idx="0">
                <c:v>0</c:v>
              </c:pt>
              <c:pt idx="1">
                <c:v>0.47</c:v>
              </c:pt>
              <c:pt idx="2">
                <c:v>0.15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2-BD22-8E4F-95AE-0E11DBC46D47}"/>
            </c:ext>
          </c:extLst>
        </c:ser>
        <c:ser>
          <c:idx val="3"/>
          <c:order val="3"/>
          <c:tx>
            <c:v>Lost</c:v>
          </c:tx>
          <c:spPr>
            <a:solidFill>
              <a:srgbClr val="D8AEA4"/>
            </a:solidFill>
          </c:spPr>
          <c:invertIfNegative val="0"/>
          <c:cat>
            <c:strLit>
              <c:ptCount val="6"/>
              <c:pt idx="0">
                <c:v>Opening</c:v>
              </c:pt>
              <c:pt idx="1">
                <c:v>New logo</c:v>
              </c:pt>
              <c:pt idx="2">
                <c:v>Expansion</c:v>
              </c:pt>
              <c:pt idx="3">
                <c:v>Contraction</c:v>
              </c:pt>
              <c:pt idx="4">
                <c:v>Churn</c:v>
              </c:pt>
              <c:pt idx="5">
                <c:v>Closing</c:v>
              </c:pt>
            </c:strLit>
          </c:cat>
          <c:val>
            <c:numLit>
              <c:formatCode>"$"0.0"M"</c:formatCode>
              <c:ptCount val="6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0.04</c:v>
              </c:pt>
              <c:pt idx="4">
                <c:v>0.08</c:v>
              </c:pt>
              <c:pt idx="5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3-BD22-8E4F-95AE-0E11DBC46D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FD5D2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4.8"/>
          <c:min val="24"/>
        </c:scaling>
        <c:delete val="0"/>
        <c:axPos val="l"/>
        <c:majorGridlines>
          <c:spPr>
            <a:ln w="9525">
              <a:solidFill>
                <a:srgbClr val="DFD5D2"/>
              </a:solidFill>
              <a:prstDash val="solid"/>
            </a:ln>
          </c:spPr>
        </c:majorGridlines>
        <c:numFmt formatCode="&quot;$&quot;0.0&quot;M&quot;" sourceLinked="1"/>
        <c:majorTickMark val="none"/>
        <c:minorTickMark val="none"/>
        <c:tickLblPos val="nextTo"/>
        <c:spPr>
          <a:ln w="9525">
            <a:solidFill>
              <a:srgbClr val="DFD5D2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 lang="en-US"/>
          </a:p>
        </c:txPr>
        <c:crossAx val="48650112"/>
        <c:crosses val="autoZero"/>
        <c:crossBetween val="between"/>
        <c:majorUnit val="0.2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Workspaces</c:v>
          </c:tx>
          <c:spPr>
            <a:solidFill>
              <a:srgbClr val="B66E4F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F0E5DF"/>
              </a:solidFill>
            </c:spPr>
            <c:extLst>
              <c:ext xmlns:c16="http://schemas.microsoft.com/office/drawing/2014/chart" uri="{C3380CC4-5D6E-409C-BE32-E72D297353CC}">
                <c16:uniqueId val="{00000001-9A19-E947-B0FD-81E73CBDFB71}"/>
              </c:ext>
            </c:extLst>
          </c:dPt>
          <c:dPt>
            <c:idx val="1"/>
            <c:invertIfNegative val="0"/>
            <c:bubble3D val="0"/>
            <c:spPr>
              <a:solidFill>
                <a:srgbClr val="D8AEA4"/>
              </a:solidFill>
            </c:spPr>
            <c:extLst>
              <c:ext xmlns:c16="http://schemas.microsoft.com/office/drawing/2014/chart" uri="{C3380CC4-5D6E-409C-BE32-E72D297353CC}">
                <c16:uniqueId val="{00000003-9A19-E947-B0FD-81E73CBDFB7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A19-E947-B0FD-81E73CBDFB71}"/>
              </c:ext>
            </c:extLst>
          </c:dPt>
          <c:dPt>
            <c:idx val="3"/>
            <c:invertIfNegative val="0"/>
            <c:bubble3D val="0"/>
            <c:spPr>
              <a:solidFill>
                <a:srgbClr val="5B2D46"/>
              </a:solidFill>
            </c:spPr>
            <c:extLst>
              <c:ext xmlns:c16="http://schemas.microsoft.com/office/drawing/2014/chart" uri="{C3380CC4-5D6E-409C-BE32-E72D297353CC}">
                <c16:uniqueId val="{00000007-9A19-E947-B0FD-81E73CBDFB7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 b="1">
                    <a:solidFill>
                      <a:srgbClr val="301C2B"/>
                    </a:solidFill>
                    <a:latin typeface="IBM Plex Sans"/>
                    <a:ea typeface="IBM Plex Sans"/>
                    <a:cs typeface="IBM Plex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Created</c:v>
              </c:pt>
              <c:pt idx="1">
                <c:v>Connected data</c:v>
              </c:pt>
              <c:pt idx="2">
                <c:v>First workflow</c:v>
              </c:pt>
              <c:pt idx="3">
                <c:v>First value</c:v>
              </c:pt>
            </c:strLit>
          </c:cat>
          <c:val>
            <c:numLit>
              <c:formatCode>General</c:formatCode>
              <c:ptCount val="4"/>
              <c:pt idx="0">
                <c:v>220</c:v>
              </c:pt>
              <c:pt idx="1">
                <c:v>198</c:v>
              </c:pt>
              <c:pt idx="2">
                <c:v>163</c:v>
              </c:pt>
              <c:pt idx="3">
                <c:v>136</c:v>
              </c:pt>
            </c:numLit>
          </c:val>
          <c:extLst>
            <c:ext xmlns:c16="http://schemas.microsoft.com/office/drawing/2014/chart" uri="{C3380CC4-5D6E-409C-BE32-E72D297353CC}">
              <c16:uniqueId val="{00000008-9A19-E947-B0FD-81E73CBDFB7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?>
<Relationships xmlns="http://schemas.openxmlformats.org/package/2006/relationships"><Relationship Id="rId2" Type="http://schemas.openxmlformats.org/officeDocument/2006/relationships/image" Target="../media/image1-optimized.jp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?>
<Relationships xmlns="http://schemas.openxmlformats.org/package/2006/relationships"><Relationship Id="rId2" Type="http://schemas.openxmlformats.org/officeDocument/2006/relationships/image" Target="../media/image1-optimized.jp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lder · Performance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>
            <a:extLst>
              <a:ext uri="{FF2B5EF4-FFF2-40B4-BE49-F238E27FC236}">
                <a16:creationId xmlns:a16="http://schemas.microsoft.com/office/drawing/2014/main" id="{42EBEA5B-E464-490F-831B-174CA4507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438150"/>
            <a:ext cx="11163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3450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defPPr>
            <a:lvl1pPr algn="l">
              <a:defRPr sz="3450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l">
              <a:defRPr sz="3450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pPr>
            <a:endParaRPr/>
          </a:p>
        </p:txBody>
      </p:sp>
      <p:sp>
        <p:nvSpPr>
          <p:cNvPr id="3" name="table-intro">
            <a:extLst>
              <a:ext uri="{FF2B5EF4-FFF2-40B4-BE49-F238E27FC236}">
                <a16:creationId xmlns:a16="http://schemas.microsoft.com/office/drawing/2014/main" id="{289A4A9F-C7EF-4F19-A0FD-56B0F99C3D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350" y="1162050"/>
            <a:ext cx="11163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75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875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95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4" name="context-note">
            <a:extLst>
              <a:ext uri="{FF2B5EF4-FFF2-40B4-BE49-F238E27FC236}">
                <a16:creationId xmlns:a16="http://schemas.microsoft.com/office/drawing/2014/main" id="{8157DA15-4E4F-4B83-AD7E-5783A1BA4A59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14350" y="5943600"/>
            <a:ext cx="11163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20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20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20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</p:spTree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Alder ·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title">
            <a:extLst>
              <a:ext uri="{FF2B5EF4-FFF2-40B4-BE49-F238E27FC236}">
                <a16:creationId xmlns:a16="http://schemas.microsoft.com/office/drawing/2014/main" id="{3773C3C0-2201-42FD-B34A-49A7AF3C9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428625"/>
            <a:ext cx="98107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4875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defPPr>
            <a:lvl1pPr algn="l">
              <a:defRPr sz="4875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l">
              <a:defRPr sz="4875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pPr>
            <a:endParaRPr/>
          </a:p>
        </p:txBody>
      </p:sp>
      <p:sp>
        <p:nvSpPr>
          <p:cNvPr id="3" name="cover-company">
            <a:extLst>
              <a:ext uri="{FF2B5EF4-FFF2-40B4-BE49-F238E27FC236}">
                <a16:creationId xmlns:a16="http://schemas.microsoft.com/office/drawing/2014/main" id="{1DCAF912-1EEE-4A30-BC0B-4C10FF24C03A}"/>
              </a:ext>
            </a:extLst>
          </p:cNvPr>
          <p:cNvSpPr>
            <a:spLocks noGrp="1"/>
          </p:cNvSpPr>
          <p:nvPr/>
        </p:nvSpPr>
        <p:spPr>
          <a:xfrm>
            <a:off x="10002910" y="401710"/>
            <a:ext cx="18288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r">
              <a:defRPr sz="3150" b="1">
                <a:solidFill>
                  <a:srgbClr val="5B2D46"/>
                </a:solidFill>
                <a:latin typeface="Manrope"/>
                <a:ea typeface="Manrope"/>
                <a:cs typeface="Manrope"/>
              </a:defRPr>
            </a:defPPr>
            <a:lvl1pPr algn="r">
              <a:defRPr sz="3150" b="1">
                <a:solidFill>
                  <a:srgbClr val="5B2D46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r">
              <a:defRPr sz="3150" b="1">
                <a:solidFill>
                  <a:srgbClr val="5B2D46"/>
                </a:solidFill>
                <a:latin typeface="Manrope"/>
                <a:ea typeface="Manrope"/>
                <a:cs typeface="Manrope"/>
              </a:defRPr>
            </a:pPr>
            <a:r>
              <a:rPr sz="3150" b="1">
                <a:solidFill>
                  <a:srgbClr val="5B2D46"/>
                </a:solidFill>
                <a:latin typeface="Manrope"/>
                <a:ea typeface="Manrope"/>
                <a:cs typeface="Manrope"/>
              </a:rPr>
              <a:t>Alder</a:t>
            </a:r>
          </a:p>
        </p:txBody>
      </p:sp>
      <p:sp>
        <p:nvSpPr>
          <p:cNvPr id="4" name="cover-date">
            <a:extLst>
              <a:ext uri="{FF2B5EF4-FFF2-40B4-BE49-F238E27FC236}">
                <a16:creationId xmlns:a16="http://schemas.microsoft.com/office/drawing/2014/main" id="{F4720982-7AEB-47BE-B606-655CECBE8A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950" y="1543050"/>
            <a:ext cx="571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0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80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80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pic>
        <p:nvPicPr>
          <p:cNvPr id="5" name="cover-artwork">
            <a:extLst>
              <a:ext uri="{FF2B5EF4-FFF2-40B4-BE49-F238E27FC236}">
                <a16:creationId xmlns:a16="http://schemas.microsoft.com/office/drawing/2014/main" id="{E507052D-A7AD-4103-A989-EBDD1D90A0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346" b="17346"/>
          <a:stretch/>
        </p:blipFill>
        <p:spPr>
          <a:xfrm>
            <a:off x="342900" y="2286000"/>
            <a:ext cx="11506200" cy="4229100"/>
          </a:xfrm>
          <a:prstGeom prst="rect">
            <a:avLst/>
          </a:prstGeom>
        </p:spPr>
      </p:pic>
    </p:spTree>
  </p:cSld>
  <p:clrMapOvr>
    <a:masterClrMapping/>
  </p:clrMapOvr>
  <p:hf sldNum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lder · Executive 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-background">
            <a:extLst>
              <a:ext uri="{FF2B5EF4-FFF2-40B4-BE49-F238E27FC236}">
                <a16:creationId xmlns:a16="http://schemas.microsoft.com/office/drawing/2014/main" id="{79B8F93D-0CF5-410D-BA9C-94308B7A9960}"/>
              </a:ext>
            </a:extLst>
          </p:cNvPr>
          <p:cNvSpPr>
            <a:spLocks noGrp="1"/>
          </p:cNvSpPr>
          <p:nvPr/>
        </p:nvSpPr>
        <p:spPr>
          <a:xfrm>
            <a:off x="0" y="3834"/>
            <a:ext cx="5467350" cy="6858000"/>
          </a:xfrm>
          <a:prstGeom prst="rect">
            <a:avLst/>
          </a:prstGeom>
          <a:solidFill>
            <a:srgbClr val="5B2D46"/>
          </a:solidFill>
          <a:ln w="0">
            <a:noFill/>
            <a:prstDash val="solid"/>
          </a:ln>
        </p:spPr>
      </p:sp>
      <p:sp>
        <p:nvSpPr>
          <p:cNvPr id="3" name="section-name">
            <a:extLst>
              <a:ext uri="{FF2B5EF4-FFF2-40B4-BE49-F238E27FC236}">
                <a16:creationId xmlns:a16="http://schemas.microsoft.com/office/drawing/2014/main" id="{4223574B-A7BF-4FCC-B2B7-28A2AEA56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23875"/>
            <a:ext cx="445770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3600" b="1">
                <a:solidFill>
                  <a:srgbClr val="FBF8F3"/>
                </a:solidFill>
                <a:latin typeface="Manrope"/>
                <a:ea typeface="Manrope"/>
                <a:cs typeface="Manrope"/>
              </a:defRPr>
            </a:defPPr>
            <a:lvl1pPr algn="l">
              <a:defRPr sz="3600" b="1">
                <a:solidFill>
                  <a:srgbClr val="FBF8F3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l">
              <a:defRPr sz="1275" b="1">
                <a:solidFill>
                  <a:srgbClr val="D8AEA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4" name="summary-statement">
            <a:extLst>
              <a:ext uri="{FF2B5EF4-FFF2-40B4-BE49-F238E27FC236}">
                <a16:creationId xmlns:a16="http://schemas.microsoft.com/office/drawing/2014/main" id="{F02BC9E9-75F3-45FA-9567-924F740C9C3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14350" y="2190750"/>
            <a:ext cx="4457700" cy="2428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775" b="0">
                <a:solidFill>
                  <a:srgbClr val="FBF8F3"/>
                </a:solidFill>
                <a:latin typeface="Manrope"/>
                <a:ea typeface="Manrope"/>
                <a:cs typeface="Manrope"/>
              </a:defRPr>
            </a:defPPr>
            <a:lvl1pPr algn="l">
              <a:defRPr sz="2775" b="0">
                <a:solidFill>
                  <a:srgbClr val="FBF8F3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l">
              <a:defRPr sz="4500" b="0">
                <a:solidFill>
                  <a:srgbClr val="FBF8F3"/>
                </a:solidFill>
                <a:latin typeface="Manrope"/>
                <a:ea typeface="Manrope"/>
                <a:cs typeface="Manrope"/>
              </a:defRPr>
            </a:pPr>
            <a:endParaRPr/>
          </a:p>
        </p:txBody>
      </p:sp>
      <p:sp>
        <p:nvSpPr>
          <p:cNvPr id="5" name="summary-action">
            <a:extLst>
              <a:ext uri="{FF2B5EF4-FFF2-40B4-BE49-F238E27FC236}">
                <a16:creationId xmlns:a16="http://schemas.microsoft.com/office/drawing/2014/main" id="{FB8637A1-A410-4F38-BA22-9CD710D8F521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514350" y="5219700"/>
            <a:ext cx="4419600" cy="1295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725" b="0">
                <a:solidFill>
                  <a:srgbClr val="D8AEA4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725" b="0">
                <a:solidFill>
                  <a:srgbClr val="D8AEA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950" b="0">
                <a:solidFill>
                  <a:srgbClr val="D8AEA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6" name="metric-0">
            <a:extLst>
              <a:ext uri="{FF2B5EF4-FFF2-40B4-BE49-F238E27FC236}">
                <a16:creationId xmlns:a16="http://schemas.microsoft.com/office/drawing/2014/main" id="{84FE2118-B33C-4E5D-9C14-1BA8FD95F06A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6115050" y="552450"/>
            <a:ext cx="5105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5400" b="0">
                <a:solidFill>
                  <a:srgbClr val="5B2D46"/>
                </a:solidFill>
                <a:latin typeface="Manrope"/>
                <a:ea typeface="Manrope"/>
                <a:cs typeface="Manrope"/>
              </a:defRPr>
            </a:defPPr>
            <a:lvl1pPr algn="l">
              <a:defRPr sz="5400" b="0">
                <a:solidFill>
                  <a:srgbClr val="5B2D46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l">
              <a:defRPr sz="5400" b="0">
                <a:solidFill>
                  <a:srgbClr val="5B2D46"/>
                </a:solidFill>
                <a:latin typeface="Manrope"/>
                <a:ea typeface="Manrope"/>
                <a:cs typeface="Manrope"/>
              </a:defRPr>
            </a:pPr>
            <a:endParaRPr/>
          </a:p>
        </p:txBody>
      </p:sp>
      <p:sp>
        <p:nvSpPr>
          <p:cNvPr id="7" name="metric-label-0">
            <a:extLst>
              <a:ext uri="{FF2B5EF4-FFF2-40B4-BE49-F238E27FC236}">
                <a16:creationId xmlns:a16="http://schemas.microsoft.com/office/drawing/2014/main" id="{2789C92F-69F7-47B7-A8C2-E91DDFF6AFC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153150" y="1400175"/>
            <a:ext cx="5086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950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950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950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8" name="metric-context-0">
            <a:extLst>
              <a:ext uri="{FF2B5EF4-FFF2-40B4-BE49-F238E27FC236}">
                <a16:creationId xmlns:a16="http://schemas.microsoft.com/office/drawing/2014/main" id="{BD943B68-5A5D-40CC-8780-B9DB5B606DD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153150" y="1800225"/>
            <a:ext cx="5086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65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65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9" name="rule">
            <a:extLst>
              <a:ext uri="{FF2B5EF4-FFF2-40B4-BE49-F238E27FC236}">
                <a16:creationId xmlns:a16="http://schemas.microsoft.com/office/drawing/2014/main" id="{99D26C02-511B-432F-8A03-E0601D9EF9D7}"/>
              </a:ext>
            </a:extLst>
          </p:cNvPr>
          <p:cNvSpPr>
            <a:spLocks noGrp="1"/>
          </p:cNvSpPr>
          <p:nvPr/>
        </p:nvSpPr>
        <p:spPr>
          <a:xfrm>
            <a:off x="6153150" y="2219325"/>
            <a:ext cx="5048250" cy="9525"/>
          </a:xfrm>
          <a:prstGeom prst="rect">
            <a:avLst/>
          </a:prstGeom>
          <a:solidFill>
            <a:srgbClr val="DFD5D2"/>
          </a:solidFill>
          <a:ln w="0">
            <a:noFill/>
            <a:prstDash val="solid"/>
          </a:ln>
        </p:spPr>
      </p:sp>
      <p:sp>
        <p:nvSpPr>
          <p:cNvPr id="10" name="metric-1">
            <a:extLst>
              <a:ext uri="{FF2B5EF4-FFF2-40B4-BE49-F238E27FC236}">
                <a16:creationId xmlns:a16="http://schemas.microsoft.com/office/drawing/2014/main" id="{41EE61A9-A9AB-44EE-AF3B-6CEF36F88FFF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115050" y="2419350"/>
            <a:ext cx="5105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5400" b="0">
                <a:solidFill>
                  <a:srgbClr val="B66E4F"/>
                </a:solidFill>
                <a:latin typeface="Manrope"/>
                <a:ea typeface="Manrope"/>
                <a:cs typeface="Manrope"/>
              </a:defRPr>
            </a:defPPr>
            <a:lvl1pPr algn="l">
              <a:defRPr sz="5400" b="0">
                <a:solidFill>
                  <a:srgbClr val="B66E4F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l">
              <a:defRPr sz="5400" b="0">
                <a:solidFill>
                  <a:srgbClr val="B66E4F"/>
                </a:solidFill>
                <a:latin typeface="Manrope"/>
                <a:ea typeface="Manrope"/>
                <a:cs typeface="Manrope"/>
              </a:defRPr>
            </a:pPr>
            <a:endParaRPr/>
          </a:p>
        </p:txBody>
      </p:sp>
      <p:sp>
        <p:nvSpPr>
          <p:cNvPr id="11" name="metric-label-1">
            <a:extLst>
              <a:ext uri="{FF2B5EF4-FFF2-40B4-BE49-F238E27FC236}">
                <a16:creationId xmlns:a16="http://schemas.microsoft.com/office/drawing/2014/main" id="{109F6CEC-791D-4413-BF0E-A3B7F72B5E42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153150" y="3267075"/>
            <a:ext cx="5086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950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950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950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12" name="metric-context-1">
            <a:extLst>
              <a:ext uri="{FF2B5EF4-FFF2-40B4-BE49-F238E27FC236}">
                <a16:creationId xmlns:a16="http://schemas.microsoft.com/office/drawing/2014/main" id="{E444D0ED-1D35-42E3-90CE-115644B2945F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153150" y="3667125"/>
            <a:ext cx="5086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65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65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13" name="rule">
            <a:extLst>
              <a:ext uri="{FF2B5EF4-FFF2-40B4-BE49-F238E27FC236}">
                <a16:creationId xmlns:a16="http://schemas.microsoft.com/office/drawing/2014/main" id="{76DD9206-A10B-4002-8A0C-FD2E016F5A68}"/>
              </a:ext>
            </a:extLst>
          </p:cNvPr>
          <p:cNvSpPr>
            <a:spLocks noGrp="1"/>
          </p:cNvSpPr>
          <p:nvPr/>
        </p:nvSpPr>
        <p:spPr>
          <a:xfrm>
            <a:off x="6153150" y="4086225"/>
            <a:ext cx="5048250" cy="9525"/>
          </a:xfrm>
          <a:prstGeom prst="rect">
            <a:avLst/>
          </a:prstGeom>
          <a:solidFill>
            <a:srgbClr val="DFD5D2"/>
          </a:solidFill>
          <a:ln w="0">
            <a:noFill/>
            <a:prstDash val="solid"/>
          </a:ln>
        </p:spPr>
      </p:sp>
      <p:sp>
        <p:nvSpPr>
          <p:cNvPr id="14" name="metric-2">
            <a:extLst>
              <a:ext uri="{FF2B5EF4-FFF2-40B4-BE49-F238E27FC236}">
                <a16:creationId xmlns:a16="http://schemas.microsoft.com/office/drawing/2014/main" id="{297D0C38-0969-4F48-985C-5BDDD968C130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115050" y="4286250"/>
            <a:ext cx="5105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5400" b="0">
                <a:solidFill>
                  <a:srgbClr val="5B2D46"/>
                </a:solidFill>
                <a:latin typeface="Manrope"/>
                <a:ea typeface="Manrope"/>
                <a:cs typeface="Manrope"/>
              </a:defRPr>
            </a:defPPr>
            <a:lvl1pPr algn="l">
              <a:defRPr sz="5400" b="0">
                <a:solidFill>
                  <a:srgbClr val="5B2D46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l">
              <a:defRPr sz="5400" b="0">
                <a:solidFill>
                  <a:srgbClr val="5B2D46"/>
                </a:solidFill>
                <a:latin typeface="Manrope"/>
                <a:ea typeface="Manrope"/>
                <a:cs typeface="Manrope"/>
              </a:defRPr>
            </a:pPr>
            <a:endParaRPr/>
          </a:p>
        </p:txBody>
      </p:sp>
      <p:sp>
        <p:nvSpPr>
          <p:cNvPr id="15" name="metric-label-2">
            <a:extLst>
              <a:ext uri="{FF2B5EF4-FFF2-40B4-BE49-F238E27FC236}">
                <a16:creationId xmlns:a16="http://schemas.microsoft.com/office/drawing/2014/main" id="{F0E35EA7-07D5-4A6D-82C8-8C5A8C164977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153150" y="5133975"/>
            <a:ext cx="5086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950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950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950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16" name="metric-context-2">
            <a:extLst>
              <a:ext uri="{FF2B5EF4-FFF2-40B4-BE49-F238E27FC236}">
                <a16:creationId xmlns:a16="http://schemas.microsoft.com/office/drawing/2014/main" id="{908CF971-EF55-4552-AC12-4AF7BB0E3F96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153150" y="5534025"/>
            <a:ext cx="5086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65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65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</p:spTree>
  </p:cSld>
  <p:clrMapOvr>
    <a:masterClrMapping/>
  </p:clrMapOvr>
  <p:hf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lder · Metric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>
            <a:extLst>
              <a:ext uri="{FF2B5EF4-FFF2-40B4-BE49-F238E27FC236}">
                <a16:creationId xmlns:a16="http://schemas.microsoft.com/office/drawing/2014/main" id="{C47657A4-D217-4232-8CCC-47B7BA076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438150"/>
            <a:ext cx="11163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3450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defPPr>
            <a:lvl1pPr algn="l">
              <a:defRPr sz="3450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l">
              <a:defRPr sz="3450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pPr>
            <a:endParaRPr/>
          </a:p>
        </p:txBody>
      </p:sp>
      <p:sp>
        <p:nvSpPr>
          <p:cNvPr id="3" name="growth-metric">
            <a:extLst>
              <a:ext uri="{FF2B5EF4-FFF2-40B4-BE49-F238E27FC236}">
                <a16:creationId xmlns:a16="http://schemas.microsoft.com/office/drawing/2014/main" id="{778410A0-C145-4503-9361-5CE10C1369B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14350" y="1924050"/>
            <a:ext cx="2952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6600" b="0">
                <a:solidFill>
                  <a:srgbClr val="5B2D46"/>
                </a:solidFill>
                <a:latin typeface="Manrope"/>
                <a:ea typeface="Manrope"/>
                <a:cs typeface="Manrope"/>
              </a:defRPr>
            </a:defPPr>
            <a:lvl1pPr algn="l">
              <a:defRPr sz="6600" b="0">
                <a:solidFill>
                  <a:srgbClr val="5B2D46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l">
              <a:defRPr sz="6600" b="0">
                <a:solidFill>
                  <a:srgbClr val="5B2D46"/>
                </a:solidFill>
                <a:latin typeface="Manrope"/>
                <a:ea typeface="Manrope"/>
                <a:cs typeface="Manrope"/>
              </a:defRPr>
            </a:pPr>
            <a:endParaRPr/>
          </a:p>
        </p:txBody>
      </p:sp>
      <p:sp>
        <p:nvSpPr>
          <p:cNvPr id="4" name="growth-label">
            <a:extLst>
              <a:ext uri="{FF2B5EF4-FFF2-40B4-BE49-F238E27FC236}">
                <a16:creationId xmlns:a16="http://schemas.microsoft.com/office/drawing/2014/main" id="{9C02BCF0-A2C6-4C04-B359-83F76FF17421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552450" y="2990850"/>
            <a:ext cx="28956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025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2025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2025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5" name="growth-explanation">
            <a:extLst>
              <a:ext uri="{FF2B5EF4-FFF2-40B4-BE49-F238E27FC236}">
                <a16:creationId xmlns:a16="http://schemas.microsoft.com/office/drawing/2014/main" id="{8304A932-23DF-4DD9-A8E3-E9B0033E4E8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552450" y="3600450"/>
            <a:ext cx="2857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025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2025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2025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6" name="context-note">
            <a:extLst>
              <a:ext uri="{FF2B5EF4-FFF2-40B4-BE49-F238E27FC236}">
                <a16:creationId xmlns:a16="http://schemas.microsoft.com/office/drawing/2014/main" id="{EA0C1FA9-7D3E-44D4-B1B3-DDDBA82F016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14350" y="5943600"/>
            <a:ext cx="11163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20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20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20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7" name="takeaway-subtitle">
            <a:extLst>
              <a:ext uri="{FF2B5EF4-FFF2-40B4-BE49-F238E27FC236}">
                <a16:creationId xmlns:a16="http://schemas.microsoft.com/office/drawing/2014/main" id="{7876A1E0-0FE8-4FB6-BC65-2F669CCB30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350" y="1162050"/>
            <a:ext cx="11163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>
              <a:defRPr sz="1875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>
              <a:defRPr sz="1875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</p:spTree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lder · ARR Bri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>
            <a:extLst>
              <a:ext uri="{FF2B5EF4-FFF2-40B4-BE49-F238E27FC236}">
                <a16:creationId xmlns:a16="http://schemas.microsoft.com/office/drawing/2014/main" id="{D6163897-704D-45C9-940D-CD90A4B81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436376"/>
            <a:ext cx="11163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3450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defPPr>
            <a:lvl1pPr algn="l">
              <a:defRPr sz="3450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l">
              <a:defRPr sz="3450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pPr>
            <a:endParaRPr/>
          </a:p>
        </p:txBody>
      </p:sp>
      <p:sp>
        <p:nvSpPr>
          <p:cNvPr id="3" name="bridge-context">
            <a:extLst>
              <a:ext uri="{FF2B5EF4-FFF2-40B4-BE49-F238E27FC236}">
                <a16:creationId xmlns:a16="http://schemas.microsoft.com/office/drawing/2014/main" id="{AAC5672B-9DB8-4AA8-8EA5-37F55626B9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350" y="1162050"/>
            <a:ext cx="11163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75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875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210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4" name="bridge-label-0">
            <a:extLst>
              <a:ext uri="{FF2B5EF4-FFF2-40B4-BE49-F238E27FC236}">
                <a16:creationId xmlns:a16="http://schemas.microsoft.com/office/drawing/2014/main" id="{224CCBCF-C5B4-4D59-BBCA-06B84B6A17E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600200" y="4581525"/>
            <a:ext cx="1295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650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defPPr>
            <a:lvl1pPr algn="ctr">
              <a:defRPr sz="1650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ctr">
              <a:defRPr sz="1650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5" name="bridge-label-1">
            <a:extLst>
              <a:ext uri="{FF2B5EF4-FFF2-40B4-BE49-F238E27FC236}">
                <a16:creationId xmlns:a16="http://schemas.microsoft.com/office/drawing/2014/main" id="{9C1675E2-8C55-47D8-9A53-586E9144DE6A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3257550" y="2609850"/>
            <a:ext cx="1295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650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defPPr>
            <a:lvl1pPr algn="ctr">
              <a:defRPr sz="1650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ctr">
              <a:defRPr sz="1650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6" name="bridge-label-2">
            <a:extLst>
              <a:ext uri="{FF2B5EF4-FFF2-40B4-BE49-F238E27FC236}">
                <a16:creationId xmlns:a16="http://schemas.microsoft.com/office/drawing/2014/main" id="{2444F9F5-B248-4664-A2C4-364D87E35B61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933950" y="1990725"/>
            <a:ext cx="1295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650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defPPr>
            <a:lvl1pPr algn="ctr">
              <a:defRPr sz="1650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ctr">
              <a:defRPr sz="1650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7" name="bridge-label-3">
            <a:extLst>
              <a:ext uri="{FF2B5EF4-FFF2-40B4-BE49-F238E27FC236}">
                <a16:creationId xmlns:a16="http://schemas.microsoft.com/office/drawing/2014/main" id="{9EFB0AA3-0417-4EA9-B628-F2CDCF0C9D4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581775" y="1990725"/>
            <a:ext cx="1295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650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defPPr>
            <a:lvl1pPr algn="ctr">
              <a:defRPr sz="1650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ctr">
              <a:defRPr sz="1650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8" name="bridge-label-4">
            <a:extLst>
              <a:ext uri="{FF2B5EF4-FFF2-40B4-BE49-F238E27FC236}">
                <a16:creationId xmlns:a16="http://schemas.microsoft.com/office/drawing/2014/main" id="{0460816F-E927-4F5F-A45D-84F73EF10792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8239125" y="2171700"/>
            <a:ext cx="1295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650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defPPr>
            <a:lvl1pPr algn="ctr">
              <a:defRPr sz="1650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ctr">
              <a:defRPr sz="1650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9" name="bridge-label-5">
            <a:extLst>
              <a:ext uri="{FF2B5EF4-FFF2-40B4-BE49-F238E27FC236}">
                <a16:creationId xmlns:a16="http://schemas.microsoft.com/office/drawing/2014/main" id="{94923C04-091F-4979-82B7-DD547B54A571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9906000" y="2476500"/>
            <a:ext cx="1295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650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defPPr>
            <a:lvl1pPr algn="ctr">
              <a:defRPr sz="1650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ctr">
              <a:defRPr sz="1650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10" name="context-note">
            <a:extLst>
              <a:ext uri="{FF2B5EF4-FFF2-40B4-BE49-F238E27FC236}">
                <a16:creationId xmlns:a16="http://schemas.microsoft.com/office/drawing/2014/main" id="{AF3C5D3B-2D29-4809-AA48-349A8B5FED4E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514350" y="5943600"/>
            <a:ext cx="11163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20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20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20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</p:spTree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lder · Activation Fun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>
            <a:extLst>
              <a:ext uri="{FF2B5EF4-FFF2-40B4-BE49-F238E27FC236}">
                <a16:creationId xmlns:a16="http://schemas.microsoft.com/office/drawing/2014/main" id="{6580089B-C5FE-422A-9DFE-40D19D5B8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438150"/>
            <a:ext cx="11163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3450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defPPr>
            <a:lvl1pPr algn="l">
              <a:defRPr sz="3450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l">
              <a:defRPr sz="3450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pPr>
            <a:endParaRPr/>
          </a:p>
        </p:txBody>
      </p:sp>
      <p:sp>
        <p:nvSpPr>
          <p:cNvPr id="3" name="activation-statement">
            <a:extLst>
              <a:ext uri="{FF2B5EF4-FFF2-40B4-BE49-F238E27FC236}">
                <a16:creationId xmlns:a16="http://schemas.microsoft.com/office/drawing/2014/main" id="{8D4EDA54-0375-4098-9DDE-86827094DC5E}"/>
              </a:ext>
            </a:extLst>
          </p:cNvPr>
          <p:cNvSpPr>
            <a:spLocks noGrp="1"/>
          </p:cNvSpPr>
          <p:nvPr/>
        </p:nvSpPr>
        <p:spPr>
          <a:xfrm>
            <a:off x="514350" y="1743075"/>
            <a:ext cx="3305175" cy="3943350"/>
          </a:xfrm>
          <a:prstGeom prst="rect">
            <a:avLst/>
          </a:prstGeom>
          <a:solidFill>
            <a:srgbClr val="5B2D46"/>
          </a:solidFill>
          <a:ln w="0">
            <a:noFill/>
            <a:prstDash val="solid"/>
          </a:ln>
        </p:spPr>
      </p:sp>
      <p:sp>
        <p:nvSpPr>
          <p:cNvPr id="4" name="activation-gap">
            <a:extLst>
              <a:ext uri="{FF2B5EF4-FFF2-40B4-BE49-F238E27FC236}">
                <a16:creationId xmlns:a16="http://schemas.microsoft.com/office/drawing/2014/main" id="{54CE2213-E11E-4570-9943-32F470F1E43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800100" y="1990725"/>
            <a:ext cx="2714625" cy="1228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7800" b="0">
                <a:solidFill>
                  <a:srgbClr val="FBF8F3"/>
                </a:solidFill>
                <a:latin typeface="Manrope"/>
                <a:ea typeface="Manrope"/>
                <a:cs typeface="Manrope"/>
              </a:defRPr>
            </a:defPPr>
            <a:lvl1pPr algn="l">
              <a:defRPr sz="7800" b="0">
                <a:solidFill>
                  <a:srgbClr val="FBF8F3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l">
              <a:defRPr sz="7800" b="0">
                <a:solidFill>
                  <a:srgbClr val="FBF8F3"/>
                </a:solidFill>
                <a:latin typeface="Manrope"/>
                <a:ea typeface="Manrope"/>
                <a:cs typeface="Manrope"/>
              </a:defRPr>
            </a:pPr>
            <a:endParaRPr/>
          </a:p>
        </p:txBody>
      </p:sp>
      <p:sp>
        <p:nvSpPr>
          <p:cNvPr id="5" name="activation-gap-label">
            <a:extLst>
              <a:ext uri="{FF2B5EF4-FFF2-40B4-BE49-F238E27FC236}">
                <a16:creationId xmlns:a16="http://schemas.microsoft.com/office/drawing/2014/main" id="{D8733FE4-AD3B-4C18-9968-B4C31C5B7BA1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828675" y="3238500"/>
            <a:ext cx="2667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325" b="0">
                <a:solidFill>
                  <a:srgbClr val="FBF8F3"/>
                </a:solidFill>
                <a:latin typeface="Manrope"/>
                <a:ea typeface="Manrope"/>
                <a:cs typeface="Manrope"/>
              </a:defRPr>
            </a:defPPr>
            <a:lvl1pPr algn="l">
              <a:defRPr sz="2325" b="0">
                <a:solidFill>
                  <a:srgbClr val="FBF8F3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l">
              <a:defRPr sz="2325" b="0">
                <a:solidFill>
                  <a:srgbClr val="FBF8F3"/>
                </a:solidFill>
                <a:latin typeface="Manrope"/>
                <a:ea typeface="Manrope"/>
                <a:cs typeface="Manrope"/>
              </a:defRPr>
            </a:pPr>
            <a:endParaRPr/>
          </a:p>
        </p:txBody>
      </p:sp>
      <p:sp>
        <p:nvSpPr>
          <p:cNvPr id="6" name="activation-current">
            <a:extLst>
              <a:ext uri="{FF2B5EF4-FFF2-40B4-BE49-F238E27FC236}">
                <a16:creationId xmlns:a16="http://schemas.microsoft.com/office/drawing/2014/main" id="{810BE97F-F85C-4EAD-82B4-0B2B15479B75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28675" y="4543425"/>
            <a:ext cx="25908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00" b="0">
                <a:solidFill>
                  <a:srgbClr val="D8AEA4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800" b="0">
                <a:solidFill>
                  <a:srgbClr val="D8AEA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800" b="0">
                <a:solidFill>
                  <a:srgbClr val="D8AEA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7" name="activation-insight">
            <a:extLst>
              <a:ext uri="{FF2B5EF4-FFF2-40B4-BE49-F238E27FC236}">
                <a16:creationId xmlns:a16="http://schemas.microsoft.com/office/drawing/2014/main" id="{EC27F68F-587B-4603-8428-850F108D33E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295775" y="5191125"/>
            <a:ext cx="71151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65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725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8" name="context-note">
            <a:extLst>
              <a:ext uri="{FF2B5EF4-FFF2-40B4-BE49-F238E27FC236}">
                <a16:creationId xmlns:a16="http://schemas.microsoft.com/office/drawing/2014/main" id="{9188722E-09E3-4162-8A76-C82B50DD3B8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514350" y="5943600"/>
            <a:ext cx="11163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20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20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20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9" name="takeaway-subtitle">
            <a:extLst>
              <a:ext uri="{FF2B5EF4-FFF2-40B4-BE49-F238E27FC236}">
                <a16:creationId xmlns:a16="http://schemas.microsoft.com/office/drawing/2014/main" id="{5628F4DC-5154-46F8-B42A-470D865904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350" y="1162050"/>
            <a:ext cx="11163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>
              <a:defRPr sz="1875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>
              <a:defRPr sz="1875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10" name="activation-stage-label-0">
            <a:extLst>
              <a:ext uri="{FF2B5EF4-FFF2-40B4-BE49-F238E27FC236}">
                <a16:creationId xmlns:a16="http://schemas.microsoft.com/office/drawing/2014/main" id="{04ABF6FE-E479-4C0F-AE54-3ED65365CCEE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457700" y="2105025"/>
            <a:ext cx="30003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650">
                <a:solidFill>
                  <a:srgbClr val="FBF8F3"/>
                </a:solidFill>
                <a:latin typeface="IBM Plex Sans"/>
                <a:ea typeface="IBM Plex Sans"/>
                <a:cs typeface="IBM Plex Sans"/>
              </a:defRPr>
            </a:defPPr>
            <a:lvl1pPr>
              <a:defRPr sz="1650">
                <a:solidFill>
                  <a:srgbClr val="FBF8F3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>
              <a:defRPr sz="1650">
                <a:solidFill>
                  <a:srgbClr val="FBF8F3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11" name="activation-stage-label-1">
            <a:extLst>
              <a:ext uri="{FF2B5EF4-FFF2-40B4-BE49-F238E27FC236}">
                <a16:creationId xmlns:a16="http://schemas.microsoft.com/office/drawing/2014/main" id="{44A9C9A5-F2E8-43B6-836C-B4DEAF233953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4457700" y="2771775"/>
            <a:ext cx="30003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650">
                <a:solidFill>
                  <a:srgbClr val="FBF8F3"/>
                </a:solidFill>
                <a:latin typeface="IBM Plex Sans"/>
                <a:ea typeface="IBM Plex Sans"/>
                <a:cs typeface="IBM Plex Sans"/>
              </a:defRPr>
            </a:defPPr>
            <a:lvl1pPr>
              <a:defRPr sz="1650">
                <a:solidFill>
                  <a:srgbClr val="FBF8F3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>
              <a:defRPr sz="1650">
                <a:solidFill>
                  <a:srgbClr val="FBF8F3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12" name="activation-stage-label-2">
            <a:extLst>
              <a:ext uri="{FF2B5EF4-FFF2-40B4-BE49-F238E27FC236}">
                <a16:creationId xmlns:a16="http://schemas.microsoft.com/office/drawing/2014/main" id="{0A7F5B3C-757B-4885-A80E-E4CE613448E0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457700" y="3438525"/>
            <a:ext cx="30003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650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defPPr>
            <a:lvl1pPr>
              <a:defRPr sz="1650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>
              <a:defRPr sz="1650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13" name="activation-stage-label-3">
            <a:extLst>
              <a:ext uri="{FF2B5EF4-FFF2-40B4-BE49-F238E27FC236}">
                <a16:creationId xmlns:a16="http://schemas.microsoft.com/office/drawing/2014/main" id="{988D19C1-476C-4D48-AC38-0D3DD6523614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457700" y="4105275"/>
            <a:ext cx="30003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650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defPPr>
            <a:lvl1pPr>
              <a:defRPr sz="1650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>
              <a:defRPr sz="1650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</p:spTree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lder · Retention Coho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>
            <a:extLst>
              <a:ext uri="{FF2B5EF4-FFF2-40B4-BE49-F238E27FC236}">
                <a16:creationId xmlns:a16="http://schemas.microsoft.com/office/drawing/2014/main" id="{1CEC1695-A036-4653-BC51-BDE3EF207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438150"/>
            <a:ext cx="11163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3450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defPPr>
            <a:lvl1pPr algn="l">
              <a:defRPr sz="3450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l">
              <a:defRPr sz="3450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pPr>
            <a:endParaRPr/>
          </a:p>
        </p:txBody>
      </p:sp>
      <p:sp>
        <p:nvSpPr>
          <p:cNvPr id="3" name="cohort-subtitle">
            <a:extLst>
              <a:ext uri="{FF2B5EF4-FFF2-40B4-BE49-F238E27FC236}">
                <a16:creationId xmlns:a16="http://schemas.microsoft.com/office/drawing/2014/main" id="{E5E3BBED-2BAB-4F37-BD42-A31D848BB7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350" y="1162050"/>
            <a:ext cx="11163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75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875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95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4" name="nrr-metric">
            <a:extLst>
              <a:ext uri="{FF2B5EF4-FFF2-40B4-BE49-F238E27FC236}">
                <a16:creationId xmlns:a16="http://schemas.microsoft.com/office/drawing/2014/main" id="{CAF7B0B5-A943-48D0-8C8F-726E9681EA1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9048750" y="2057400"/>
            <a:ext cx="27146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5025" b="0">
                <a:solidFill>
                  <a:srgbClr val="5B2D46"/>
                </a:solidFill>
                <a:latin typeface="Manrope"/>
                <a:ea typeface="Manrope"/>
                <a:cs typeface="Manrope"/>
              </a:defRPr>
            </a:defPPr>
            <a:lvl1pPr algn="l">
              <a:defRPr sz="5025" b="0">
                <a:solidFill>
                  <a:srgbClr val="5B2D46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l">
              <a:defRPr sz="5025" b="0">
                <a:solidFill>
                  <a:srgbClr val="5B2D46"/>
                </a:solidFill>
                <a:latin typeface="Manrope"/>
                <a:ea typeface="Manrope"/>
                <a:cs typeface="Manrope"/>
              </a:defRPr>
            </a:pPr>
            <a:endParaRPr/>
          </a:p>
        </p:txBody>
      </p:sp>
      <p:sp>
        <p:nvSpPr>
          <p:cNvPr id="5" name="nrr-label">
            <a:extLst>
              <a:ext uri="{FF2B5EF4-FFF2-40B4-BE49-F238E27FC236}">
                <a16:creationId xmlns:a16="http://schemas.microsoft.com/office/drawing/2014/main" id="{CAFB1372-9188-4E62-B891-E0AA92CF62C1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9086850" y="2933700"/>
            <a:ext cx="2609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75" b="0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875" b="0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875" b="0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6" name="rule">
            <a:extLst>
              <a:ext uri="{FF2B5EF4-FFF2-40B4-BE49-F238E27FC236}">
                <a16:creationId xmlns:a16="http://schemas.microsoft.com/office/drawing/2014/main" id="{8AA7F084-F36D-4706-947E-B591CE271415}"/>
              </a:ext>
            </a:extLst>
          </p:cNvPr>
          <p:cNvSpPr>
            <a:spLocks noGrp="1"/>
          </p:cNvSpPr>
          <p:nvPr/>
        </p:nvSpPr>
        <p:spPr>
          <a:xfrm>
            <a:off x="9086850" y="3581400"/>
            <a:ext cx="2419350" cy="9525"/>
          </a:xfrm>
          <a:prstGeom prst="rect">
            <a:avLst/>
          </a:prstGeom>
          <a:solidFill>
            <a:srgbClr val="DFD5D2"/>
          </a:solidFill>
          <a:ln w="0">
            <a:noFill/>
            <a:prstDash val="solid"/>
          </a:ln>
        </p:spPr>
      </p:sp>
      <p:sp>
        <p:nvSpPr>
          <p:cNvPr id="7" name="grr-metric">
            <a:extLst>
              <a:ext uri="{FF2B5EF4-FFF2-40B4-BE49-F238E27FC236}">
                <a16:creationId xmlns:a16="http://schemas.microsoft.com/office/drawing/2014/main" id="{E28374D7-47A4-424B-B7AA-36148895F608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9048750" y="3914775"/>
            <a:ext cx="259080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5025" b="0">
                <a:solidFill>
                  <a:srgbClr val="B66E4F"/>
                </a:solidFill>
                <a:latin typeface="Manrope"/>
                <a:ea typeface="Manrope"/>
                <a:cs typeface="Manrope"/>
              </a:defRPr>
            </a:defPPr>
            <a:lvl1pPr algn="l">
              <a:defRPr sz="5025" b="0">
                <a:solidFill>
                  <a:srgbClr val="B66E4F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l">
              <a:defRPr sz="5025" b="0">
                <a:solidFill>
                  <a:srgbClr val="B66E4F"/>
                </a:solidFill>
                <a:latin typeface="Manrope"/>
                <a:ea typeface="Manrope"/>
                <a:cs typeface="Manrope"/>
              </a:defRPr>
            </a:pPr>
            <a:endParaRPr/>
          </a:p>
        </p:txBody>
      </p:sp>
      <p:sp>
        <p:nvSpPr>
          <p:cNvPr id="8" name="grr-label">
            <a:extLst>
              <a:ext uri="{FF2B5EF4-FFF2-40B4-BE49-F238E27FC236}">
                <a16:creationId xmlns:a16="http://schemas.microsoft.com/office/drawing/2014/main" id="{A122C777-D839-4515-80EF-5FC7A50D77F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9086850" y="4791075"/>
            <a:ext cx="2590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75" b="0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875" b="0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875" b="0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9" name="retention-period">
            <a:extLst>
              <a:ext uri="{FF2B5EF4-FFF2-40B4-BE49-F238E27FC236}">
                <a16:creationId xmlns:a16="http://schemas.microsoft.com/office/drawing/2014/main" id="{50D112C5-B3A2-4F71-BAC9-3A3B3B272D07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086850" y="5248275"/>
            <a:ext cx="2514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35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35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35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10" name="context-note">
            <a:extLst>
              <a:ext uri="{FF2B5EF4-FFF2-40B4-BE49-F238E27FC236}">
                <a16:creationId xmlns:a16="http://schemas.microsoft.com/office/drawing/2014/main" id="{49902386-683C-46F4-A198-911C277A2AD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14350" y="5943600"/>
            <a:ext cx="11163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20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20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20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</p:spTree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lder · Release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>
            <a:extLst>
              <a:ext uri="{FF2B5EF4-FFF2-40B4-BE49-F238E27FC236}">
                <a16:creationId xmlns:a16="http://schemas.microsoft.com/office/drawing/2014/main" id="{09D826CD-88FE-4F80-88C6-DF2C8A65C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438150"/>
            <a:ext cx="11163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3450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defPPr>
            <a:lvl1pPr algn="l">
              <a:defRPr sz="3450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l">
              <a:defRPr sz="3450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pPr>
            <a:endParaRPr/>
          </a:p>
        </p:txBody>
      </p:sp>
      <p:sp>
        <p:nvSpPr>
          <p:cNvPr id="3" name="roadmap-subtitle">
            <a:extLst>
              <a:ext uri="{FF2B5EF4-FFF2-40B4-BE49-F238E27FC236}">
                <a16:creationId xmlns:a16="http://schemas.microsoft.com/office/drawing/2014/main" id="{BD9A90E0-A13C-4B94-9BD0-28CBF3E0CC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350" y="1162050"/>
            <a:ext cx="11163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75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875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95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4" name="timeline-rule">
            <a:extLst>
              <a:ext uri="{FF2B5EF4-FFF2-40B4-BE49-F238E27FC236}">
                <a16:creationId xmlns:a16="http://schemas.microsoft.com/office/drawing/2014/main" id="{8EDFEBFE-8FF7-4A38-A5B2-0AB076D2AB70}"/>
              </a:ext>
            </a:extLst>
          </p:cNvPr>
          <p:cNvSpPr>
            <a:spLocks noGrp="1"/>
          </p:cNvSpPr>
          <p:nvPr/>
        </p:nvSpPr>
        <p:spPr>
          <a:xfrm>
            <a:off x="876300" y="3133725"/>
            <a:ext cx="7562850" cy="28575"/>
          </a:xfrm>
          <a:prstGeom prst="rect">
            <a:avLst/>
          </a:prstGeom>
          <a:solidFill>
            <a:srgbClr val="DFD5D2"/>
          </a:solidFill>
          <a:ln w="0">
            <a:noFill/>
            <a:prstDash val="solid"/>
          </a:ln>
        </p:spPr>
      </p:sp>
      <p:sp>
        <p:nvSpPr>
          <p:cNvPr id="5" name="milestone-date-0">
            <a:extLst>
              <a:ext uri="{FF2B5EF4-FFF2-40B4-BE49-F238E27FC236}">
                <a16:creationId xmlns:a16="http://schemas.microsoft.com/office/drawing/2014/main" id="{3A814E7D-3A9A-453F-BF14-1DB02BBA1AB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04850" y="2076450"/>
            <a:ext cx="31718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3300" b="0">
                <a:solidFill>
                  <a:srgbClr val="5B2D46"/>
                </a:solidFill>
                <a:latin typeface="Manrope"/>
                <a:ea typeface="Manrope"/>
                <a:cs typeface="Manrope"/>
              </a:defRPr>
            </a:defPPr>
            <a:lvl1pPr algn="l">
              <a:defRPr sz="3300" b="0">
                <a:solidFill>
                  <a:srgbClr val="5B2D46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l">
              <a:defRPr sz="3300" b="0">
                <a:solidFill>
                  <a:srgbClr val="5B2D46"/>
                </a:solidFill>
                <a:latin typeface="Manrope"/>
                <a:ea typeface="Manrope"/>
                <a:cs typeface="Manrope"/>
              </a:defRPr>
            </a:pPr>
            <a:endParaRPr/>
          </a:p>
        </p:txBody>
      </p:sp>
      <p:sp>
        <p:nvSpPr>
          <p:cNvPr id="6" name="milestone-phase-0">
            <a:extLst>
              <a:ext uri="{FF2B5EF4-FFF2-40B4-BE49-F238E27FC236}">
                <a16:creationId xmlns:a16="http://schemas.microsoft.com/office/drawing/2014/main" id="{24E3015A-16D2-4949-8D1A-F80365481619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704850" y="2676525"/>
            <a:ext cx="3181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200" b="1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200" b="1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200" b="1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7" name="milestone-0">
            <a:extLst>
              <a:ext uri="{FF2B5EF4-FFF2-40B4-BE49-F238E27FC236}">
                <a16:creationId xmlns:a16="http://schemas.microsoft.com/office/drawing/2014/main" id="{3CEE3BD5-0BCC-44B2-8872-D3A4C7F4240E}"/>
              </a:ext>
            </a:extLst>
          </p:cNvPr>
          <p:cNvSpPr>
            <a:spLocks noGrp="1"/>
          </p:cNvSpPr>
          <p:nvPr/>
        </p:nvSpPr>
        <p:spPr>
          <a:xfrm>
            <a:off x="762000" y="3028950"/>
            <a:ext cx="228600" cy="228600"/>
          </a:xfrm>
          <a:prstGeom prst="ellipse">
            <a:avLst/>
          </a:prstGeom>
          <a:solidFill>
            <a:srgbClr val="5B2D46"/>
          </a:solidFill>
          <a:ln w="0">
            <a:noFill/>
            <a:prstDash val="solid"/>
          </a:ln>
        </p:spPr>
      </p:sp>
      <p:sp>
        <p:nvSpPr>
          <p:cNvPr id="8" name="release-title-0">
            <a:extLst>
              <a:ext uri="{FF2B5EF4-FFF2-40B4-BE49-F238E27FC236}">
                <a16:creationId xmlns:a16="http://schemas.microsoft.com/office/drawing/2014/main" id="{E63463AC-26EF-4C18-93AC-3054A48B43EA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704850" y="3571875"/>
            <a:ext cx="31623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550" b="1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550" b="1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l">
              <a:defRPr sz="2550" b="1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pPr>
            <a:endParaRPr/>
          </a:p>
        </p:txBody>
      </p:sp>
      <p:sp>
        <p:nvSpPr>
          <p:cNvPr id="9" name="release-description-0">
            <a:extLst>
              <a:ext uri="{FF2B5EF4-FFF2-40B4-BE49-F238E27FC236}">
                <a16:creationId xmlns:a16="http://schemas.microsoft.com/office/drawing/2014/main" id="{B223E7E8-9029-4202-98D2-454E85F4C91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704850" y="4572000"/>
            <a:ext cx="31623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725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725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725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10" name="release-owner-0">
            <a:extLst>
              <a:ext uri="{FF2B5EF4-FFF2-40B4-BE49-F238E27FC236}">
                <a16:creationId xmlns:a16="http://schemas.microsoft.com/office/drawing/2014/main" id="{9825B828-09A7-4B26-840A-7E7E9408233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704850" y="551497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5B2D46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650" b="1">
                <a:solidFill>
                  <a:srgbClr val="5B2D46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650" b="1">
                <a:solidFill>
                  <a:srgbClr val="5B2D46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11" name="milestone-date-1">
            <a:extLst>
              <a:ext uri="{FF2B5EF4-FFF2-40B4-BE49-F238E27FC236}">
                <a16:creationId xmlns:a16="http://schemas.microsoft.com/office/drawing/2014/main" id="{83334D03-EADB-4216-87CC-D51451825C80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486275" y="2076450"/>
            <a:ext cx="31718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3300" b="0">
                <a:solidFill>
                  <a:srgbClr val="B66E4F"/>
                </a:solidFill>
                <a:latin typeface="Manrope"/>
                <a:ea typeface="Manrope"/>
                <a:cs typeface="Manrope"/>
              </a:defRPr>
            </a:defPPr>
            <a:lvl1pPr algn="l">
              <a:defRPr sz="3300" b="0">
                <a:solidFill>
                  <a:srgbClr val="B66E4F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l">
              <a:defRPr sz="3300" b="0">
                <a:solidFill>
                  <a:srgbClr val="B66E4F"/>
                </a:solidFill>
                <a:latin typeface="Manrope"/>
                <a:ea typeface="Manrope"/>
                <a:cs typeface="Manrope"/>
              </a:defRPr>
            </a:pPr>
            <a:endParaRPr/>
          </a:p>
        </p:txBody>
      </p:sp>
      <p:sp>
        <p:nvSpPr>
          <p:cNvPr id="12" name="milestone-phase-1">
            <a:extLst>
              <a:ext uri="{FF2B5EF4-FFF2-40B4-BE49-F238E27FC236}">
                <a16:creationId xmlns:a16="http://schemas.microsoft.com/office/drawing/2014/main" id="{1BD42B79-CD23-426C-90E6-319AAD480CEC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4486275" y="2676525"/>
            <a:ext cx="3181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200" b="1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200" b="1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200" b="1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13" name="milestone-1">
            <a:extLst>
              <a:ext uri="{FF2B5EF4-FFF2-40B4-BE49-F238E27FC236}">
                <a16:creationId xmlns:a16="http://schemas.microsoft.com/office/drawing/2014/main" id="{F429B3C3-C6DA-4F7B-AF98-85E41738CDB2}"/>
              </a:ext>
            </a:extLst>
          </p:cNvPr>
          <p:cNvSpPr>
            <a:spLocks noGrp="1"/>
          </p:cNvSpPr>
          <p:nvPr/>
        </p:nvSpPr>
        <p:spPr>
          <a:xfrm>
            <a:off x="4543425" y="3028950"/>
            <a:ext cx="228600" cy="228600"/>
          </a:xfrm>
          <a:prstGeom prst="ellipse">
            <a:avLst/>
          </a:prstGeom>
          <a:solidFill>
            <a:srgbClr val="B66E4F"/>
          </a:solidFill>
          <a:ln w="0">
            <a:noFill/>
            <a:prstDash val="solid"/>
          </a:ln>
        </p:spPr>
      </p:sp>
      <p:sp>
        <p:nvSpPr>
          <p:cNvPr id="14" name="release-title-1">
            <a:extLst>
              <a:ext uri="{FF2B5EF4-FFF2-40B4-BE49-F238E27FC236}">
                <a16:creationId xmlns:a16="http://schemas.microsoft.com/office/drawing/2014/main" id="{648C3906-60A8-4E70-88B3-2FDF62326936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486275" y="3571875"/>
            <a:ext cx="31623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550" b="1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550" b="1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l">
              <a:defRPr sz="2550" b="1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pPr>
            <a:endParaRPr/>
          </a:p>
        </p:txBody>
      </p:sp>
      <p:sp>
        <p:nvSpPr>
          <p:cNvPr id="15" name="release-description-1">
            <a:extLst>
              <a:ext uri="{FF2B5EF4-FFF2-40B4-BE49-F238E27FC236}">
                <a16:creationId xmlns:a16="http://schemas.microsoft.com/office/drawing/2014/main" id="{938BC2EA-CD88-4667-A936-02398C6ACF1C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486275" y="4572000"/>
            <a:ext cx="31623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725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725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725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16" name="release-owner-1">
            <a:extLst>
              <a:ext uri="{FF2B5EF4-FFF2-40B4-BE49-F238E27FC236}">
                <a16:creationId xmlns:a16="http://schemas.microsoft.com/office/drawing/2014/main" id="{2D6AFAE0-CE59-45C3-992F-6AEEB473B7D8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4486275" y="551497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B66E4F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650" b="1">
                <a:solidFill>
                  <a:srgbClr val="B66E4F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650" b="1">
                <a:solidFill>
                  <a:srgbClr val="B66E4F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17" name="milestone-date-2">
            <a:extLst>
              <a:ext uri="{FF2B5EF4-FFF2-40B4-BE49-F238E27FC236}">
                <a16:creationId xmlns:a16="http://schemas.microsoft.com/office/drawing/2014/main" id="{6097AB1A-0897-470A-9A58-038FA7A209A6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267700" y="2076450"/>
            <a:ext cx="31718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3300" b="0">
                <a:solidFill>
                  <a:srgbClr val="5B2D46"/>
                </a:solidFill>
                <a:latin typeface="Manrope"/>
                <a:ea typeface="Manrope"/>
                <a:cs typeface="Manrope"/>
              </a:defRPr>
            </a:defPPr>
            <a:lvl1pPr algn="l">
              <a:defRPr sz="3300" b="0">
                <a:solidFill>
                  <a:srgbClr val="5B2D46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l">
              <a:defRPr sz="3300" b="0">
                <a:solidFill>
                  <a:srgbClr val="5B2D46"/>
                </a:solidFill>
                <a:latin typeface="Manrope"/>
                <a:ea typeface="Manrope"/>
                <a:cs typeface="Manrope"/>
              </a:defRPr>
            </a:pPr>
            <a:endParaRPr/>
          </a:p>
        </p:txBody>
      </p:sp>
      <p:sp>
        <p:nvSpPr>
          <p:cNvPr id="18" name="milestone-phase-2">
            <a:extLst>
              <a:ext uri="{FF2B5EF4-FFF2-40B4-BE49-F238E27FC236}">
                <a16:creationId xmlns:a16="http://schemas.microsoft.com/office/drawing/2014/main" id="{9DDC4F8A-06E2-4093-93AE-FD9C1A638DF9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8267700" y="2676525"/>
            <a:ext cx="3181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200" b="1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200" b="1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200" b="1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19" name="milestone-2">
            <a:extLst>
              <a:ext uri="{FF2B5EF4-FFF2-40B4-BE49-F238E27FC236}">
                <a16:creationId xmlns:a16="http://schemas.microsoft.com/office/drawing/2014/main" id="{604ACC75-4994-47AE-A19E-546263418E8C}"/>
              </a:ext>
            </a:extLst>
          </p:cNvPr>
          <p:cNvSpPr>
            <a:spLocks noGrp="1"/>
          </p:cNvSpPr>
          <p:nvPr/>
        </p:nvSpPr>
        <p:spPr>
          <a:xfrm>
            <a:off x="8324850" y="3028950"/>
            <a:ext cx="228600" cy="228600"/>
          </a:xfrm>
          <a:prstGeom prst="ellipse">
            <a:avLst/>
          </a:prstGeom>
          <a:solidFill>
            <a:srgbClr val="5B2D46"/>
          </a:solidFill>
          <a:ln w="0">
            <a:noFill/>
            <a:prstDash val="solid"/>
          </a:ln>
        </p:spPr>
      </p:sp>
      <p:sp>
        <p:nvSpPr>
          <p:cNvPr id="20" name="release-title-2">
            <a:extLst>
              <a:ext uri="{FF2B5EF4-FFF2-40B4-BE49-F238E27FC236}">
                <a16:creationId xmlns:a16="http://schemas.microsoft.com/office/drawing/2014/main" id="{17867562-2D26-4471-ABDC-296A44AC4E7C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8267700" y="3571875"/>
            <a:ext cx="31623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550" b="1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550" b="1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l">
              <a:defRPr sz="2550" b="1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pPr>
            <a:endParaRPr/>
          </a:p>
        </p:txBody>
      </p:sp>
      <p:sp>
        <p:nvSpPr>
          <p:cNvPr id="21" name="release-description-2">
            <a:extLst>
              <a:ext uri="{FF2B5EF4-FFF2-40B4-BE49-F238E27FC236}">
                <a16:creationId xmlns:a16="http://schemas.microsoft.com/office/drawing/2014/main" id="{45431140-A8CC-4EAD-94E2-1555C2AC1287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8267700" y="4572000"/>
            <a:ext cx="31623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725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725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725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22" name="release-owner-2">
            <a:extLst>
              <a:ext uri="{FF2B5EF4-FFF2-40B4-BE49-F238E27FC236}">
                <a16:creationId xmlns:a16="http://schemas.microsoft.com/office/drawing/2014/main" id="{EBC8FC64-3C00-4F5F-BEEF-A7D0AF6EBAAD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267700" y="5514975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650" b="1">
                <a:solidFill>
                  <a:srgbClr val="5B2D46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650" b="1">
                <a:solidFill>
                  <a:srgbClr val="5B2D46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650" b="1">
                <a:solidFill>
                  <a:srgbClr val="5B2D46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</p:spTree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lder · Risk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>
            <a:extLst>
              <a:ext uri="{FF2B5EF4-FFF2-40B4-BE49-F238E27FC236}">
                <a16:creationId xmlns:a16="http://schemas.microsoft.com/office/drawing/2014/main" id="{8D044D9D-05C1-4FCC-BE28-EF9AB9238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438150"/>
            <a:ext cx="11163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3450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defPPr>
            <a:lvl1pPr algn="l">
              <a:defRPr sz="3450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l">
              <a:defRPr sz="3450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pPr>
            <a:endParaRPr/>
          </a:p>
        </p:txBody>
      </p:sp>
      <p:sp>
        <p:nvSpPr>
          <p:cNvPr id="3" name="risk-level-0">
            <a:extLst>
              <a:ext uri="{FF2B5EF4-FFF2-40B4-BE49-F238E27FC236}">
                <a16:creationId xmlns:a16="http://schemas.microsoft.com/office/drawing/2014/main" id="{BA727454-0436-45A0-BD63-95DDD1B3952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14350" y="1743075"/>
            <a:ext cx="32956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125" b="1">
                <a:solidFill>
                  <a:srgbClr val="B66E4F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125" b="1">
                <a:solidFill>
                  <a:srgbClr val="B66E4F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125" b="1">
                <a:solidFill>
                  <a:srgbClr val="B66E4F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4" name="risk-title-0">
            <a:extLst>
              <a:ext uri="{FF2B5EF4-FFF2-40B4-BE49-F238E27FC236}">
                <a16:creationId xmlns:a16="http://schemas.microsoft.com/office/drawing/2014/main" id="{D26C126A-8F5E-458C-B181-9FB4A330569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514350" y="2114550"/>
            <a:ext cx="3295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550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550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l">
              <a:defRPr sz="2550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pPr>
            <a:endParaRPr/>
          </a:p>
        </p:txBody>
      </p:sp>
      <p:sp>
        <p:nvSpPr>
          <p:cNvPr id="5" name="risk-stat-0">
            <a:extLst>
              <a:ext uri="{FF2B5EF4-FFF2-40B4-BE49-F238E27FC236}">
                <a16:creationId xmlns:a16="http://schemas.microsoft.com/office/drawing/2014/main" id="{2A701315-ECCE-4010-881A-9098AD8F803B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514350" y="2743200"/>
            <a:ext cx="329565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5100" b="0">
                <a:solidFill>
                  <a:srgbClr val="B66E4F"/>
                </a:solidFill>
                <a:latin typeface="Manrope"/>
                <a:ea typeface="Manrope"/>
                <a:cs typeface="Manrope"/>
              </a:defRPr>
            </a:defPPr>
            <a:lvl1pPr algn="l">
              <a:defRPr sz="5100" b="0">
                <a:solidFill>
                  <a:srgbClr val="B66E4F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l">
              <a:defRPr sz="5100" b="0">
                <a:solidFill>
                  <a:srgbClr val="B66E4F"/>
                </a:solidFill>
                <a:latin typeface="Manrope"/>
                <a:ea typeface="Manrope"/>
                <a:cs typeface="Manrope"/>
              </a:defRPr>
            </a:pPr>
            <a:endParaRPr/>
          </a:p>
        </p:txBody>
      </p:sp>
      <p:sp>
        <p:nvSpPr>
          <p:cNvPr id="6" name="risk-label-0">
            <a:extLst>
              <a:ext uri="{FF2B5EF4-FFF2-40B4-BE49-F238E27FC236}">
                <a16:creationId xmlns:a16="http://schemas.microsoft.com/office/drawing/2014/main" id="{8DB593DA-BF10-4E4F-A0BB-1B1581BC819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14350" y="3648075"/>
            <a:ext cx="3295650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75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875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875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7" name="risk-body-0">
            <a:extLst>
              <a:ext uri="{FF2B5EF4-FFF2-40B4-BE49-F238E27FC236}">
                <a16:creationId xmlns:a16="http://schemas.microsoft.com/office/drawing/2014/main" id="{1E470DB1-497B-4A2D-81CF-F2C2B2A5F495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514350" y="4552950"/>
            <a:ext cx="32956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65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65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8" name="risk-owner-0">
            <a:extLst>
              <a:ext uri="{FF2B5EF4-FFF2-40B4-BE49-F238E27FC236}">
                <a16:creationId xmlns:a16="http://schemas.microsoft.com/office/drawing/2014/main" id="{B9E03FAC-E246-4BDF-B0B4-49BFFC11AA33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14350" y="5457825"/>
            <a:ext cx="3295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575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575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575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9" name="risk-date-0">
            <a:extLst>
              <a:ext uri="{FF2B5EF4-FFF2-40B4-BE49-F238E27FC236}">
                <a16:creationId xmlns:a16="http://schemas.microsoft.com/office/drawing/2014/main" id="{EA835CE3-53F3-453B-BB71-1F960A566DF7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514350" y="5829300"/>
            <a:ext cx="32956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275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275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275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10" name="column-divider-1">
            <a:extLst>
              <a:ext uri="{FF2B5EF4-FFF2-40B4-BE49-F238E27FC236}">
                <a16:creationId xmlns:a16="http://schemas.microsoft.com/office/drawing/2014/main" id="{D7D58885-F007-4014-9E87-C35173B2A556}"/>
              </a:ext>
            </a:extLst>
          </p:cNvPr>
          <p:cNvSpPr>
            <a:spLocks noGrp="1"/>
          </p:cNvSpPr>
          <p:nvPr/>
        </p:nvSpPr>
        <p:spPr>
          <a:xfrm>
            <a:off x="4057650" y="1885950"/>
            <a:ext cx="9525" cy="3819525"/>
          </a:xfrm>
          <a:prstGeom prst="rect">
            <a:avLst/>
          </a:prstGeom>
          <a:solidFill>
            <a:srgbClr val="DFD5D2"/>
          </a:solidFill>
          <a:ln w="0">
            <a:noFill/>
            <a:prstDash val="solid"/>
          </a:ln>
        </p:spPr>
      </p:sp>
      <p:sp>
        <p:nvSpPr>
          <p:cNvPr id="11" name="risk-level-1">
            <a:extLst>
              <a:ext uri="{FF2B5EF4-FFF2-40B4-BE49-F238E27FC236}">
                <a16:creationId xmlns:a16="http://schemas.microsoft.com/office/drawing/2014/main" id="{77C7132C-D868-427D-8F93-60D1130961F5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305300" y="1743075"/>
            <a:ext cx="32956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125" b="1">
                <a:solidFill>
                  <a:srgbClr val="5B2D46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125" b="1">
                <a:solidFill>
                  <a:srgbClr val="5B2D46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125" b="1">
                <a:solidFill>
                  <a:srgbClr val="5B2D46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12" name="risk-title-1">
            <a:extLst>
              <a:ext uri="{FF2B5EF4-FFF2-40B4-BE49-F238E27FC236}">
                <a16:creationId xmlns:a16="http://schemas.microsoft.com/office/drawing/2014/main" id="{CAC95501-BFEA-418A-A111-65DD19427379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305300" y="2114550"/>
            <a:ext cx="3295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550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550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l">
              <a:defRPr sz="2550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pPr>
            <a:endParaRPr/>
          </a:p>
        </p:txBody>
      </p:sp>
      <p:sp>
        <p:nvSpPr>
          <p:cNvPr id="13" name="risk-stat-1">
            <a:extLst>
              <a:ext uri="{FF2B5EF4-FFF2-40B4-BE49-F238E27FC236}">
                <a16:creationId xmlns:a16="http://schemas.microsoft.com/office/drawing/2014/main" id="{299096D6-7F23-4ECC-8B48-FA12B020DF3B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4305300" y="2743200"/>
            <a:ext cx="329565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5100" b="0">
                <a:solidFill>
                  <a:srgbClr val="5B2D46"/>
                </a:solidFill>
                <a:latin typeface="Manrope"/>
                <a:ea typeface="Manrope"/>
                <a:cs typeface="Manrope"/>
              </a:defRPr>
            </a:defPPr>
            <a:lvl1pPr algn="l">
              <a:defRPr sz="5100" b="0">
                <a:solidFill>
                  <a:srgbClr val="5B2D46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l">
              <a:defRPr sz="5100" b="0">
                <a:solidFill>
                  <a:srgbClr val="5B2D46"/>
                </a:solidFill>
                <a:latin typeface="Manrope"/>
                <a:ea typeface="Manrope"/>
                <a:cs typeface="Manrope"/>
              </a:defRPr>
            </a:pPr>
            <a:endParaRPr/>
          </a:p>
        </p:txBody>
      </p:sp>
      <p:sp>
        <p:nvSpPr>
          <p:cNvPr id="14" name="risk-label-1">
            <a:extLst>
              <a:ext uri="{FF2B5EF4-FFF2-40B4-BE49-F238E27FC236}">
                <a16:creationId xmlns:a16="http://schemas.microsoft.com/office/drawing/2014/main" id="{69F68693-28B0-42D3-A0C8-D8FC54A23670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4305300" y="3648075"/>
            <a:ext cx="3295650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75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875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875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15" name="risk-body-1">
            <a:extLst>
              <a:ext uri="{FF2B5EF4-FFF2-40B4-BE49-F238E27FC236}">
                <a16:creationId xmlns:a16="http://schemas.microsoft.com/office/drawing/2014/main" id="{DD48C94D-D65F-4DDE-A1CB-B533860EA386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4305300" y="4552950"/>
            <a:ext cx="32956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65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65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16" name="risk-owner-1">
            <a:extLst>
              <a:ext uri="{FF2B5EF4-FFF2-40B4-BE49-F238E27FC236}">
                <a16:creationId xmlns:a16="http://schemas.microsoft.com/office/drawing/2014/main" id="{90D302A7-3F23-4A06-A900-E55F98087CE4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4305300" y="5457825"/>
            <a:ext cx="3295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575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575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575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17" name="risk-date-1">
            <a:extLst>
              <a:ext uri="{FF2B5EF4-FFF2-40B4-BE49-F238E27FC236}">
                <a16:creationId xmlns:a16="http://schemas.microsoft.com/office/drawing/2014/main" id="{CC8BD0C8-47F0-46DD-9A77-5C6158BC5E74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4305300" y="5829300"/>
            <a:ext cx="32956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275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275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275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18" name="column-divider-2">
            <a:extLst>
              <a:ext uri="{FF2B5EF4-FFF2-40B4-BE49-F238E27FC236}">
                <a16:creationId xmlns:a16="http://schemas.microsoft.com/office/drawing/2014/main" id="{1686EF75-364C-4B12-8A12-8077FF0D6C7D}"/>
              </a:ext>
            </a:extLst>
          </p:cNvPr>
          <p:cNvSpPr>
            <a:spLocks noGrp="1"/>
          </p:cNvSpPr>
          <p:nvPr/>
        </p:nvSpPr>
        <p:spPr>
          <a:xfrm>
            <a:off x="7848600" y="1885950"/>
            <a:ext cx="9525" cy="3819525"/>
          </a:xfrm>
          <a:prstGeom prst="rect">
            <a:avLst/>
          </a:prstGeom>
          <a:solidFill>
            <a:srgbClr val="DFD5D2"/>
          </a:solidFill>
          <a:ln w="0">
            <a:noFill/>
            <a:prstDash val="solid"/>
          </a:ln>
        </p:spPr>
      </p:sp>
      <p:sp>
        <p:nvSpPr>
          <p:cNvPr id="19" name="risk-level-2">
            <a:extLst>
              <a:ext uri="{FF2B5EF4-FFF2-40B4-BE49-F238E27FC236}">
                <a16:creationId xmlns:a16="http://schemas.microsoft.com/office/drawing/2014/main" id="{2EA68213-B1D9-45DC-81DC-0015DDBF11C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8096250" y="1743075"/>
            <a:ext cx="32956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125" b="1">
                <a:solidFill>
                  <a:srgbClr val="5B2D46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125" b="1">
                <a:solidFill>
                  <a:srgbClr val="5B2D46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125" b="1">
                <a:solidFill>
                  <a:srgbClr val="5B2D46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20" name="risk-title-2">
            <a:extLst>
              <a:ext uri="{FF2B5EF4-FFF2-40B4-BE49-F238E27FC236}">
                <a16:creationId xmlns:a16="http://schemas.microsoft.com/office/drawing/2014/main" id="{010E2B5D-FBC3-4B92-9004-B5AF33F5B67C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8096250" y="2114550"/>
            <a:ext cx="3295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550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defPPr>
            <a:lvl1pPr algn="l">
              <a:defRPr sz="2550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l">
              <a:defRPr sz="2550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pPr>
            <a:endParaRPr/>
          </a:p>
        </p:txBody>
      </p:sp>
      <p:sp>
        <p:nvSpPr>
          <p:cNvPr id="21" name="risk-stat-2">
            <a:extLst>
              <a:ext uri="{FF2B5EF4-FFF2-40B4-BE49-F238E27FC236}">
                <a16:creationId xmlns:a16="http://schemas.microsoft.com/office/drawing/2014/main" id="{5F993AEF-0709-4E4E-92B4-0C48502D1341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8096250" y="2743200"/>
            <a:ext cx="329565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5100" b="0">
                <a:solidFill>
                  <a:srgbClr val="5B2D46"/>
                </a:solidFill>
                <a:latin typeface="Manrope"/>
                <a:ea typeface="Manrope"/>
                <a:cs typeface="Manrope"/>
              </a:defRPr>
            </a:defPPr>
            <a:lvl1pPr algn="l">
              <a:defRPr sz="5100" b="0">
                <a:solidFill>
                  <a:srgbClr val="5B2D46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l">
              <a:defRPr sz="5100" b="0">
                <a:solidFill>
                  <a:srgbClr val="5B2D46"/>
                </a:solidFill>
                <a:latin typeface="Manrope"/>
                <a:ea typeface="Manrope"/>
                <a:cs typeface="Manrope"/>
              </a:defRPr>
            </a:pPr>
            <a:endParaRPr/>
          </a:p>
        </p:txBody>
      </p:sp>
      <p:sp>
        <p:nvSpPr>
          <p:cNvPr id="22" name="risk-label-2">
            <a:extLst>
              <a:ext uri="{FF2B5EF4-FFF2-40B4-BE49-F238E27FC236}">
                <a16:creationId xmlns:a16="http://schemas.microsoft.com/office/drawing/2014/main" id="{82EAD916-7A71-49A2-9187-9BB888D76CE3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8096250" y="3648075"/>
            <a:ext cx="3295650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75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875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875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23" name="risk-body-2">
            <a:extLst>
              <a:ext uri="{FF2B5EF4-FFF2-40B4-BE49-F238E27FC236}">
                <a16:creationId xmlns:a16="http://schemas.microsoft.com/office/drawing/2014/main" id="{4B555601-BC6B-4A02-AA38-9EE757B8D887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8096250" y="4552950"/>
            <a:ext cx="32956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65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65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65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24" name="risk-owner-2">
            <a:extLst>
              <a:ext uri="{FF2B5EF4-FFF2-40B4-BE49-F238E27FC236}">
                <a16:creationId xmlns:a16="http://schemas.microsoft.com/office/drawing/2014/main" id="{9DC56A22-DCA5-4059-A278-A8609F0F5D1E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8096250" y="5457825"/>
            <a:ext cx="3295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575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575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575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25" name="risk-date-2">
            <a:extLst>
              <a:ext uri="{FF2B5EF4-FFF2-40B4-BE49-F238E27FC236}">
                <a16:creationId xmlns:a16="http://schemas.microsoft.com/office/drawing/2014/main" id="{30453311-9676-4603-A394-F161A3AE3FB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8096250" y="5829300"/>
            <a:ext cx="32956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275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275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275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26" name="takeaway-subtitle">
            <a:extLst>
              <a:ext uri="{FF2B5EF4-FFF2-40B4-BE49-F238E27FC236}">
                <a16:creationId xmlns:a16="http://schemas.microsoft.com/office/drawing/2014/main" id="{3320E2F4-5100-47FF-A9B7-6B9AD8FF96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350" y="1162050"/>
            <a:ext cx="111633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>
              <a:defRPr sz="1875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>
              <a:defRPr sz="1875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</p:spTree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lder · Decision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ision-kicker">
            <a:extLst>
              <a:ext uri="{FF2B5EF4-FFF2-40B4-BE49-F238E27FC236}">
                <a16:creationId xmlns:a16="http://schemas.microsoft.com/office/drawing/2014/main" id="{2D290E9C-7E2E-406F-BBEF-5D43C6BBCA3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14350" y="485775"/>
            <a:ext cx="66389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275" b="1">
                <a:solidFill>
                  <a:srgbClr val="B66E4F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275" b="1">
                <a:solidFill>
                  <a:srgbClr val="B66E4F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275" b="1">
                <a:solidFill>
                  <a:srgbClr val="B66E4F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3" name="decision-title">
            <a:extLst>
              <a:ext uri="{FF2B5EF4-FFF2-40B4-BE49-F238E27FC236}">
                <a16:creationId xmlns:a16="http://schemas.microsoft.com/office/drawing/2014/main" id="{457A1714-D136-448C-BE41-85C8367EA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1076325"/>
            <a:ext cx="68389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3600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defPPr>
            <a:lvl1pPr algn="l">
              <a:defRPr sz="3600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l">
              <a:defRPr sz="4650" b="0">
                <a:solidFill>
                  <a:srgbClr val="301C2B"/>
                </a:solidFill>
                <a:latin typeface="Manrope"/>
                <a:ea typeface="Manrope"/>
                <a:cs typeface="Manrope"/>
              </a:defRPr>
            </a:pPr>
            <a:endParaRPr/>
          </a:p>
        </p:txBody>
      </p:sp>
      <p:sp>
        <p:nvSpPr>
          <p:cNvPr id="4" name="decision-resources">
            <a:extLst>
              <a:ext uri="{FF2B5EF4-FFF2-40B4-BE49-F238E27FC236}">
                <a16:creationId xmlns:a16="http://schemas.microsoft.com/office/drawing/2014/main" id="{2186C655-997F-4AAE-B94F-4503E39CC64F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542925" y="2667000"/>
            <a:ext cx="6648450" cy="1266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250" b="0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2250" b="0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2100" b="0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5" name="rule">
            <a:extLst>
              <a:ext uri="{FF2B5EF4-FFF2-40B4-BE49-F238E27FC236}">
                <a16:creationId xmlns:a16="http://schemas.microsoft.com/office/drawing/2014/main" id="{ADE8FFB7-E716-470F-8BFA-C334354B20B9}"/>
              </a:ext>
            </a:extLst>
          </p:cNvPr>
          <p:cNvSpPr>
            <a:spLocks noGrp="1"/>
          </p:cNvSpPr>
          <p:nvPr/>
        </p:nvSpPr>
        <p:spPr>
          <a:xfrm>
            <a:off x="542925" y="4495800"/>
            <a:ext cx="6457950" cy="9525"/>
          </a:xfrm>
          <a:prstGeom prst="rect">
            <a:avLst/>
          </a:prstGeom>
          <a:solidFill>
            <a:srgbClr val="DFD5D2"/>
          </a:solidFill>
          <a:ln w="0">
            <a:noFill/>
            <a:prstDash val="solid"/>
          </a:ln>
        </p:spPr>
      </p:sp>
      <p:sp>
        <p:nvSpPr>
          <p:cNvPr id="6" name="decision-success-label">
            <a:extLst>
              <a:ext uri="{FF2B5EF4-FFF2-40B4-BE49-F238E27FC236}">
                <a16:creationId xmlns:a16="http://schemas.microsoft.com/office/drawing/2014/main" id="{E37257AB-3B64-41A5-BE65-AF958F81E568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542925" y="4800600"/>
            <a:ext cx="6629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200" b="1">
                <a:solidFill>
                  <a:srgbClr val="B66E4F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200" b="1">
                <a:solidFill>
                  <a:srgbClr val="B66E4F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200" b="1">
                <a:solidFill>
                  <a:srgbClr val="B66E4F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7" name="decision-success">
            <a:extLst>
              <a:ext uri="{FF2B5EF4-FFF2-40B4-BE49-F238E27FC236}">
                <a16:creationId xmlns:a16="http://schemas.microsoft.com/office/drawing/2014/main" id="{EBB916D8-8D8D-4B25-B55B-0115C0DF770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42925" y="5172075"/>
            <a:ext cx="68103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875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875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875" b="1">
                <a:solidFill>
                  <a:srgbClr val="301C2B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8" name="decision-tradeoff">
            <a:extLst>
              <a:ext uri="{FF2B5EF4-FFF2-40B4-BE49-F238E27FC236}">
                <a16:creationId xmlns:a16="http://schemas.microsoft.com/office/drawing/2014/main" id="{53D7D5B7-EAF1-46EC-A0C3-54DF1E8CEB8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542925" y="5838825"/>
            <a:ext cx="661987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575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575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575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sp>
        <p:nvSpPr>
          <p:cNvPr id="9" name="decision-owner">
            <a:extLst>
              <a:ext uri="{FF2B5EF4-FFF2-40B4-BE49-F238E27FC236}">
                <a16:creationId xmlns:a16="http://schemas.microsoft.com/office/drawing/2014/main" id="{EC32BC58-40F7-4A70-B38D-AF5054F3E2DA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542925" y="3990975"/>
            <a:ext cx="66770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20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 algn="l">
              <a:defRPr sz="120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l">
              <a:defRPr sz="120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endParaRPr/>
          </a:p>
        </p:txBody>
      </p:sp>
      <p:pic>
        <p:nvPicPr>
          <p:cNvPr id="10" name="decision-artwork">
            <a:extLst>
              <a:ext uri="{FF2B5EF4-FFF2-40B4-BE49-F238E27FC236}">
                <a16:creationId xmlns:a16="http://schemas.microsoft.com/office/drawing/2014/main" id="{17C26B63-D280-4A2C-9834-DA27DA41D2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217" r="32217"/>
          <a:stretch/>
        </p:blipFill>
        <p:spPr>
          <a:xfrm>
            <a:off x="7858125" y="0"/>
            <a:ext cx="4333875" cy="6858000"/>
          </a:xfrm>
          <a:prstGeom prst="rect">
            <a:avLst/>
          </a:prstGeom>
        </p:spPr>
      </p:pic>
    </p:spTree>
  </p:cSld>
  <p:clrMapOvr>
    <a:masterClrMapping/>
  </p:clrMapOvr>
  <p:hf sldNum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lder Ma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-footer">
            <a:extLst>
              <a:ext uri="{FF2B5EF4-FFF2-40B4-BE49-F238E27FC236}">
                <a16:creationId xmlns:a16="http://schemas.microsoft.com/office/drawing/2014/main" id="{5A328E92-78A7-4F9D-8D2B-7E7948B44D45}"/>
              </a:ext>
            </a:extLst>
          </p:cNvPr>
          <p:cNvSpPr>
            <a:spLocks noGrp="1"/>
          </p:cNvSpPr>
          <p:nvPr/>
        </p:nvSpPr>
        <p:spPr>
          <a:xfrm>
            <a:off x="514350" y="6400800"/>
            <a:ext cx="1333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050" b="1">
                <a:solidFill>
                  <a:srgbClr val="5B2D46"/>
                </a:solidFill>
                <a:latin typeface="Manrope"/>
                <a:ea typeface="Manrope"/>
                <a:cs typeface="Manrope"/>
              </a:defRPr>
            </a:defPPr>
            <a:lvl1pPr algn="l">
              <a:defRPr sz="1050" b="1">
                <a:solidFill>
                  <a:srgbClr val="5B2D46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l">
              <a:defRPr sz="1050" b="1">
                <a:solidFill>
                  <a:srgbClr val="5B2D46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5B2D46"/>
                </a:solidFill>
                <a:latin typeface="Manrope"/>
                <a:ea typeface="Manrope"/>
                <a:cs typeface="Manrope"/>
              </a:rPr>
              <a:t>ALDER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8314A5DC-45FD-4ACC-A972-76920D796D79}"/>
              </a:ext>
            </a:extLst>
          </p:cNvPr>
          <p:cNvSpPr>
            <a:spLocks noGrp="1"/>
          </p:cNvSpPr>
          <p:nvPr/>
        </p:nvSpPr>
        <p:spPr>
          <a:xfrm>
            <a:off x="11087100" y="640080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r">
              <a:defRPr sz="105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defPPr>
            <a:lvl1pPr algn="r">
              <a:defRPr sz="105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lvl1pPr>
          </a:lstStyle>
          <a:p>
            <a:pPr algn="r">
              <a:defRPr sz="105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defRPr>
            </a:pPr>
            <a:fld id="{AD75FED6-38D0-DE9C-92C0-6E7FA635581C}" type="slidenum">
              <a:rPr sz="1050" b="0">
                <a:solidFill>
                  <a:srgbClr val="7B6D74"/>
                </a:solidFill>
                <a:latin typeface="IBM Plex Sans"/>
                <a:ea typeface="IBM Plex Sans"/>
                <a:cs typeface="IBM Plex Sans"/>
              </a:rPr>
              <a:t>‹#›</a:t>
            </a:fld>
            <a:endParaRPr sz="1050" b="0">
              <a:solidFill>
                <a:srgbClr val="7B6D74"/>
              </a:solidFill>
              <a:latin typeface="IBM Plex Sans"/>
              <a:ea typeface="IBM Plex Sans"/>
              <a:cs typeface="IBM Plex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defPPr>
        <a:buNone/>
        <a:defRPr>
          <a:latin typeface="Manrope"/>
          <a:ea typeface="Manrope"/>
          <a:cs typeface="Manrope"/>
        </a:defRPr>
      </a:defPPr>
      <a:lvl1pPr>
        <a:buNone/>
        <a:defRPr>
          <a:latin typeface="Manrope"/>
          <a:ea typeface="Manrope"/>
          <a:cs typeface="Manrope"/>
        </a:defRPr>
      </a:lvl1pPr>
    </p:titleStyle>
    <p:bodyStyle>
      <a:defPPr>
        <a:buNone/>
        <a:defRPr>
          <a:latin typeface="IBM Plex Sans"/>
          <a:ea typeface="IBM Plex Sans"/>
          <a:cs typeface="IBM Plex Sans"/>
        </a:defRPr>
      </a:defPPr>
      <a:lvl1pPr>
        <a:buNone/>
        <a:defRPr>
          <a:latin typeface="IBM Plex Sans"/>
          <a:ea typeface="IBM Plex Sans"/>
          <a:cs typeface="IBM Plex Sans"/>
        </a:defRPr>
      </a:lvl1pPr>
    </p:bodyStyle>
    <p:otherStyle>
      <a:defPPr>
        <a:buNone/>
        <a:defRPr>
          <a:latin typeface="IBM Plex Sans"/>
          <a:ea typeface="IBM Plex Sans"/>
          <a:cs typeface="IBM Plex Sans"/>
        </a:defRPr>
      </a:defPPr>
      <a:lvl1pPr>
        <a:buNone/>
        <a:defRPr>
          <a:latin typeface="IBM Plex Sans"/>
          <a:ea typeface="IBM Plex Sans"/>
          <a:cs typeface="IBM Plex Sans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title">
            <a:extLst>
              <a:ext uri="{FF2B5EF4-FFF2-40B4-BE49-F238E27FC236}">
                <a16:creationId xmlns:a16="http://schemas.microsoft.com/office/drawing/2014/main" id="{E9202262-9B5B-4D12-9A88-88455A657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144" y="428625"/>
            <a:ext cx="98107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Weekly Business Review</a:t>
            </a:r>
          </a:p>
        </p:txBody>
      </p:sp>
      <p:sp>
        <p:nvSpPr>
          <p:cNvPr id="3" name="cover-date">
            <a:extLst>
              <a:ext uri="{FF2B5EF4-FFF2-40B4-BE49-F238E27FC236}">
                <a16:creationId xmlns:a16="http://schemas.microsoft.com/office/drawing/2014/main" id="{37DE2B50-D9ED-4767-BCA6-AB108D803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rPr dirty="0"/>
              <a:t>October 2026</a:t>
            </a:r>
          </a:p>
        </p:txBody>
      </p:sp>
    </p:spTree>
    <p:extLst>
      <p:ext uri="{BB962C8B-B14F-4D97-AF65-F5344CB8AC3E}">
        <p14:creationId xmlns:p14="http://schemas.microsoft.com/office/powerpoint/2010/main" val="1280247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ame">
            <a:extLst>
              <a:ext uri="{FF2B5EF4-FFF2-40B4-BE49-F238E27FC236}">
                <a16:creationId xmlns:a16="http://schemas.microsoft.com/office/drawing/2014/main" id="{9F77056E-6CC1-412C-806E-81D116637D8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Executive</a:t>
            </a:r>
          </a:p>
          <a:p>
            <a:r>
              <a:t>Summary</a:t>
            </a:r>
          </a:p>
        </p:txBody>
      </p:sp>
      <p:sp>
        <p:nvSpPr>
          <p:cNvPr id="3" name="summary-statement">
            <a:extLst>
              <a:ext uri="{FF2B5EF4-FFF2-40B4-BE49-F238E27FC236}">
                <a16:creationId xmlns:a16="http://schemas.microsoft.com/office/drawing/2014/main" id="{E0619BE3-9334-48CD-A113-3115B788BFE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Bookings exceeded plan by 7%, while activation missed target by 8.2 points.</a:t>
            </a:r>
          </a:p>
        </p:txBody>
      </p:sp>
      <p:sp>
        <p:nvSpPr>
          <p:cNvPr id="4" name="summary-action">
            <a:extLst>
              <a:ext uri="{FF2B5EF4-FFF2-40B4-BE49-F238E27FC236}">
                <a16:creationId xmlns:a16="http://schemas.microsoft.com/office/drawing/2014/main" id="{109E8AC8-099D-4289-9665-ABE81760E33F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Decision required: two engineers and one customer-success lead for onboarding through October 23.</a:t>
            </a:r>
          </a:p>
        </p:txBody>
      </p:sp>
      <p:sp>
        <p:nvSpPr>
          <p:cNvPr id="5" name="metric-0">
            <a:extLst>
              <a:ext uri="{FF2B5EF4-FFF2-40B4-BE49-F238E27FC236}">
                <a16:creationId xmlns:a16="http://schemas.microsoft.com/office/drawing/2014/main" id="{56E1EDEC-BA33-42CD-A954-156C14DA7EC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6116293" y="552450"/>
            <a:ext cx="51054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$620K</a:t>
            </a:r>
          </a:p>
        </p:txBody>
      </p:sp>
      <p:sp>
        <p:nvSpPr>
          <p:cNvPr id="6" name="metric-label-0">
            <a:extLst>
              <a:ext uri="{FF2B5EF4-FFF2-40B4-BE49-F238E27FC236}">
                <a16:creationId xmlns:a16="http://schemas.microsoft.com/office/drawing/2014/main" id="{8FB4C203-E2E7-48C6-9D0C-F8A67C93BD8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Signed gross ARR</a:t>
            </a:r>
          </a:p>
        </p:txBody>
      </p:sp>
      <p:sp>
        <p:nvSpPr>
          <p:cNvPr id="7" name="metric-context-0">
            <a:extLst>
              <a:ext uri="{FF2B5EF4-FFF2-40B4-BE49-F238E27FC236}">
                <a16:creationId xmlns:a16="http://schemas.microsoft.com/office/drawing/2014/main" id="{87DFE796-2629-4CF5-8F3D-9C4860D6D83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7% above the weekly plan</a:t>
            </a:r>
          </a:p>
        </p:txBody>
      </p:sp>
      <p:sp>
        <p:nvSpPr>
          <p:cNvPr id="8" name="metric-1">
            <a:extLst>
              <a:ext uri="{FF2B5EF4-FFF2-40B4-BE49-F238E27FC236}">
                <a16:creationId xmlns:a16="http://schemas.microsoft.com/office/drawing/2014/main" id="{F1B7B8DF-DDE4-4507-891E-49AA4A16F6C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61.8%</a:t>
            </a:r>
          </a:p>
        </p:txBody>
      </p:sp>
      <p:sp>
        <p:nvSpPr>
          <p:cNvPr id="9" name="metric-label-1">
            <a:extLst>
              <a:ext uri="{FF2B5EF4-FFF2-40B4-BE49-F238E27FC236}">
                <a16:creationId xmlns:a16="http://schemas.microsoft.com/office/drawing/2014/main" id="{CB89BBA1-A812-4C23-AD58-3FCD3A1DDA72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Seven-day activation</a:t>
            </a:r>
          </a:p>
        </p:txBody>
      </p:sp>
      <p:sp>
        <p:nvSpPr>
          <p:cNvPr id="10" name="metric-context-1">
            <a:extLst>
              <a:ext uri="{FF2B5EF4-FFF2-40B4-BE49-F238E27FC236}">
                <a16:creationId xmlns:a16="http://schemas.microsoft.com/office/drawing/2014/main" id="{E910DCD5-5B23-424E-BD84-3F4AD97564C6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8.2 points below target</a:t>
            </a:r>
          </a:p>
        </p:txBody>
      </p:sp>
      <p:sp>
        <p:nvSpPr>
          <p:cNvPr id="11" name="metric-2">
            <a:extLst>
              <a:ext uri="{FF2B5EF4-FFF2-40B4-BE49-F238E27FC236}">
                <a16:creationId xmlns:a16="http://schemas.microsoft.com/office/drawing/2014/main" id="{0E140A97-5175-4295-8F67-FB077007EDBC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118%</a:t>
            </a:r>
          </a:p>
        </p:txBody>
      </p:sp>
      <p:sp>
        <p:nvSpPr>
          <p:cNvPr id="12" name="metric-label-2">
            <a:extLst>
              <a:ext uri="{FF2B5EF4-FFF2-40B4-BE49-F238E27FC236}">
                <a16:creationId xmlns:a16="http://schemas.microsoft.com/office/drawing/2014/main" id="{F69512C9-93B8-44F3-A341-1AEF5547A177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Net revenue retention</a:t>
            </a:r>
          </a:p>
        </p:txBody>
      </p:sp>
      <p:sp>
        <p:nvSpPr>
          <p:cNvPr id="13" name="metric-context-2">
            <a:extLst>
              <a:ext uri="{FF2B5EF4-FFF2-40B4-BE49-F238E27FC236}">
                <a16:creationId xmlns:a16="http://schemas.microsoft.com/office/drawing/2014/main" id="{7FBEA01D-2646-4DA7-8CD7-02D186571E77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Trailing 12 months</a:t>
            </a:r>
          </a:p>
        </p:txBody>
      </p:sp>
    </p:spTree>
    <p:extLst>
      <p:ext uri="{BB962C8B-B14F-4D97-AF65-F5344CB8AC3E}">
        <p14:creationId xmlns:p14="http://schemas.microsoft.com/office/powerpoint/2010/main" val="126084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>
            <a:extLst>
              <a:ext uri="{FF2B5EF4-FFF2-40B4-BE49-F238E27FC236}">
                <a16:creationId xmlns:a16="http://schemas.microsoft.com/office/drawing/2014/main" id="{15FF33CA-A19A-4D15-B39E-0F6A568C651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Operating Performance</a:t>
            </a:r>
          </a:p>
        </p:txBody>
      </p:sp>
      <p:sp>
        <p:nvSpPr>
          <p:cNvPr id="3" name="table-intro">
            <a:extLst>
              <a:ext uri="{FF2B5EF4-FFF2-40B4-BE49-F238E27FC236}">
                <a16:creationId xmlns:a16="http://schemas.microsoft.com/office/drawing/2014/main" id="{A8F46D88-70FC-4235-80F7-05265D85A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Four of six operating metrics met target; both onboarding metrics deteriorated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4B3E10-EAA0-43B1-87EE-965FD992A116}"/>
              </a:ext>
            </a:extLst>
          </p:cNvPr>
          <p:cNvGraphicFramePr/>
          <p:nvPr/>
        </p:nvGraphicFramePr>
        <p:xfrm>
          <a:off x="514350" y="1828800"/>
          <a:ext cx="11163300" cy="3800475"/>
        </p:xfrm>
        <a:graphic>
          <a:graphicData uri="http://schemas.openxmlformats.org/drawingml/2006/table">
            <a:tbl>
              <a:tblPr/>
              <a:tblGrid>
                <a:gridCol w="430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BF8F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Metric</a:t>
                      </a:r>
                    </a:p>
                  </a:txBody>
                  <a:tcPr marL="152400" marR="152400" marT="114300" marB="114300" anchor="ctr">
                    <a:solidFill>
                      <a:srgbClr val="5B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BF8F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This week</a:t>
                      </a:r>
                    </a:p>
                  </a:txBody>
                  <a:tcPr marL="152400" marR="152400" marT="114300" marB="114300" anchor="ctr">
                    <a:solidFill>
                      <a:srgbClr val="5B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BF8F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Prior week</a:t>
                      </a:r>
                    </a:p>
                  </a:txBody>
                  <a:tcPr marL="152400" marR="152400" marT="114300" marB="114300" anchor="ctr">
                    <a:solidFill>
                      <a:srgbClr val="5B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BF8F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Target</a:t>
                      </a:r>
                    </a:p>
                  </a:txBody>
                  <a:tcPr marL="152400" marR="152400" marT="114300" marB="114300" anchor="ctr">
                    <a:solidFill>
                      <a:srgbClr val="5B2D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Signed gross ARR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$620K</a:t>
                      </a:r>
                    </a:p>
                  </a:txBody>
                  <a:tcPr marL="152400" marR="152400" marT="114300" marB="114300" anchor="ctr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$550K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$580K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Contracted ARR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$24.60M</a:t>
                      </a:r>
                    </a:p>
                  </a:txBody>
                  <a:tcPr marL="152400" marR="152400" marT="114300" marB="114300" anchor="ctr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$24.10M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$24.50M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Seven-day activation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61.8%</a:t>
                      </a:r>
                    </a:p>
                  </a:txBody>
                  <a:tcPr marL="152400" marR="152400" marT="114300" marB="114300" anchor="ctr">
                    <a:solidFill>
                      <a:srgbClr val="F0E5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65.9%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70.0%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Time to first value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4.6 days</a:t>
                      </a:r>
                    </a:p>
                  </a:txBody>
                  <a:tcPr marL="152400" marR="152400" marT="114300" marB="114300" anchor="ctr">
                    <a:solidFill>
                      <a:srgbClr val="F0E5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4.1 days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≤4.0 days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Net revenue retention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118.0%</a:t>
                      </a:r>
                    </a:p>
                  </a:txBody>
                  <a:tcPr marL="152400" marR="152400" marT="114300" marB="114300" anchor="ctr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117.6%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≥115.0%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Median P1 first response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38 min</a:t>
                      </a:r>
                    </a:p>
                  </a:txBody>
                  <a:tcPr marL="152400" marR="152400" marT="114300" marB="114300" anchor="ctr">
                    <a:solidFill>
                      <a:srgbClr val="EA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42 min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≤45 min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context-note">
            <a:extLst>
              <a:ext uri="{FF2B5EF4-FFF2-40B4-BE49-F238E27FC236}">
                <a16:creationId xmlns:a16="http://schemas.microsoft.com/office/drawing/2014/main" id="{80C6C2E2-8CC5-489C-B30A-E40D31C4DE57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Time to first value: median among activated workspaces. Retention: trailing 12 months.</a:t>
            </a:r>
          </a:p>
        </p:txBody>
      </p:sp>
    </p:spTree>
    <p:extLst>
      <p:ext uri="{BB962C8B-B14F-4D97-AF65-F5344CB8AC3E}">
        <p14:creationId xmlns:p14="http://schemas.microsoft.com/office/powerpoint/2010/main" val="739911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>
            <a:extLst>
              <a:ext uri="{FF2B5EF4-FFF2-40B4-BE49-F238E27FC236}">
                <a16:creationId xmlns:a16="http://schemas.microsoft.com/office/drawing/2014/main" id="{3E8793FC-AC43-451A-A6E1-D731F09A075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Bookings by Segment</a:t>
            </a:r>
          </a:p>
        </p:txBody>
      </p:sp>
      <p:sp>
        <p:nvSpPr>
          <p:cNvPr id="3" name="growth-metric">
            <a:extLst>
              <a:ext uri="{FF2B5EF4-FFF2-40B4-BE49-F238E27FC236}">
                <a16:creationId xmlns:a16="http://schemas.microsoft.com/office/drawing/2014/main" id="{1F40E52A-5AE7-4E4B-B696-82FF0D884D2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+13%</a:t>
            </a:r>
          </a:p>
        </p:txBody>
      </p:sp>
      <p:sp>
        <p:nvSpPr>
          <p:cNvPr id="4" name="growth-label">
            <a:extLst>
              <a:ext uri="{FF2B5EF4-FFF2-40B4-BE49-F238E27FC236}">
                <a16:creationId xmlns:a16="http://schemas.microsoft.com/office/drawing/2014/main" id="{58EE840F-11ED-4507-87D9-29DD7A0CAAF8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week over week</a:t>
            </a:r>
          </a:p>
        </p:txBody>
      </p:sp>
      <p:sp>
        <p:nvSpPr>
          <p:cNvPr id="5" name="growth-explanation">
            <a:extLst>
              <a:ext uri="{FF2B5EF4-FFF2-40B4-BE49-F238E27FC236}">
                <a16:creationId xmlns:a16="http://schemas.microsoft.com/office/drawing/2014/main" id="{28A4D330-4FC0-4D97-8270-D67ADA3023C9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Enterprise contributed $420K, or 68% of weekly bookings.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B3BD1085-C3F3-49CF-A22F-4E3A53475682}"/>
              </a:ext>
            </a:extLst>
          </p:cNvPr>
          <p:cNvGraphicFramePr/>
          <p:nvPr/>
        </p:nvGraphicFramePr>
        <p:xfrm>
          <a:off x="3981450" y="1657350"/>
          <a:ext cx="7620000" cy="4010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context-note">
            <a:extLst>
              <a:ext uri="{FF2B5EF4-FFF2-40B4-BE49-F238E27FC236}">
                <a16:creationId xmlns:a16="http://schemas.microsoft.com/office/drawing/2014/main" id="{75D97636-B8BE-45FD-AFC6-7077BD3061E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Signed gross ARR, $K. The latest week closed at $620K against a $580K plan.</a:t>
            </a:r>
          </a:p>
        </p:txBody>
      </p:sp>
      <p:sp>
        <p:nvSpPr>
          <p:cNvPr id="8" name="takeaway-subtitle">
            <a:extLst>
              <a:ext uri="{FF2B5EF4-FFF2-40B4-BE49-F238E27FC236}">
                <a16:creationId xmlns:a16="http://schemas.microsoft.com/office/drawing/2014/main" id="{2DBD2C07-1A6E-4E43-9EFC-0684550ACF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Enterprise bookings increased $90K, offsetting a $20K mid-market decline</a:t>
            </a:r>
          </a:p>
        </p:txBody>
      </p:sp>
    </p:spTree>
    <p:extLst>
      <p:ext uri="{BB962C8B-B14F-4D97-AF65-F5344CB8AC3E}">
        <p14:creationId xmlns:p14="http://schemas.microsoft.com/office/powerpoint/2010/main" val="867604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>
            <a:extLst>
              <a:ext uri="{FF2B5EF4-FFF2-40B4-BE49-F238E27FC236}">
                <a16:creationId xmlns:a16="http://schemas.microsoft.com/office/drawing/2014/main" id="{5ADC556B-C950-41A2-89B5-E3DBC1B0B06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Contracted ARR Bridge</a:t>
            </a:r>
          </a:p>
        </p:txBody>
      </p:sp>
      <p:sp>
        <p:nvSpPr>
          <p:cNvPr id="3" name="bridge-context">
            <a:extLst>
              <a:ext uri="{FF2B5EF4-FFF2-40B4-BE49-F238E27FC236}">
                <a16:creationId xmlns:a16="http://schemas.microsoft.com/office/drawing/2014/main" id="{8EAACB93-130A-4BFD-A990-A1F3F1A702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New customers and expansion added $620K in ARR, netting $500K after losses</a:t>
            </a:r>
          </a:p>
        </p:txBody>
      </p: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64DA9D57-9649-45C0-A6EC-4E81460CAD0F}"/>
              </a:ext>
            </a:extLst>
          </p:cNvPr>
          <p:cNvGraphicFramePr/>
          <p:nvPr/>
        </p:nvGraphicFramePr>
        <p:xfrm>
          <a:off x="571500" y="1962150"/>
          <a:ext cx="11029950" cy="38004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bridge-label-0">
            <a:extLst>
              <a:ext uri="{FF2B5EF4-FFF2-40B4-BE49-F238E27FC236}">
                <a16:creationId xmlns:a16="http://schemas.microsoft.com/office/drawing/2014/main" id="{CA053829-B122-48E5-8308-592AA8CE799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$24.10M</a:t>
            </a:r>
          </a:p>
        </p:txBody>
      </p:sp>
      <p:sp>
        <p:nvSpPr>
          <p:cNvPr id="6" name="bridge-label-1">
            <a:extLst>
              <a:ext uri="{FF2B5EF4-FFF2-40B4-BE49-F238E27FC236}">
                <a16:creationId xmlns:a16="http://schemas.microsoft.com/office/drawing/2014/main" id="{BECC8B6B-6677-4B42-8044-3747A284E791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+$470K</a:t>
            </a:r>
          </a:p>
        </p:txBody>
      </p:sp>
      <p:sp>
        <p:nvSpPr>
          <p:cNvPr id="7" name="bridge-label-2">
            <a:extLst>
              <a:ext uri="{FF2B5EF4-FFF2-40B4-BE49-F238E27FC236}">
                <a16:creationId xmlns:a16="http://schemas.microsoft.com/office/drawing/2014/main" id="{CA44CF63-160E-4A2A-B98C-DC912104ABFA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+$150K</a:t>
            </a:r>
          </a:p>
        </p:txBody>
      </p:sp>
      <p:sp>
        <p:nvSpPr>
          <p:cNvPr id="8" name="bridge-label-3">
            <a:extLst>
              <a:ext uri="{FF2B5EF4-FFF2-40B4-BE49-F238E27FC236}">
                <a16:creationId xmlns:a16="http://schemas.microsoft.com/office/drawing/2014/main" id="{4D595D80-0781-4CF5-A060-75E0A64D121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−$40K</a:t>
            </a:r>
          </a:p>
        </p:txBody>
      </p:sp>
      <p:sp>
        <p:nvSpPr>
          <p:cNvPr id="9" name="bridge-label-4">
            <a:extLst>
              <a:ext uri="{FF2B5EF4-FFF2-40B4-BE49-F238E27FC236}">
                <a16:creationId xmlns:a16="http://schemas.microsoft.com/office/drawing/2014/main" id="{E7B87F5D-58CE-4FE3-8833-31AB2257255D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−$80K</a:t>
            </a:r>
          </a:p>
        </p:txBody>
      </p:sp>
      <p:sp>
        <p:nvSpPr>
          <p:cNvPr id="10" name="bridge-label-5">
            <a:extLst>
              <a:ext uri="{FF2B5EF4-FFF2-40B4-BE49-F238E27FC236}">
                <a16:creationId xmlns:a16="http://schemas.microsoft.com/office/drawing/2014/main" id="{8D4E5313-246A-4FFB-8CA6-178FF23F746F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$24.60M</a:t>
            </a:r>
          </a:p>
        </p:txBody>
      </p:sp>
      <p:sp>
        <p:nvSpPr>
          <p:cNvPr id="11" name="context-note">
            <a:extLst>
              <a:ext uri="{FF2B5EF4-FFF2-40B4-BE49-F238E27FC236}">
                <a16:creationId xmlns:a16="http://schemas.microsoft.com/office/drawing/2014/main" id="{E3EBA5D2-C17F-4907-BFCF-88CFF14F3224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Expansion exceeded contraction and churn by $30K. Vertical axis begins at $24M.</a:t>
            </a:r>
          </a:p>
        </p:txBody>
      </p:sp>
    </p:spTree>
    <p:extLst>
      <p:ext uri="{BB962C8B-B14F-4D97-AF65-F5344CB8AC3E}">
        <p14:creationId xmlns:p14="http://schemas.microsoft.com/office/powerpoint/2010/main" val="873953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>
            <a:extLst>
              <a:ext uri="{FF2B5EF4-FFF2-40B4-BE49-F238E27FC236}">
                <a16:creationId xmlns:a16="http://schemas.microsoft.com/office/drawing/2014/main" id="{2D1DD5DE-331D-4044-BDCE-4B4CB765239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Customer Activation</a:t>
            </a:r>
          </a:p>
        </p:txBody>
      </p:sp>
      <p:sp>
        <p:nvSpPr>
          <p:cNvPr id="3" name="activation-gap">
            <a:extLst>
              <a:ext uri="{FF2B5EF4-FFF2-40B4-BE49-F238E27FC236}">
                <a16:creationId xmlns:a16="http://schemas.microsoft.com/office/drawing/2014/main" id="{2B679CDD-08EF-4DCF-B131-8B9CB206707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18</a:t>
            </a:r>
          </a:p>
        </p:txBody>
      </p:sp>
      <p:sp>
        <p:nvSpPr>
          <p:cNvPr id="4" name="activation-gap-label">
            <a:extLst>
              <a:ext uri="{FF2B5EF4-FFF2-40B4-BE49-F238E27FC236}">
                <a16:creationId xmlns:a16="http://schemas.microsoft.com/office/drawing/2014/main" id="{ED0D9197-3750-4A4D-B36B-C8598332A00A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more activations</a:t>
            </a:r>
          </a:p>
          <a:p>
            <a:r>
              <a:t>to reach 70%</a:t>
            </a:r>
          </a:p>
        </p:txBody>
      </p:sp>
      <p:sp>
        <p:nvSpPr>
          <p:cNvPr id="5" name="activation-current">
            <a:extLst>
              <a:ext uri="{FF2B5EF4-FFF2-40B4-BE49-F238E27FC236}">
                <a16:creationId xmlns:a16="http://schemas.microsoft.com/office/drawing/2014/main" id="{D60A7C43-1570-41EA-B2F8-2E88BCF1844A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136 of 220 workspaces</a:t>
            </a:r>
          </a:p>
          <a:p>
            <a:r>
              <a:t>achieved first value.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197EE45B-579B-459E-807B-C18159956418}"/>
              </a:ext>
            </a:extLst>
          </p:cNvPr>
          <p:cNvGraphicFramePr/>
          <p:nvPr/>
        </p:nvGraphicFramePr>
        <p:xfrm>
          <a:off x="4162425" y="1695450"/>
          <a:ext cx="7429500" cy="335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activation-insight">
            <a:extLst>
              <a:ext uri="{FF2B5EF4-FFF2-40B4-BE49-F238E27FC236}">
                <a16:creationId xmlns:a16="http://schemas.microsoft.com/office/drawing/2014/main" id="{00512CE8-AFEF-43B6-95C4-2BC3D85684C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35 workspaces connected data but did not launch a workflow. Proposed intervention: guided setup and workflow templates.</a:t>
            </a:r>
          </a:p>
        </p:txBody>
      </p:sp>
      <p:sp>
        <p:nvSpPr>
          <p:cNvPr id="8" name="context-note">
            <a:extLst>
              <a:ext uri="{FF2B5EF4-FFF2-40B4-BE49-F238E27FC236}">
                <a16:creationId xmlns:a16="http://schemas.microsoft.com/office/drawing/2014/main" id="{B44D3540-9B93-4DAD-AB8A-60E224CC2AA4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Workspaces created Sep 28–Oct 2, observed through Oct 9.</a:t>
            </a:r>
          </a:p>
        </p:txBody>
      </p:sp>
      <p:sp>
        <p:nvSpPr>
          <p:cNvPr id="9" name="takeaway-subtitle">
            <a:extLst>
              <a:ext uri="{FF2B5EF4-FFF2-40B4-BE49-F238E27FC236}">
                <a16:creationId xmlns:a16="http://schemas.microsoft.com/office/drawing/2014/main" id="{F2EEAD2B-491A-4FD2-B4A5-445515E9E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Activation reached 61.8%; workflow setup accounted for the largest drop-off</a:t>
            </a:r>
          </a:p>
        </p:txBody>
      </p:sp>
      <p:sp>
        <p:nvSpPr>
          <p:cNvPr id="10" name="activation-stage-label-0">
            <a:extLst>
              <a:ext uri="{FF2B5EF4-FFF2-40B4-BE49-F238E27FC236}">
                <a16:creationId xmlns:a16="http://schemas.microsoft.com/office/drawing/2014/main" id="{74838F24-A7C3-4576-AB38-9DC5B16F059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First value</a:t>
            </a:r>
          </a:p>
        </p:txBody>
      </p:sp>
      <p:sp>
        <p:nvSpPr>
          <p:cNvPr id="11" name="activation-stage-label-1">
            <a:extLst>
              <a:ext uri="{FF2B5EF4-FFF2-40B4-BE49-F238E27FC236}">
                <a16:creationId xmlns:a16="http://schemas.microsoft.com/office/drawing/2014/main" id="{817082EC-6E89-4D0F-8C7B-E459047F1BA7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First workflow</a:t>
            </a:r>
          </a:p>
        </p:txBody>
      </p:sp>
      <p:sp>
        <p:nvSpPr>
          <p:cNvPr id="12" name="activation-stage-label-2">
            <a:extLst>
              <a:ext uri="{FF2B5EF4-FFF2-40B4-BE49-F238E27FC236}">
                <a16:creationId xmlns:a16="http://schemas.microsoft.com/office/drawing/2014/main" id="{582904B4-3DBC-45B5-BC55-CD218835ACDB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Connected data</a:t>
            </a:r>
          </a:p>
        </p:txBody>
      </p:sp>
      <p:sp>
        <p:nvSpPr>
          <p:cNvPr id="13" name="activation-stage-label-3">
            <a:extLst>
              <a:ext uri="{FF2B5EF4-FFF2-40B4-BE49-F238E27FC236}">
                <a16:creationId xmlns:a16="http://schemas.microsoft.com/office/drawing/2014/main" id="{41B59E7C-AD75-45A6-8BC3-974E3F7C5510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Created</a:t>
            </a:r>
          </a:p>
        </p:txBody>
      </p:sp>
    </p:spTree>
    <p:extLst>
      <p:ext uri="{BB962C8B-B14F-4D97-AF65-F5344CB8AC3E}">
        <p14:creationId xmlns:p14="http://schemas.microsoft.com/office/powerpoint/2010/main" val="416942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>
            <a:extLst>
              <a:ext uri="{FF2B5EF4-FFF2-40B4-BE49-F238E27FC236}">
                <a16:creationId xmlns:a16="http://schemas.microsoft.com/office/drawing/2014/main" id="{6F109DA9-CC62-42E0-A068-CCE115761E2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Customer Retention</a:t>
            </a:r>
          </a:p>
        </p:txBody>
      </p:sp>
      <p:sp>
        <p:nvSpPr>
          <p:cNvPr id="3" name="cohort-subtitle">
            <a:extLst>
              <a:ext uri="{FF2B5EF4-FFF2-40B4-BE49-F238E27FC236}">
                <a16:creationId xmlns:a16="http://schemas.microsoft.com/office/drawing/2014/main" id="{8D8ACF76-4F71-4422-9457-110C547EA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Net revenue retention reached 118%; six-week activity retention was 85% for the oldest cohort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87DBA4-BA02-44E3-92B4-E98DF9FC33B7}"/>
              </a:ext>
            </a:extLst>
          </p:cNvPr>
          <p:cNvGraphicFramePr/>
          <p:nvPr/>
        </p:nvGraphicFramePr>
        <p:xfrm>
          <a:off x="514350" y="1990725"/>
          <a:ext cx="8048625" cy="3333750"/>
        </p:xfrm>
        <a:graphic>
          <a:graphicData uri="http://schemas.openxmlformats.org/drawingml/2006/table">
            <a:tbl>
              <a:tblPr/>
              <a:tblGrid>
                <a:gridCol w="176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BF8F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Cohort</a:t>
                      </a:r>
                    </a:p>
                  </a:txBody>
                  <a:tcPr marL="152400" marR="152400" marT="114300" marB="114300" anchor="ctr">
                    <a:solidFill>
                      <a:srgbClr val="5B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BF8F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W1</a:t>
                      </a:r>
                    </a:p>
                  </a:txBody>
                  <a:tcPr marL="152400" marR="152400" marT="114300" marB="114300" anchor="ctr">
                    <a:solidFill>
                      <a:srgbClr val="5B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BF8F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W2</a:t>
                      </a:r>
                    </a:p>
                  </a:txBody>
                  <a:tcPr marL="152400" marR="152400" marT="114300" marB="114300" anchor="ctr">
                    <a:solidFill>
                      <a:srgbClr val="5B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BF8F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W3</a:t>
                      </a:r>
                    </a:p>
                  </a:txBody>
                  <a:tcPr marL="152400" marR="152400" marT="114300" marB="114300" anchor="ctr">
                    <a:solidFill>
                      <a:srgbClr val="5B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BF8F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W4</a:t>
                      </a:r>
                    </a:p>
                  </a:txBody>
                  <a:tcPr marL="152400" marR="152400" marT="114300" marB="114300" anchor="ctr">
                    <a:solidFill>
                      <a:srgbClr val="5B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BF8F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W5</a:t>
                      </a:r>
                    </a:p>
                  </a:txBody>
                  <a:tcPr marL="152400" marR="152400" marT="114300" marB="114300" anchor="ctr">
                    <a:solidFill>
                      <a:srgbClr val="5B2D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BF8F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W6</a:t>
                      </a:r>
                    </a:p>
                  </a:txBody>
                  <a:tcPr marL="152400" marR="152400" marT="114300" marB="114300" anchor="ctr">
                    <a:solidFill>
                      <a:srgbClr val="5B2D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Aug 28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BF8F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94%</a:t>
                      </a:r>
                    </a:p>
                  </a:txBody>
                  <a:tcPr marL="152400" marR="152400" marT="114300" marB="114300" anchor="ctr">
                    <a:solidFill>
                      <a:srgbClr val="5B2D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BF8F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90%</a:t>
                      </a:r>
                    </a:p>
                  </a:txBody>
                  <a:tcPr marL="152400" marR="152400" marT="114300" marB="114300" anchor="ctr">
                    <a:solidFill>
                      <a:srgbClr val="865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88%</a:t>
                      </a:r>
                    </a:p>
                  </a:txBody>
                  <a:tcPr marL="152400" marR="152400" marT="114300" marB="114300" anchor="ctr">
                    <a:solidFill>
                      <a:srgbClr val="B580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87%</a:t>
                      </a:r>
                    </a:p>
                  </a:txBody>
                  <a:tcPr marL="152400" marR="152400" marT="114300" marB="114300" anchor="ctr">
                    <a:solidFill>
                      <a:srgbClr val="B580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86%</a:t>
                      </a:r>
                    </a:p>
                  </a:txBody>
                  <a:tcPr marL="152400" marR="152400" marT="114300" marB="114300" anchor="ctr">
                    <a:solidFill>
                      <a:srgbClr val="DBC0B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85%</a:t>
                      </a:r>
                    </a:p>
                  </a:txBody>
                  <a:tcPr marL="152400" marR="152400" marT="114300" marB="114300" anchor="ctr">
                    <a:solidFill>
                      <a:srgbClr val="DBC0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Sep 4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BF8F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95%</a:t>
                      </a:r>
                    </a:p>
                  </a:txBody>
                  <a:tcPr marL="152400" marR="152400" marT="114300" marB="114300" anchor="ctr">
                    <a:solidFill>
                      <a:srgbClr val="5B2D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BF8F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92%</a:t>
                      </a:r>
                    </a:p>
                  </a:txBody>
                  <a:tcPr marL="152400" marR="152400" marT="114300" marB="114300" anchor="ctr">
                    <a:solidFill>
                      <a:srgbClr val="865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89%</a:t>
                      </a:r>
                    </a:p>
                  </a:txBody>
                  <a:tcPr marL="152400" marR="152400" marT="114300" marB="114300" anchor="ctr">
                    <a:solidFill>
                      <a:srgbClr val="B580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88%</a:t>
                      </a:r>
                    </a:p>
                  </a:txBody>
                  <a:tcPr marL="152400" marR="152400" marT="114300" marB="114300" anchor="ctr">
                    <a:solidFill>
                      <a:srgbClr val="B580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87%</a:t>
                      </a:r>
                    </a:p>
                  </a:txBody>
                  <a:tcPr marL="152400" marR="152400" marT="114300" marB="114300" anchor="ctr">
                    <a:solidFill>
                      <a:srgbClr val="B58087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Sep 11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BF8F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96%</a:t>
                      </a:r>
                    </a:p>
                  </a:txBody>
                  <a:tcPr marL="152400" marR="152400" marT="114300" marB="114300" anchor="ctr">
                    <a:solidFill>
                      <a:srgbClr val="5B2D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BF8F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93%</a:t>
                      </a:r>
                    </a:p>
                  </a:txBody>
                  <a:tcPr marL="152400" marR="152400" marT="114300" marB="114300" anchor="ctr">
                    <a:solidFill>
                      <a:srgbClr val="865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BF8F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91%</a:t>
                      </a:r>
                    </a:p>
                  </a:txBody>
                  <a:tcPr marL="152400" marR="152400" marT="114300" marB="114300" anchor="ctr">
                    <a:solidFill>
                      <a:srgbClr val="865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89%</a:t>
                      </a:r>
                    </a:p>
                  </a:txBody>
                  <a:tcPr marL="152400" marR="152400" marT="114300" marB="114300" anchor="ctr">
                    <a:solidFill>
                      <a:srgbClr val="B58087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Sep 18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BF8F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95%</a:t>
                      </a:r>
                    </a:p>
                  </a:txBody>
                  <a:tcPr marL="152400" marR="152400" marT="114300" marB="114300" anchor="ctr">
                    <a:solidFill>
                      <a:srgbClr val="5B2D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BF8F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92%</a:t>
                      </a:r>
                    </a:p>
                  </a:txBody>
                  <a:tcPr marL="152400" marR="152400" marT="114300" marB="114300" anchor="ctr">
                    <a:solidFill>
                      <a:srgbClr val="865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BF8F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90%</a:t>
                      </a:r>
                    </a:p>
                  </a:txBody>
                  <a:tcPr marL="152400" marR="152400" marT="114300" marB="114300" anchor="ctr">
                    <a:solidFill>
                      <a:srgbClr val="865569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Sep 25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BF8F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97%</a:t>
                      </a:r>
                    </a:p>
                  </a:txBody>
                  <a:tcPr marL="152400" marR="152400" marT="114300" marB="114300" anchor="ctr">
                    <a:solidFill>
                      <a:srgbClr val="5B2D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BF8F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94%</a:t>
                      </a:r>
                    </a:p>
                  </a:txBody>
                  <a:tcPr marL="152400" marR="152400" marT="114300" marB="114300" anchor="ctr">
                    <a:solidFill>
                      <a:srgbClr val="5B2D4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301C2B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Oct 2</a:t>
                      </a:r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BF8F3"/>
                          </a:solidFill>
                          <a:latin typeface="IBM Plex Sans"/>
                          <a:ea typeface="IBM Plex Sans"/>
                          <a:cs typeface="IBM Plex Sans"/>
                        </a:rPr>
                        <a:t>96%</a:t>
                      </a:r>
                    </a:p>
                  </a:txBody>
                  <a:tcPr marL="152400" marR="152400" marT="114300" marB="114300" anchor="ctr">
                    <a:solidFill>
                      <a:srgbClr val="5B2D46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52400" marR="1524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nrr-metric">
            <a:extLst>
              <a:ext uri="{FF2B5EF4-FFF2-40B4-BE49-F238E27FC236}">
                <a16:creationId xmlns:a16="http://schemas.microsoft.com/office/drawing/2014/main" id="{98CA286A-CAF7-436A-8FE7-45136AB4B960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118%</a:t>
            </a:r>
          </a:p>
        </p:txBody>
      </p:sp>
      <p:sp>
        <p:nvSpPr>
          <p:cNvPr id="6" name="nrr-label">
            <a:extLst>
              <a:ext uri="{FF2B5EF4-FFF2-40B4-BE49-F238E27FC236}">
                <a16:creationId xmlns:a16="http://schemas.microsoft.com/office/drawing/2014/main" id="{2FE5E196-8115-4EA7-8648-6AC07346F428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Net retention</a:t>
            </a:r>
          </a:p>
        </p:txBody>
      </p:sp>
      <p:sp>
        <p:nvSpPr>
          <p:cNvPr id="7" name="grr-metric">
            <a:extLst>
              <a:ext uri="{FF2B5EF4-FFF2-40B4-BE49-F238E27FC236}">
                <a16:creationId xmlns:a16="http://schemas.microsoft.com/office/drawing/2014/main" id="{52AD4909-DA5B-40AF-9AAE-E6E4B8F42D17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94%</a:t>
            </a:r>
          </a:p>
        </p:txBody>
      </p:sp>
      <p:sp>
        <p:nvSpPr>
          <p:cNvPr id="8" name="grr-label">
            <a:extLst>
              <a:ext uri="{FF2B5EF4-FFF2-40B4-BE49-F238E27FC236}">
                <a16:creationId xmlns:a16="http://schemas.microsoft.com/office/drawing/2014/main" id="{91773EEE-0AF3-41FC-95ED-ACF9C077916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Gross retention</a:t>
            </a:r>
          </a:p>
        </p:txBody>
      </p:sp>
      <p:sp>
        <p:nvSpPr>
          <p:cNvPr id="9" name="retention-period">
            <a:extLst>
              <a:ext uri="{FF2B5EF4-FFF2-40B4-BE49-F238E27FC236}">
                <a16:creationId xmlns:a16="http://schemas.microsoft.com/office/drawing/2014/main" id="{658D5608-B025-4C9C-AADB-8C6DBC482BB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Trailing 12 months</a:t>
            </a:r>
          </a:p>
        </p:txBody>
      </p:sp>
      <p:sp>
        <p:nvSpPr>
          <p:cNvPr id="10" name="context-note">
            <a:extLst>
              <a:ext uri="{FF2B5EF4-FFF2-40B4-BE49-F238E27FC236}">
                <a16:creationId xmlns:a16="http://schemas.microsoft.com/office/drawing/2014/main" id="{215A1BD4-0C3A-45CF-A589-F3A134D0604F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Weekly active share of each activation cohort. Blank cells indicate periods not yet reached.</a:t>
            </a:r>
          </a:p>
        </p:txBody>
      </p:sp>
    </p:spTree>
    <p:extLst>
      <p:ext uri="{BB962C8B-B14F-4D97-AF65-F5344CB8AC3E}">
        <p14:creationId xmlns:p14="http://schemas.microsoft.com/office/powerpoint/2010/main" val="720798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>
            <a:extLst>
              <a:ext uri="{FF2B5EF4-FFF2-40B4-BE49-F238E27FC236}">
                <a16:creationId xmlns:a16="http://schemas.microsoft.com/office/drawing/2014/main" id="{44A96A0E-4998-4A73-A0CD-9F34731A06DC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Product Release Schedule</a:t>
            </a:r>
          </a:p>
        </p:txBody>
      </p:sp>
      <p:sp>
        <p:nvSpPr>
          <p:cNvPr id="3" name="roadmap-subtitle">
            <a:extLst>
              <a:ext uri="{FF2B5EF4-FFF2-40B4-BE49-F238E27FC236}">
                <a16:creationId xmlns:a16="http://schemas.microsoft.com/office/drawing/2014/main" id="{542B0496-DA98-42EC-A9C4-F6CE1264E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Three releases are scheduled by October 23, including self-service integrations on October 16</a:t>
            </a:r>
          </a:p>
        </p:txBody>
      </p:sp>
      <p:sp>
        <p:nvSpPr>
          <p:cNvPr id="4" name="milestone-date-0">
            <a:extLst>
              <a:ext uri="{FF2B5EF4-FFF2-40B4-BE49-F238E27FC236}">
                <a16:creationId xmlns:a16="http://schemas.microsoft.com/office/drawing/2014/main" id="{91DE631F-CBB3-4B4D-884B-60B741A84E3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OCT 13</a:t>
            </a:r>
          </a:p>
        </p:txBody>
      </p:sp>
      <p:sp>
        <p:nvSpPr>
          <p:cNvPr id="5" name="milestone-phase-0">
            <a:extLst>
              <a:ext uri="{FF2B5EF4-FFF2-40B4-BE49-F238E27FC236}">
                <a16:creationId xmlns:a16="http://schemas.microsoft.com/office/drawing/2014/main" id="{276D3716-4A6E-4735-B966-F71E02B92B37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GENERAL AVAILABILITY</a:t>
            </a:r>
          </a:p>
        </p:txBody>
      </p:sp>
      <p:sp>
        <p:nvSpPr>
          <p:cNvPr id="6" name="release-title-0">
            <a:extLst>
              <a:ext uri="{FF2B5EF4-FFF2-40B4-BE49-F238E27FC236}">
                <a16:creationId xmlns:a16="http://schemas.microsoft.com/office/drawing/2014/main" id="{1FDCC1E3-394B-4822-BD20-798629ECCA6A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Approval routing</a:t>
            </a:r>
          </a:p>
        </p:txBody>
      </p:sp>
      <p:sp>
        <p:nvSpPr>
          <p:cNvPr id="7" name="release-description-0">
            <a:extLst>
              <a:ext uri="{FF2B5EF4-FFF2-40B4-BE49-F238E27FC236}">
                <a16:creationId xmlns:a16="http://schemas.microsoft.com/office/drawing/2014/main" id="{2D4DD22B-9A56-4244-99E0-53D4B86AC36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Support approval workflows for enterprise customers.</a:t>
            </a:r>
          </a:p>
        </p:txBody>
      </p:sp>
      <p:sp>
        <p:nvSpPr>
          <p:cNvPr id="8" name="release-owner-0">
            <a:extLst>
              <a:ext uri="{FF2B5EF4-FFF2-40B4-BE49-F238E27FC236}">
                <a16:creationId xmlns:a16="http://schemas.microsoft.com/office/drawing/2014/main" id="{32BAD299-D526-4F1A-A800-C764363B5FB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Maya Chen</a:t>
            </a:r>
          </a:p>
        </p:txBody>
      </p:sp>
      <p:sp>
        <p:nvSpPr>
          <p:cNvPr id="9" name="milestone-date-1">
            <a:extLst>
              <a:ext uri="{FF2B5EF4-FFF2-40B4-BE49-F238E27FC236}">
                <a16:creationId xmlns:a16="http://schemas.microsoft.com/office/drawing/2014/main" id="{EA1F5572-9B2C-4627-934F-B0701DBF3FB5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OCT 16</a:t>
            </a:r>
          </a:p>
        </p:txBody>
      </p:sp>
      <p:sp>
        <p:nvSpPr>
          <p:cNvPr id="10" name="milestone-phase-1">
            <a:extLst>
              <a:ext uri="{FF2B5EF4-FFF2-40B4-BE49-F238E27FC236}">
                <a16:creationId xmlns:a16="http://schemas.microsoft.com/office/drawing/2014/main" id="{E2D336C3-56AA-402D-8F82-5F780D827EBD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BETA</a:t>
            </a:r>
          </a:p>
        </p:txBody>
      </p:sp>
      <p:sp>
        <p:nvSpPr>
          <p:cNvPr id="11" name="release-title-1">
            <a:extLst>
              <a:ext uri="{FF2B5EF4-FFF2-40B4-BE49-F238E27FC236}">
                <a16:creationId xmlns:a16="http://schemas.microsoft.com/office/drawing/2014/main" id="{CEF32E04-4F2B-4C84-9204-944ECB6C191C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Self-service</a:t>
            </a:r>
          </a:p>
          <a:p>
            <a:r>
              <a:t>integrations</a:t>
            </a:r>
          </a:p>
        </p:txBody>
      </p:sp>
      <p:sp>
        <p:nvSpPr>
          <p:cNvPr id="12" name="release-description-1">
            <a:extLst>
              <a:ext uri="{FF2B5EF4-FFF2-40B4-BE49-F238E27FC236}">
                <a16:creationId xmlns:a16="http://schemas.microsoft.com/office/drawing/2014/main" id="{E5406963-BB71-4133-AD26-F60FF25C0399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Reduce reliance on assisted setup.</a:t>
            </a:r>
          </a:p>
        </p:txBody>
      </p:sp>
      <p:sp>
        <p:nvSpPr>
          <p:cNvPr id="13" name="release-owner-1">
            <a:extLst>
              <a:ext uri="{FF2B5EF4-FFF2-40B4-BE49-F238E27FC236}">
                <a16:creationId xmlns:a16="http://schemas.microsoft.com/office/drawing/2014/main" id="{F4D955A3-FA17-42F2-A823-7A92E816A3CC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Theo Reed</a:t>
            </a:r>
          </a:p>
        </p:txBody>
      </p:sp>
      <p:sp>
        <p:nvSpPr>
          <p:cNvPr id="14" name="milestone-date-2">
            <a:extLst>
              <a:ext uri="{FF2B5EF4-FFF2-40B4-BE49-F238E27FC236}">
                <a16:creationId xmlns:a16="http://schemas.microsoft.com/office/drawing/2014/main" id="{A46987BB-527F-4BED-BEB0-19E838167285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OCT 23</a:t>
            </a:r>
          </a:p>
        </p:txBody>
      </p:sp>
      <p:sp>
        <p:nvSpPr>
          <p:cNvPr id="15" name="milestone-phase-2">
            <a:extLst>
              <a:ext uri="{FF2B5EF4-FFF2-40B4-BE49-F238E27FC236}">
                <a16:creationId xmlns:a16="http://schemas.microsoft.com/office/drawing/2014/main" id="{3597A209-6EE3-4A14-96E2-446A94824F7E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GENERAL AVAILABILITY</a:t>
            </a:r>
          </a:p>
        </p:txBody>
      </p:sp>
      <p:sp>
        <p:nvSpPr>
          <p:cNvPr id="16" name="release-title-2">
            <a:extLst>
              <a:ext uri="{FF2B5EF4-FFF2-40B4-BE49-F238E27FC236}">
                <a16:creationId xmlns:a16="http://schemas.microsoft.com/office/drawing/2014/main" id="{586881C2-FF8C-4614-80EE-A6C2CF373751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Audit history</a:t>
            </a:r>
          </a:p>
        </p:txBody>
      </p:sp>
      <p:sp>
        <p:nvSpPr>
          <p:cNvPr id="17" name="release-description-2">
            <a:extLst>
              <a:ext uri="{FF2B5EF4-FFF2-40B4-BE49-F238E27FC236}">
                <a16:creationId xmlns:a16="http://schemas.microsoft.com/office/drawing/2014/main" id="{34667E73-DEEF-411A-98B6-15C9DB5D2896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Address security and renewal requirements.</a:t>
            </a:r>
          </a:p>
        </p:txBody>
      </p:sp>
      <p:sp>
        <p:nvSpPr>
          <p:cNvPr id="18" name="release-owner-2">
            <a:extLst>
              <a:ext uri="{FF2B5EF4-FFF2-40B4-BE49-F238E27FC236}">
                <a16:creationId xmlns:a16="http://schemas.microsoft.com/office/drawing/2014/main" id="{1776B30A-A54F-472E-B53D-F48B3638218C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Priya Shah</a:t>
            </a:r>
          </a:p>
        </p:txBody>
      </p:sp>
    </p:spTree>
    <p:extLst>
      <p:ext uri="{BB962C8B-B14F-4D97-AF65-F5344CB8AC3E}">
        <p14:creationId xmlns:p14="http://schemas.microsoft.com/office/powerpoint/2010/main" val="1806216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line">
            <a:extLst>
              <a:ext uri="{FF2B5EF4-FFF2-40B4-BE49-F238E27FC236}">
                <a16:creationId xmlns:a16="http://schemas.microsoft.com/office/drawing/2014/main" id="{175CD79F-9B5C-4D80-A169-26F4179BE37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Risks and Mitigations</a:t>
            </a:r>
          </a:p>
        </p:txBody>
      </p:sp>
      <p:sp>
        <p:nvSpPr>
          <p:cNvPr id="3" name="risk-level-0">
            <a:extLst>
              <a:ext uri="{FF2B5EF4-FFF2-40B4-BE49-F238E27FC236}">
                <a16:creationId xmlns:a16="http://schemas.microsoft.com/office/drawing/2014/main" id="{0C58DB08-115E-4652-96AE-BE5DBFEF1E33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HIGH</a:t>
            </a:r>
          </a:p>
        </p:txBody>
      </p:sp>
      <p:sp>
        <p:nvSpPr>
          <p:cNvPr id="4" name="risk-title-0">
            <a:extLst>
              <a:ext uri="{FF2B5EF4-FFF2-40B4-BE49-F238E27FC236}">
                <a16:creationId xmlns:a16="http://schemas.microsoft.com/office/drawing/2014/main" id="{06143882-3606-4B24-84D0-0B72439E0156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Activation</a:t>
            </a:r>
          </a:p>
        </p:txBody>
      </p:sp>
      <p:sp>
        <p:nvSpPr>
          <p:cNvPr id="5" name="risk-stat-0">
            <a:extLst>
              <a:ext uri="{FF2B5EF4-FFF2-40B4-BE49-F238E27FC236}">
                <a16:creationId xmlns:a16="http://schemas.microsoft.com/office/drawing/2014/main" id="{D17A3A4C-307E-4960-8D9A-011B91B96AE3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35</a:t>
            </a:r>
          </a:p>
        </p:txBody>
      </p:sp>
      <p:sp>
        <p:nvSpPr>
          <p:cNvPr id="6" name="risk-label-0">
            <a:extLst>
              <a:ext uri="{FF2B5EF4-FFF2-40B4-BE49-F238E27FC236}">
                <a16:creationId xmlns:a16="http://schemas.microsoft.com/office/drawing/2014/main" id="{097A0B93-86C5-4201-B5B4-E68C199718C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connected workspaces</a:t>
            </a:r>
          </a:p>
          <a:p>
            <a:r>
              <a:t>without a workflow</a:t>
            </a:r>
          </a:p>
        </p:txBody>
      </p:sp>
      <p:sp>
        <p:nvSpPr>
          <p:cNvPr id="7" name="risk-body-0">
            <a:extLst>
              <a:ext uri="{FF2B5EF4-FFF2-40B4-BE49-F238E27FC236}">
                <a16:creationId xmlns:a16="http://schemas.microsoft.com/office/drawing/2014/main" id="{8FB6AC50-2935-4EB9-BF9A-821504B87644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Introduce guided setup and workflow templates on October 12.</a:t>
            </a:r>
          </a:p>
        </p:txBody>
      </p:sp>
      <p:sp>
        <p:nvSpPr>
          <p:cNvPr id="8" name="risk-owner-0">
            <a:extLst>
              <a:ext uri="{FF2B5EF4-FFF2-40B4-BE49-F238E27FC236}">
                <a16:creationId xmlns:a16="http://schemas.microsoft.com/office/drawing/2014/main" id="{74BB87C2-D6FA-4CA8-92E4-996DCA70E4EE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Theo Reed</a:t>
            </a:r>
          </a:p>
        </p:txBody>
      </p:sp>
      <p:sp>
        <p:nvSpPr>
          <p:cNvPr id="9" name="risk-date-0">
            <a:extLst>
              <a:ext uri="{FF2B5EF4-FFF2-40B4-BE49-F238E27FC236}">
                <a16:creationId xmlns:a16="http://schemas.microsoft.com/office/drawing/2014/main" id="{01713DC2-4957-4885-B26E-0480857FF75C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Checkpoint  Oct 16</a:t>
            </a:r>
          </a:p>
        </p:txBody>
      </p:sp>
      <p:sp>
        <p:nvSpPr>
          <p:cNvPr id="10" name="risk-level-1">
            <a:extLst>
              <a:ext uri="{FF2B5EF4-FFF2-40B4-BE49-F238E27FC236}">
                <a16:creationId xmlns:a16="http://schemas.microsoft.com/office/drawing/2014/main" id="{CF1C9D88-77CE-4074-81F3-651AF8547331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MEDIUM</a:t>
            </a:r>
          </a:p>
        </p:txBody>
      </p:sp>
      <p:sp>
        <p:nvSpPr>
          <p:cNvPr id="11" name="risk-title-1">
            <a:extLst>
              <a:ext uri="{FF2B5EF4-FFF2-40B4-BE49-F238E27FC236}">
                <a16:creationId xmlns:a16="http://schemas.microsoft.com/office/drawing/2014/main" id="{332E2F11-15B9-4860-A32B-8BC38B22E46E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Renewal</a:t>
            </a:r>
          </a:p>
        </p:txBody>
      </p:sp>
      <p:sp>
        <p:nvSpPr>
          <p:cNvPr id="12" name="risk-stat-1">
            <a:extLst>
              <a:ext uri="{FF2B5EF4-FFF2-40B4-BE49-F238E27FC236}">
                <a16:creationId xmlns:a16="http://schemas.microsoft.com/office/drawing/2014/main" id="{D8859896-98F3-407A-A7E2-36EB72560033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$220K</a:t>
            </a:r>
          </a:p>
        </p:txBody>
      </p:sp>
      <p:sp>
        <p:nvSpPr>
          <p:cNvPr id="13" name="risk-label-1">
            <a:extLst>
              <a:ext uri="{FF2B5EF4-FFF2-40B4-BE49-F238E27FC236}">
                <a16:creationId xmlns:a16="http://schemas.microsoft.com/office/drawing/2014/main" id="{9BC95632-0E02-43E5-86DB-A28DE48A2BA1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ARR awaits</a:t>
            </a:r>
          </a:p>
          <a:p>
            <a:r>
              <a:t>security sign-off</a:t>
            </a:r>
          </a:p>
        </p:txBody>
      </p:sp>
      <p:sp>
        <p:nvSpPr>
          <p:cNvPr id="14" name="risk-body-1">
            <a:extLst>
              <a:ext uri="{FF2B5EF4-FFF2-40B4-BE49-F238E27FC236}">
                <a16:creationId xmlns:a16="http://schemas.microsoft.com/office/drawing/2014/main" id="{DA220E4E-6397-46D7-852D-A5595AA0CFBC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Complete the security review before the October 30 renewal.</a:t>
            </a:r>
          </a:p>
        </p:txBody>
      </p:sp>
      <p:sp>
        <p:nvSpPr>
          <p:cNvPr id="15" name="risk-owner-1">
            <a:extLst>
              <a:ext uri="{FF2B5EF4-FFF2-40B4-BE49-F238E27FC236}">
                <a16:creationId xmlns:a16="http://schemas.microsoft.com/office/drawing/2014/main" id="{09BA3C81-2612-41DB-9AC6-6CF02E7F79A2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Lena Ortiz</a:t>
            </a:r>
          </a:p>
        </p:txBody>
      </p:sp>
      <p:sp>
        <p:nvSpPr>
          <p:cNvPr id="16" name="risk-date-1">
            <a:extLst>
              <a:ext uri="{FF2B5EF4-FFF2-40B4-BE49-F238E27FC236}">
                <a16:creationId xmlns:a16="http://schemas.microsoft.com/office/drawing/2014/main" id="{02FF5FCF-B3A0-42C7-B475-91CB77648036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Checkpoint  Oct 14</a:t>
            </a:r>
          </a:p>
        </p:txBody>
      </p:sp>
      <p:sp>
        <p:nvSpPr>
          <p:cNvPr id="17" name="risk-level-2">
            <a:extLst>
              <a:ext uri="{FF2B5EF4-FFF2-40B4-BE49-F238E27FC236}">
                <a16:creationId xmlns:a16="http://schemas.microsoft.com/office/drawing/2014/main" id="{4EA833B9-E8C9-4B2B-8D52-45252725FC4E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MEDIUM</a:t>
            </a:r>
          </a:p>
        </p:txBody>
      </p:sp>
      <p:sp>
        <p:nvSpPr>
          <p:cNvPr id="18" name="risk-title-2">
            <a:extLst>
              <a:ext uri="{FF2B5EF4-FFF2-40B4-BE49-F238E27FC236}">
                <a16:creationId xmlns:a16="http://schemas.microsoft.com/office/drawing/2014/main" id="{833956CD-2340-4270-8707-E0BA79045DE2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Delivery</a:t>
            </a:r>
          </a:p>
        </p:txBody>
      </p:sp>
      <p:sp>
        <p:nvSpPr>
          <p:cNvPr id="19" name="risk-stat-2">
            <a:extLst>
              <a:ext uri="{FF2B5EF4-FFF2-40B4-BE49-F238E27FC236}">
                <a16:creationId xmlns:a16="http://schemas.microsoft.com/office/drawing/2014/main" id="{1CB956AC-8AD4-4245-934A-DD9F27C58D9B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2</a:t>
            </a:r>
          </a:p>
        </p:txBody>
      </p:sp>
      <p:sp>
        <p:nvSpPr>
          <p:cNvPr id="20" name="risk-label-2">
            <a:extLst>
              <a:ext uri="{FF2B5EF4-FFF2-40B4-BE49-F238E27FC236}">
                <a16:creationId xmlns:a16="http://schemas.microsoft.com/office/drawing/2014/main" id="{99216D8D-3222-4CA2-A8DA-3F4AAF4B7246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dependencies on</a:t>
            </a:r>
          </a:p>
          <a:p>
            <a:r>
              <a:t>the audit release</a:t>
            </a:r>
          </a:p>
        </p:txBody>
      </p:sp>
      <p:sp>
        <p:nvSpPr>
          <p:cNvPr id="21" name="risk-body-2">
            <a:extLst>
              <a:ext uri="{FF2B5EF4-FFF2-40B4-BE49-F238E27FC236}">
                <a16:creationId xmlns:a16="http://schemas.microsoft.com/office/drawing/2014/main" id="{462CE177-D79B-4122-A92D-9122C876456B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Resolve security approval and event coverage before October 23.</a:t>
            </a:r>
          </a:p>
        </p:txBody>
      </p:sp>
      <p:sp>
        <p:nvSpPr>
          <p:cNvPr id="22" name="risk-owner-2">
            <a:extLst>
              <a:ext uri="{FF2B5EF4-FFF2-40B4-BE49-F238E27FC236}">
                <a16:creationId xmlns:a16="http://schemas.microsoft.com/office/drawing/2014/main" id="{C1C0D871-AE17-41DD-8494-D9522771B884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Priya Shah</a:t>
            </a:r>
          </a:p>
        </p:txBody>
      </p:sp>
      <p:sp>
        <p:nvSpPr>
          <p:cNvPr id="23" name="risk-date-2">
            <a:extLst>
              <a:ext uri="{FF2B5EF4-FFF2-40B4-BE49-F238E27FC236}">
                <a16:creationId xmlns:a16="http://schemas.microsoft.com/office/drawing/2014/main" id="{A7EF0F19-0123-4E7F-BC69-BCFD515D4A01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Checkpoint  Oct 16</a:t>
            </a:r>
          </a:p>
        </p:txBody>
      </p:sp>
      <p:sp>
        <p:nvSpPr>
          <p:cNvPr id="24" name="takeaway-subtitle">
            <a:extLst>
              <a:ext uri="{FF2B5EF4-FFF2-40B4-BE49-F238E27FC236}">
                <a16:creationId xmlns:a16="http://schemas.microsoft.com/office/drawing/2014/main" id="{6FFD041F-3A37-4F36-ADEF-FCDCC22D6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Workflow setup, a $220K renewal, and audit-release dependencies require follow-up this week</a:t>
            </a:r>
          </a:p>
        </p:txBody>
      </p:sp>
    </p:spTree>
    <p:extLst>
      <p:ext uri="{BB962C8B-B14F-4D97-AF65-F5344CB8AC3E}">
        <p14:creationId xmlns:p14="http://schemas.microsoft.com/office/powerpoint/2010/main" val="1633936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ision-kicker">
            <a:extLst>
              <a:ext uri="{FF2B5EF4-FFF2-40B4-BE49-F238E27FC236}">
                <a16:creationId xmlns:a16="http://schemas.microsoft.com/office/drawing/2014/main" id="{B20C78CD-A0CB-4542-941C-EA96737B890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ONBOARDING</a:t>
            </a:r>
          </a:p>
        </p:txBody>
      </p:sp>
      <p:sp>
        <p:nvSpPr>
          <p:cNvPr id="3" name="decision-title">
            <a:extLst>
              <a:ext uri="{FF2B5EF4-FFF2-40B4-BE49-F238E27FC236}">
                <a16:creationId xmlns:a16="http://schemas.microsoft.com/office/drawing/2014/main" id="{FAF7F1DD-C851-477C-AA0F-F812A767C69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Resource Allocation</a:t>
            </a:r>
          </a:p>
          <a:p>
            <a:r>
              <a:t>Decision</a:t>
            </a:r>
          </a:p>
        </p:txBody>
      </p:sp>
      <p:sp>
        <p:nvSpPr>
          <p:cNvPr id="4" name="decision-resources">
            <a:extLst>
              <a:ext uri="{FF2B5EF4-FFF2-40B4-BE49-F238E27FC236}">
                <a16:creationId xmlns:a16="http://schemas.microsoft.com/office/drawing/2014/main" id="{E4D54780-0E96-4B10-8562-AB58C5B0B6E2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Proposed onboarding work requires three people for two weeks and a one-sprint dashboard delay.</a:t>
            </a:r>
          </a:p>
        </p:txBody>
      </p:sp>
      <p:sp>
        <p:nvSpPr>
          <p:cNvPr id="5" name="decision-success-label">
            <a:extLst>
              <a:ext uri="{FF2B5EF4-FFF2-40B4-BE49-F238E27FC236}">
                <a16:creationId xmlns:a16="http://schemas.microsoft.com/office/drawing/2014/main" id="{3341A03E-94DE-4D6B-BEB6-F329D7EB73B6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SUCCESS BY OCTOBER 23</a:t>
            </a:r>
          </a:p>
        </p:txBody>
      </p:sp>
      <p:sp>
        <p:nvSpPr>
          <p:cNvPr id="6" name="decision-success">
            <a:extLst>
              <a:ext uri="{FF2B5EF4-FFF2-40B4-BE49-F238E27FC236}">
                <a16:creationId xmlns:a16="http://schemas.microsoft.com/office/drawing/2014/main" id="{EB903464-C771-45CA-96AF-8FF45E7D3A3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≥70% seven-day activation</a:t>
            </a:r>
          </a:p>
          <a:p>
            <a:r>
              <a:t>≤4.0-day median time to first value</a:t>
            </a:r>
          </a:p>
        </p:txBody>
      </p:sp>
      <p:sp>
        <p:nvSpPr>
          <p:cNvPr id="7" name="decision-tradeoff">
            <a:extLst>
              <a:ext uri="{FF2B5EF4-FFF2-40B4-BE49-F238E27FC236}">
                <a16:creationId xmlns:a16="http://schemas.microsoft.com/office/drawing/2014/main" id="{5BB668FA-E3EF-4D6F-BFD1-87FED0077C5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Allocation: two engineers and one customer-success lead.</a:t>
            </a:r>
          </a:p>
        </p:txBody>
      </p:sp>
      <p:sp>
        <p:nvSpPr>
          <p:cNvPr id="8" name="decision-owner">
            <a:extLst>
              <a:ext uri="{FF2B5EF4-FFF2-40B4-BE49-F238E27FC236}">
                <a16:creationId xmlns:a16="http://schemas.microsoft.com/office/drawing/2014/main" id="{44B4884B-C1E7-4EA1-99CE-9BB38A4D294F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r>
              <a:t>Theo Reed + Lena Ortiz     Next review: October 16</a:t>
            </a:r>
          </a:p>
        </p:txBody>
      </p:sp>
    </p:spTree>
    <p:extLst>
      <p:ext uri="{BB962C8B-B14F-4D97-AF65-F5344CB8AC3E}">
        <p14:creationId xmlns:p14="http://schemas.microsoft.com/office/powerpoint/2010/main" val="32938475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Alder">
      <a:dk1>
        <a:srgbClr val="301C2B"/>
      </a:dk1>
      <a:lt1>
        <a:srgbClr val="FFFFFF"/>
      </a:lt1>
      <a:dk2>
        <a:srgbClr val="5B2D46"/>
      </a:dk2>
      <a:lt2>
        <a:srgbClr val="F0E5DF"/>
      </a:lt2>
      <a:accent1>
        <a:srgbClr val="5B2D46"/>
      </a:accent1>
      <a:accent2>
        <a:srgbClr val="B66E4F"/>
      </a:accent2>
      <a:accent3>
        <a:srgbClr val="D8AEA4"/>
      </a:accent3>
      <a:accent4>
        <a:srgbClr val="40675B"/>
      </a:accent4>
      <a:accent5>
        <a:srgbClr val="7B6D74"/>
      </a:accent5>
      <a:accent6>
        <a:srgbClr val="DFD5D2"/>
      </a:accent6>
      <a:hlink>
        <a:srgbClr val="B66E4F"/>
      </a:hlink>
      <a:folHlink>
        <a:srgbClr val="5B2D46"/>
      </a:folHlink>
    </a:clrScheme>
    <a:fontScheme name="">
      <a:majorFont>
        <a:latin typeface="Manrope"/>
        <a:ea typeface=""/>
        <a:cs typeface=""/>
      </a:majorFont>
      <a:minorFont>
        <a:latin typeface="IBM Plex Sans"/>
        <a:ea typeface=""/>
        <a:cs typeface=""/>
      </a:minorFont>
    </a:fontScheme>
    <a:fmtScheme name="Ald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Alder">
      <a:dk1>
        <a:srgbClr val="301C2B"/>
      </a:dk1>
      <a:lt1>
        <a:srgbClr val="FFFFFF"/>
      </a:lt1>
      <a:dk2>
        <a:srgbClr val="5B2D46"/>
      </a:dk2>
      <a:lt2>
        <a:srgbClr val="F0E5DF"/>
      </a:lt2>
      <a:accent1>
        <a:srgbClr val="5B2D46"/>
      </a:accent1>
      <a:accent2>
        <a:srgbClr val="B66E4F"/>
      </a:accent2>
      <a:accent3>
        <a:srgbClr val="D8AEA4"/>
      </a:accent3>
      <a:accent4>
        <a:srgbClr val="40675B"/>
      </a:accent4>
      <a:accent5>
        <a:srgbClr val="7B6D74"/>
      </a:accent5>
      <a:accent6>
        <a:srgbClr val="DFD5D2"/>
      </a:accent6>
      <a:hlink>
        <a:srgbClr val="B66E4F"/>
      </a:hlink>
      <a:folHlink>
        <a:srgbClr val="5B2D46"/>
      </a:folHlink>
    </a:clrScheme>
    <a:fontScheme name="">
      <a:majorFont>
        <a:latin typeface="Manrope"/>
        <a:ea typeface=""/>
        <a:cs typeface=""/>
      </a:majorFont>
      <a:minorFont>
        <a:latin typeface="IBM Plex Sans"/>
        <a:ea typeface=""/>
        <a:cs typeface=""/>
      </a:minorFont>
    </a:fontScheme>
    <a:fmtScheme name="Ald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631</Words>
  <Application>Microsoft Macintosh PowerPoint</Application>
  <DocSecurity>0</DocSecurity>
  <PresentationFormat>Widescreen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IBM Plex Sans</vt:lpstr>
      <vt:lpstr>Manrope</vt:lpstr>
      <vt:lpstr>ChatGPT</vt:lpstr>
      <vt:lpstr>Weekly Business Review</vt:lpstr>
      <vt:lpstr>Executive Summary</vt:lpstr>
      <vt:lpstr>Operating Performance</vt:lpstr>
      <vt:lpstr>Bookings by Segment</vt:lpstr>
      <vt:lpstr>Contracted ARR Bridge</vt:lpstr>
      <vt:lpstr>Customer Activation</vt:lpstr>
      <vt:lpstr>Customer Retention</vt:lpstr>
      <vt:lpstr>Product Release Schedule</vt:lpstr>
      <vt:lpstr>Risks and Mitigations</vt:lpstr>
      <vt:lpstr>Resource Allocation Decision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Presentation</dc:title>
  <dc:creator/>
  <ns0:lastModifiedBy/>
  <ns0:revision/>
  <ns2:created xsi:type="dcterms:W3CDTF"/>
  <ns2:modified xsi:type="dcterms:W3CDTF"/>
</ns0:coreProperties>
</file>