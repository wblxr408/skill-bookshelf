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templateMaster.xml" ContentType="application/vnd.openxmlformats-officedocument.presentationml.slideMaster+xml"/>
  <Override PartName="/ppt/theme/templateTheme.xml" ContentType="application/vnd.openxmlformats-officedocument.theme+xml"/>
  <Override PartName="/ppt/slideLayouts/templateLayout1.xml" ContentType="application/vnd.openxmlformats-officedocument.presentationml.slideLayout+xml"/>
  <Override PartName="/ppt/slideLayouts/templateLayout2.xml" ContentType="application/vnd.openxmlformats-officedocument.presentationml.slideLayout+xml"/>
  <Override PartName="/ppt/slideLayouts/templateLayout3.xml" ContentType="application/vnd.openxmlformats-officedocument.presentationml.slideLayout+xml"/>
  <Override PartName="/ppt/slideLayouts/templateLayout4.xml" ContentType="application/vnd.openxmlformats-officedocument.presentationml.slideLayout+xml"/>
  <Override PartName="/ppt/slideLayouts/templateLayout5.xml" ContentType="application/vnd.openxmlformats-officedocument.presentationml.slideLayout+xml"/>
  <Override PartName="/ppt/slideLayouts/templateLayout6.xml" ContentType="application/vnd.openxmlformats-officedocument.presentationml.slideLayout+xml"/>
  <Override PartName="/ppt/media/image-optimized.jpg" ContentType="image/jpeg"/>
  <Override PartName="/ppt/media/image2-optimized.jpg" ContentType="image/jpeg"/>
  <Override PartName="/ppt/media/image3-optimized.jpg" ContentType="image/jpeg"/>
  <Override PartName="/ppt/media/image4-optimized.jpg" ContentType="image/jpeg"/>
  <Override PartName="/ppt/media/image5-optimized.jpg" ContentType="image/jpeg"/>
  <Override PartName="/ppt/media/image6-optimized.jpg" ContentType="image/jpeg"/>
  <Override PartName="/ppt/media/image7-optimized.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d77f71dbf9401c" /><Relationship Type="http://schemas.openxmlformats.org/officeDocument/2006/relationships/extended-properties" Target="/docProps/app.xml" Id="R2134c6e063104f62" /><Relationship Type="http://schemas.openxmlformats.org/officeDocument/2006/relationships/officeDocument" Target="/ppt/presentation.xml" Id="Rd38f596701a04599" /></Relationships>
</file>

<file path=ppt/presentation.xml><?xml version="1.0" encoding="utf-8"?>
<p:presentation xmlns:p="http://schemas.openxmlformats.org/presentationml/2006/main">
  <p:sldMasterIdLst>
    <p:sldMasterId xmlns:ns1="http://schemas.openxmlformats.org/officeDocument/2006/relationships" id="2147483648" ns1:id="rTemplateMaster"/>
  </p:sldMasterIdLst>
  <p:notesMasterIdLst>
    <p:notesMasterId xmlns:r="http://schemas.openxmlformats.org/officeDocument/2006/relationships" r:id="R4908d48737864436"/>
  </p:notesMasterIdLst>
  <p:sldIdLst>
    <p:sldId xmlns:r="http://schemas.openxmlformats.org/officeDocument/2006/relationships" id="256" r:id="Rd82240f1fa5d44e9"/>
    <p:sldId xmlns:r="http://schemas.openxmlformats.org/officeDocument/2006/relationships" id="257" r:id="R4e131db3e01e4911"/>
    <p:sldId xmlns:r="http://schemas.openxmlformats.org/officeDocument/2006/relationships" id="258" r:id="Rfaf7cfc456784b0e"/>
    <p:sldId xmlns:r="http://schemas.openxmlformats.org/officeDocument/2006/relationships" id="259" r:id="R777ca95d6e364467"/>
    <p:sldId xmlns:r="http://schemas.openxmlformats.org/officeDocument/2006/relationships" id="260" r:id="R83b7af7db4ea4381"/>
    <p:sldId xmlns:r="http://schemas.openxmlformats.org/officeDocument/2006/relationships" id="261" r:id="R24358c4a282c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9bddc75758f42f6"/><Relationship Type="http://schemas.openxmlformats.org/officeDocument/2006/relationships/notesMaster" Target="/ppt/notesMasters/notesMaster1.xml" Id="R4908d48737864436"/><Relationship Type="http://schemas.openxmlformats.org/officeDocument/2006/relationships/presProps" Target="/ppt/presProps.xml" Id="R11630d3116f84b40"/><Relationship Type="http://schemas.openxmlformats.org/officeDocument/2006/relationships/tableStyles" Target="/ppt/tableStyles.xml" Id="R8c10669b1fcc496c"/><Relationship Type="http://schemas.openxmlformats.org/officeDocument/2006/relationships/slide" Target="/ppt/slides/slide1.xml" Id="Rd82240f1fa5d44e9"/><Relationship Type="http://schemas.openxmlformats.org/officeDocument/2006/relationships/slide" Target="/ppt/slides/slide2.xml" Id="R4e131db3e01e4911"/><Relationship Type="http://schemas.openxmlformats.org/officeDocument/2006/relationships/slide" Target="/ppt/slides/slide3.xml" Id="Rfaf7cfc456784b0e"/><Relationship Type="http://schemas.openxmlformats.org/officeDocument/2006/relationships/slide" Target="/ppt/slides/slide4.xml" Id="R777ca95d6e364467"/><Relationship Type="http://schemas.openxmlformats.org/officeDocument/2006/relationships/slide" Target="/ppt/slides/slide5.xml" Id="R83b7af7db4ea4381"/><Relationship Type="http://schemas.openxmlformats.org/officeDocument/2006/relationships/slide" Target="/ppt/slides/slide6.xml" Id="R24358c4a282c4ad5"/><Relationship Id="rTemplateMaster" Type="http://schemas.openxmlformats.org/officeDocument/2006/relationships/slideMaster" Target="slideMasters/templateMaster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500165b11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535e0290d9455c" /><Relationship Type="http://schemas.openxmlformats.org/officeDocument/2006/relationships/notesMaster" Target="/ppt/notesMasters/notesMaster1.xml" Id="R7e91f503bbab4a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1622be413640cf" /><Relationship Type="http://schemas.openxmlformats.org/officeDocument/2006/relationships/notesMaster" Target="/ppt/notesMasters/notesMaster1.xml" Id="Rbeb8e40003ca47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0eb47b92114536" /><Relationship Type="http://schemas.openxmlformats.org/officeDocument/2006/relationships/notesMaster" Target="/ppt/notesMasters/notesMaster1.xml" Id="R9161bee2ed8a47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2d67480ca4a91" /><Relationship Type="http://schemas.openxmlformats.org/officeDocument/2006/relationships/notesMaster" Target="/ppt/notesMasters/notesMaster1.xml" Id="Rb59beefe1c4746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7a1470bb1409c" /><Relationship Type="http://schemas.openxmlformats.org/officeDocument/2006/relationships/notesMaster" Target="/ppt/notesMasters/notesMaster1.xml" Id="R08ad2954d8a542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cceb3bdf174403" /><Relationship Type="http://schemas.openxmlformats.org/officeDocument/2006/relationships/notesMaster" Target="/ppt/notesMasters/notesMaster1.xml" Id="Rc5513b4beb184d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templateLayout1.xml.rels><?xml version='1.0' encoding='utf-8'?>
<Relationships xmlns="http://schemas.openxmlformats.org/package/2006/relationships"><Relationship Type="http://schemas.openxmlformats.org/officeDocument/2006/relationships/image" Target="../media/image-optimized.jpg" Id="R6993e4ebf3d24a61" /><Relationship Id="rTemplateMaster" Type="http://schemas.openxmlformats.org/officeDocument/2006/relationships/slideMaster" Target="../slideMasters/templateMaster.xml" /></Relationships>
</file>

<file path=ppt/slideLayouts/_rels/templateLayout2.xml.rels><?xml version='1.0' encoding='utf-8'?>
<Relationships xmlns="http://schemas.openxmlformats.org/package/2006/relationships"><Relationship Type="http://schemas.openxmlformats.org/officeDocument/2006/relationships/image" Target="../media/image2-optimized.jpg" Id="R72352e5ef4824996" /><Relationship Id="rTemplateMaster" Type="http://schemas.openxmlformats.org/officeDocument/2006/relationships/slideMaster" Target="../slideMasters/templateMaster.xml" /></Relationships>
</file>

<file path=ppt/slideLayouts/_rels/templateLayout3.xml.rels><?xml version='1.0' encoding='utf-8'?>
<Relationships xmlns="http://schemas.openxmlformats.org/package/2006/relationships"><Relationship Type="http://schemas.openxmlformats.org/officeDocument/2006/relationships/image" Target="../media/image3-optimized.jpg" Id="Reb62be509c6341ea" /><Relationship Id="rTemplateMaster" Type="http://schemas.openxmlformats.org/officeDocument/2006/relationships/slideMaster" Target="../slideMasters/templateMaster.xml" /></Relationships>
</file>

<file path=ppt/slideLayouts/_rels/templateLayout4.xml.rels><?xml version='1.0' encoding='UTF-8' standalone='yes'?>
<Relationships xmlns="http://schemas.openxmlformats.org/package/2006/relationships"><Relationship Id="rTemplateMaster" Type="http://schemas.openxmlformats.org/officeDocument/2006/relationships/slideMaster" Target="../slideMasters/templateMaster.xml"/></Relationships>
</file>

<file path=ppt/slideLayouts/_rels/templateLayout5.xml.rels><?xml version='1.0' encoding='utf-8'?>
<Relationships xmlns="http://schemas.openxmlformats.org/package/2006/relationships"><Relationship Type="http://schemas.openxmlformats.org/officeDocument/2006/relationships/image" Target="../media/image4-optimized.jpg" Id="R59ac8df81b76416f" /><Relationship Type="http://schemas.openxmlformats.org/officeDocument/2006/relationships/image" Target="../media/image5-optimized.jpg" Id="Re386e613c60a4df6" /><Relationship Type="http://schemas.openxmlformats.org/officeDocument/2006/relationships/image" Target="../media/image6-optimized.jpg" Id="R052385d4d16f47c8" /><Relationship Id="rTemplateMaster" Type="http://schemas.openxmlformats.org/officeDocument/2006/relationships/slideMaster" Target="../slideMasters/templateMaster.xml" /></Relationships>
</file>

<file path=ppt/slideLayouts/_rels/templateLayout6.xml.rels><?xml version='1.0' encoding='utf-8'?>
<Relationships xmlns="http://schemas.openxmlformats.org/package/2006/relationships"><Relationship Type="http://schemas.openxmlformats.org/officeDocument/2006/relationships/image" Target="../media/image7-optimized.jpg" Id="R5396ad1fd3a6420a" /><Relationship Id="rTemplateMaster" Type="http://schemas.openxmlformats.org/officeDocument/2006/relationships/slideMaster" Target="../slideMasters/templateMaster.xml" /></Relationships>
</file>

<file path=ppt/slideLayouts/templat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Architectur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der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778347" y="741210"/>
            <a:ext cx="3886518" cy="1691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05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buNone/>
              <a:defRPr sz="10500" b="0" i="1" u="none">
                <a:solidFill>
                  <a:srgbClr val="721E0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05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Click to add title</a:t>
            </a:r>
          </a:p>
        </p:txBody>
      </p:sp>
      <p:sp>
        <p:nvSpPr>
          <p:cNvPr id="3" name="Picture 2"/>
          <p:cNvSpPr>
            <a:spLocks noGrp="1"/>
          </p:cNvSpPr>
          <p:nvPr>
            <p:ph type="pic" idx="1"/>
          </p:nvPr>
        </p:nvSpPr>
        <p:spPr>
          <a:xfrm>
            <a:off x="384671" y="371732"/>
            <a:ext cx="5098709" cy="611845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states">
            <a:extLst>
              <a:ext uri="{FF2B5EF4-FFF2-40B4-BE49-F238E27FC236}">
                <a16:creationId xmlns:a16="http://schemas.microsoft.com/office/drawing/2014/main" id="{7B126756-CD8C-490A-80DA-8DA78B9407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8347" y="1828008"/>
            <a:ext cx="4034155" cy="1691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05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buNone/>
              <a:defRPr sz="10500" b="0" i="1" u="none">
                <a:solidFill>
                  <a:srgbClr val="721E0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05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Click to add text</a:t>
            </a:r>
          </a:p>
        </p:txBody>
      </p:sp>
      <p:sp>
        <p:nvSpPr>
          <p:cNvPr id="5" name="Calder House, est. 1947">
            <a:extLst>
              <a:ext uri="{FF2B5EF4-FFF2-40B4-BE49-F238E27FC236}">
                <a16:creationId xmlns:a16="http://schemas.microsoft.com/office/drawing/2014/main" id="{04F36587-1FB4-40CE-9B88-16CFF99BBFF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248861" y="6552429"/>
            <a:ext cx="137033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00000"/>
              </a:lnSpc>
              <a:defRPr sz="900" i="1" b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6" name="1. Project Overview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673572" y="3902940"/>
            <a:ext cx="179260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1500" b="0" i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7" name="2. Our Philosophy">
            <a:extLst>
              <a:ext uri="{FF2B5EF4-FFF2-40B4-BE49-F238E27FC236}">
                <a16:creationId xmlns:a16="http://schemas.microsoft.com/office/drawing/2014/main" id="{2E737AEB-8BDC-45A9-8726-F02001140C7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673572" y="4268557"/>
            <a:ext cx="170053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1500" b="0" i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8" name="3.  History of Calder House">
            <a:extLst>
              <a:ext uri="{FF2B5EF4-FFF2-40B4-BE49-F238E27FC236}">
                <a16:creationId xmlns:a16="http://schemas.microsoft.com/office/drawing/2014/main" id="{E66C52B1-0C69-420A-ADCA-25EB9135D2D7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673572" y="4628459"/>
            <a:ext cx="241490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1500" b="0" i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b="0" i="0" u="none" baseline="0">
                <a:solidFill>
                  <a:srgbClr val="000000">
                    <a:alpha val="70000"/>
                  </a:srgbClr>
                </a:solidFill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9" name="4.  Construction Details">
            <a:extLst>
              <a:ext uri="{FF2B5EF4-FFF2-40B4-BE49-F238E27FC236}">
                <a16:creationId xmlns:a16="http://schemas.microsoft.com/office/drawing/2014/main" id="{F3F26BCF-B87C-48FE-856A-0DF4A3D6C960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6673572" y="4991034"/>
            <a:ext cx="2116455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1500" b="0" i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b="0" i="0" u="none" baseline="0">
                <a:solidFill>
                  <a:srgbClr val="000000">
                    <a:alpha val="70000"/>
                  </a:srgbClr>
                </a:solidFill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10" name="5.  Expected Outcome">
            <a:extLst>
              <a:ext uri="{FF2B5EF4-FFF2-40B4-BE49-F238E27FC236}">
                <a16:creationId xmlns:a16="http://schemas.microsoft.com/office/drawing/2014/main" id="{607D69A3-93A0-4095-B21F-38AA590A4A41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6673572" y="5353609"/>
            <a:ext cx="1965643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marL="0" indent="0" algn="l">
              <a:lnSpc>
                <a:spcPct val="100000"/>
              </a:lnSpc>
              <a:buNone/>
              <a:defRPr sz="1500" b="0" i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  <a:r>
              <a:rPr b="0" i="0" u="none" baseline="0">
                <a:solidFill>
                  <a:srgbClr val="000000">
                    <a:alpha val="70000"/>
                  </a:srgbClr>
                </a:solidFill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F27BE317-4D44-453D-8BDB-6C67D62B820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778347" y="3616109"/>
            <a:ext cx="3828743" cy="0"/>
          </a:xfrm>
          <a:prstGeom prst="line">
            <a:avLst/>
          </a:prstGeom>
          <a:noFill/>
          <a:ln w="9525">
            <a:solidFill>
              <a:srgbClr val="721E04"/>
            </a:solidFill>
            <a:prstDash val="solid"/>
          </a:ln>
        </p:spPr>
      </p:sp>
    </p:spTree>
  </p:cSld>
  <p:clrMapOvr>
    <a:masterClrMapping/>
  </p:clrMapOvr>
</p:sldLayout>
</file>

<file path=ppt/slideLayouts/templat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roje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overview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9391" y="259200"/>
            <a:ext cx="5150649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buNone/>
              <a:defRPr sz="5700" b="0" i="1" u="none">
                <a:solidFill>
                  <a:srgbClr val="721E0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Click to add title</a:t>
            </a:r>
          </a:p>
        </p:txBody>
      </p:sp>
      <p:sp>
        <p:nvSpPr>
          <p:cNvPr id="3" name="Calder House, established in 1947, is a landmark…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85" y="1652799"/>
            <a:ext cx="5335905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27BE317-4D44-453D-8BDB-6C67D62B820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41633" y="1410323"/>
            <a:ext cx="5292456" cy="0"/>
          </a:xfrm>
          <a:prstGeom prst="line">
            <a:avLst/>
          </a:prstGeom>
          <a:noFill/>
          <a:ln w="9525">
            <a:solidFill>
              <a:srgbClr val="721E04"/>
            </a:solidFill>
            <a:prstDash val="solid"/>
          </a:ln>
        </p:spPr>
      </p:sp>
      <p:sp>
        <p:nvSpPr>
          <p:cNvPr id="5" name="Our project brings together heritage and contemp…">
            <a:extLst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391" y="3042784"/>
            <a:ext cx="5335905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6" name="Picture 4"/>
          <p:cNvSpPr>
            <a:spLocks noGrp="1"/>
          </p:cNvSpPr>
          <p:nvPr>
            <p:ph type="pic" idx="3"/>
          </p:nvPr>
        </p:nvSpPr>
        <p:spPr>
          <a:xfrm>
            <a:off x="6455288" y="354450"/>
            <a:ext cx="5376861" cy="611297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roposed restoration, 2027">
            <a:extLst>
              <a:ext uri="{FF2B5EF4-FFF2-40B4-BE49-F238E27FC236}">
                <a16:creationId xmlns:a16="http://schemas.microsoft.com/office/drawing/2014/main" id="{8EDC01B9-4AA2-4FB1-9C4E-C313FEA485F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8354572" y="6534150"/>
            <a:ext cx="157829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00000"/>
              </a:lnSpc>
              <a:defRPr sz="900" i="1" b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Design Philoso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r Philosophy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279166" y="259200"/>
            <a:ext cx="5150649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defRPr sz="5700" b="0" i="1" u="none" spc="0" baseline="0">
                <a:solidFill>
                  <a:srgbClr val="721E04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</a:pPr>
            <a:r>
              <a:rPr sz="5700" b="0" i="1" u="none" spc="0" baseline="0">
                <a:solidFill>
                  <a:srgbClr val="721E04"/>
                </a:solidFill>
                <a:highlight>
                  <a:srgbClr val="000000">
                    <a:alpha val="0"/>
                  </a:srgbClr>
                </a:highlight>
                <a:latin typeface="Times New Roman"/>
                <a:ea typeface="Times New Roman"/>
                <a:cs typeface="Times New Roman"/>
              </a:rPr>
              <a:t>Click to add title</a:t>
            </a:r>
          </a:p>
        </p:txBody>
      </p:sp>
      <p:sp>
        <p:nvSpPr>
          <p:cNvPr id="3" name="At Calder Estates, we believe great architecture…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325" y="1650594"/>
            <a:ext cx="5335905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spc="0" baseline="0">
                <a:solidFill>
                  <a:srgbClr val="000000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00000"/>
              </a:lnSpc>
            </a:pPr>
            <a:r>
              <a:rPr sz="2400" b="0" i="0" u="none" spc="0" baseline="0">
                <a:solidFill>
                  <a:srgbClr val="000000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27BE317-4D44-453D-8BDB-6C67D62B820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61408" y="1406997"/>
            <a:ext cx="5069078" cy="0"/>
          </a:xfrm>
          <a:prstGeom prst="line">
            <a:avLst/>
          </a:prstGeom>
          <a:noFill/>
          <a:ln w="9525">
            <a:solidFill>
              <a:srgbClr val="721E04"/>
            </a:solidFill>
            <a:prstDash val="solid"/>
          </a:ln>
        </p:spPr>
      </p:sp>
      <p:sp>
        <p:nvSpPr>
          <p:cNvPr id="5" name="The result is a collection of homes designed to …">
            <a:extLst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9166" y="3423784"/>
            <a:ext cx="5335905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spc="0" baseline="0">
                <a:solidFill>
                  <a:srgbClr val="000000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>
              <a:lnSpc>
                <a:spcPct val="100000"/>
              </a:lnSpc>
            </a:pPr>
            <a:r>
              <a:rPr sz="2400" b="0" i="0" u="none" spc="0" baseline="0">
                <a:solidFill>
                  <a:srgbClr val="000000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Click to add text</a:t>
            </a:r>
          </a:p>
        </p:txBody>
      </p:sp>
      <p:sp>
        <p:nvSpPr>
          <p:cNvPr id="6" name="Picture 4"/>
          <p:cNvSpPr>
            <a:spLocks noGrp="1"/>
          </p:cNvSpPr>
          <p:nvPr>
            <p:ph type="pic" idx="3"/>
          </p:nvPr>
        </p:nvSpPr>
        <p:spPr>
          <a:xfrm>
            <a:off x="335017" y="348032"/>
            <a:ext cx="5376392" cy="611244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roposed restoration, 2027">
            <a:extLst>
              <a:ext uri="{FF2B5EF4-FFF2-40B4-BE49-F238E27FC236}">
                <a16:creationId xmlns:a16="http://schemas.microsoft.com/office/drawing/2014/main" id="{B2E63E01-C91C-4065-9CB1-E4550A17B20C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234067" y="6525015"/>
            <a:ext cx="157829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 algn="ctr">
              <a:def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ctr">
              <a:lnSpc>
                <a:spcPct val="100000"/>
              </a:lnSpc>
              <a:defRPr sz="900" i="1" b="0" u="none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Project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story of Calder House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4716" y="263777"/>
            <a:ext cx="7317105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buNone/>
              <a:defRPr sz="5700" b="0" i="1" u="none">
                <a:solidFill>
                  <a:srgbClr val="721E0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Click to add title</a:t>
            </a:r>
          </a:p>
        </p:txBody>
      </p:sp>
      <p:sp>
        <p:nvSpPr>
          <p:cNvPr id="3" name="Calder House was built in 1947 as a private resi…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574" y="2306531"/>
            <a:ext cx="11275496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27BE317-4D44-453D-8BDB-6C67D62B820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41633" y="1411672"/>
            <a:ext cx="11155691" cy="0"/>
          </a:xfrm>
          <a:prstGeom prst="line">
            <a:avLst/>
          </a:prstGeom>
          <a:noFill/>
          <a:ln w="9525">
            <a:solidFill>
              <a:srgbClr val="721E04"/>
            </a:solidFill>
            <a:prstDash val="solid"/>
          </a:ln>
        </p:spPr>
      </p:sp>
      <p:sp>
        <p:nvSpPr>
          <p:cNvPr id="5" name="1947 · Original residence established">
            <a:extLst>
              <a:ext uri="{FF2B5EF4-FFF2-40B4-BE49-F238E27FC236}">
                <a16:creationId xmlns:a16="http://schemas.microsoft.com/office/drawing/2014/main" id="{346B20C4-5AAD-47F0-8A0F-DEE9706588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391" y="1847149"/>
            <a:ext cx="8994727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6" name="A thoughtful renovation introduced new living sp…">
            <a:extLst>
              <a:ext uri="{FF2B5EF4-FFF2-40B4-BE49-F238E27FC236}">
                <a16:creationId xmlns:a16="http://schemas.microsoft.com/office/drawing/2014/main" id="{8FA54100-CA2A-474C-AD49-AC01DDDE489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4716" y="3885583"/>
            <a:ext cx="11280171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7" name="1978 · A period of transformation">
            <a:extLst>
              <a:ext uri="{FF2B5EF4-FFF2-40B4-BE49-F238E27FC236}">
                <a16:creationId xmlns:a16="http://schemas.microsoft.com/office/drawing/2014/main" id="{9A29876D-5389-4245-9D29-0FAD9AE5FFF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54716" y="3426776"/>
            <a:ext cx="899940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8" name="Calder House was recognized as a local architect…">
            <a:extLst>
              <a:ext uri="{FF2B5EF4-FFF2-40B4-BE49-F238E27FC236}">
                <a16:creationId xmlns:a16="http://schemas.microsoft.com/office/drawing/2014/main" id="{A32645A4-33B4-4295-8DDE-26836957E3E8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59391" y="5466733"/>
            <a:ext cx="11280171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9" name="2004 · A lasting legacy">
            <a:extLst>
              <a:ext uri="{FF2B5EF4-FFF2-40B4-BE49-F238E27FC236}">
                <a16:creationId xmlns:a16="http://schemas.microsoft.com/office/drawing/2014/main" id="{C28C587D-B49A-48B8-B090-5987DB58F59E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459391" y="5007926"/>
            <a:ext cx="899940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Construction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struction Details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4716" y="263777"/>
            <a:ext cx="623443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buNone/>
              <a:defRPr sz="5700" b="0" i="1" u="none">
                <a:solidFill>
                  <a:srgbClr val="721E0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Click to add title</a:t>
            </a:r>
          </a:p>
        </p:txBody>
      </p:sp>
      <p:sp>
        <p:nvSpPr>
          <p:cNvPr id="3" name="The original 1947 foundation has been reinforced…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7074" y="2304326"/>
            <a:ext cx="8997219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27BE317-4D44-453D-8BDB-6C67D62B820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41633" y="1411672"/>
            <a:ext cx="11155691" cy="0"/>
          </a:xfrm>
          <a:prstGeom prst="line">
            <a:avLst/>
          </a:prstGeom>
          <a:noFill/>
          <a:ln w="9525">
            <a:solidFill>
              <a:srgbClr val="721E04"/>
            </a:solidFill>
            <a:prstDash val="solid"/>
          </a:ln>
        </p:spPr>
      </p:sp>
      <p:sp>
        <p:nvSpPr>
          <p:cNvPr id="5" name="Foundation · Reinforced concrete">
            <a:extLst>
              <a:ext uri="{FF2B5EF4-FFF2-40B4-BE49-F238E27FC236}">
                <a16:creationId xmlns:a16="http://schemas.microsoft.com/office/drawing/2014/main" id="{346B20C4-5AAD-47F0-8A0F-DEE9706588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554891" y="1847149"/>
            <a:ext cx="8994727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6" name="Original timber framing has been restored and st…">
            <a:extLst>
              <a:ext uri="{FF2B5EF4-FFF2-40B4-BE49-F238E27FC236}">
                <a16:creationId xmlns:a16="http://schemas.microsoft.com/office/drawing/2014/main" id="{8FA54100-CA2A-474C-AD49-AC01DDDE489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550216" y="3885583"/>
            <a:ext cx="8999402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7" name="Structure · Timber framing">
            <a:extLst>
              <a:ext uri="{FF2B5EF4-FFF2-40B4-BE49-F238E27FC236}">
                <a16:creationId xmlns:a16="http://schemas.microsoft.com/office/drawing/2014/main" id="{9A29876D-5389-4245-9D29-0FAD9AE5FFF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550216" y="3426776"/>
            <a:ext cx="899940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8" name="Locally sourced stone, natural timber, and plast…">
            <a:extLst>
              <a:ext uri="{FF2B5EF4-FFF2-40B4-BE49-F238E27FC236}">
                <a16:creationId xmlns:a16="http://schemas.microsoft.com/office/drawing/2014/main" id="{A32645A4-33B4-4295-8DDE-26836957E3E8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2554891" y="5466733"/>
            <a:ext cx="8994727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9" name="Materials · Stone and natural wood">
            <a:extLst>
              <a:ext uri="{FF2B5EF4-FFF2-40B4-BE49-F238E27FC236}">
                <a16:creationId xmlns:a16="http://schemas.microsoft.com/office/drawing/2014/main" id="{C28C587D-B49A-48B8-B090-5987DB58F59E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554891" y="5007926"/>
            <a:ext cx="899940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1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10" name="Picture 8"/>
          <p:cNvSpPr>
            <a:spLocks noGrp="1"/>
          </p:cNvSpPr>
          <p:nvPr>
            <p:ph type="pic" idx="7"/>
          </p:nvPr>
        </p:nvSpPr>
        <p:spPr>
          <a:xfrm>
            <a:off x="454716" y="3484326"/>
            <a:ext cx="1829799" cy="12198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9"/>
          <p:cNvSpPr>
            <a:spLocks noGrp="1"/>
          </p:cNvSpPr>
          <p:nvPr>
            <p:ph type="pic" idx="8"/>
          </p:nvPr>
        </p:nvSpPr>
        <p:spPr>
          <a:xfrm>
            <a:off x="452394" y="5050777"/>
            <a:ext cx="1829799" cy="12198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10"/>
          <p:cNvSpPr>
            <a:spLocks noGrp="1"/>
          </p:cNvSpPr>
          <p:nvPr>
            <p:ph type="pic" idx="9"/>
          </p:nvPr>
        </p:nvSpPr>
        <p:spPr>
          <a:xfrm>
            <a:off x="454716" y="1927400"/>
            <a:ext cx="1829799" cy="12198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templat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Expected Out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pected Outcome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4716" y="263127"/>
            <a:ext cx="5626418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buNone/>
              <a:defRPr sz="5700" b="0" i="1" u="none">
                <a:solidFill>
                  <a:srgbClr val="721E0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Click to add title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27BE317-4D44-453D-8BDB-6C67D62B820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41633" y="1411672"/>
            <a:ext cx="11155691" cy="0"/>
          </a:xfrm>
          <a:prstGeom prst="line">
            <a:avLst/>
          </a:prstGeom>
          <a:noFill/>
          <a:ln w="9525">
            <a:solidFill>
              <a:srgbClr val="721E04"/>
            </a:solidFill>
            <a:prstDash val="solid"/>
          </a:ln>
        </p:spPr>
      </p:sp>
      <p:sp>
        <p:nvSpPr>
          <p:cNvPr id="4" name="Picture 2"/>
          <p:cNvSpPr>
            <a:spLocks noGrp="1"/>
          </p:cNvSpPr>
          <p:nvPr>
            <p:ph type="pic" idx="1"/>
          </p:nvPr>
        </p:nvSpPr>
        <p:spPr>
          <a:xfrm>
            <a:off x="541116" y="1646606"/>
            <a:ext cx="11143878" cy="495283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templateMaster.xml.rels><?xml version='1.0' encoding='utf-8'?>
<Relationships xmlns="http://schemas.openxmlformats.org/package/2006/relationships"><Relationship Type="http://schemas.openxmlformats.org/officeDocument/2006/relationships/image" Target="../media/image-optimized.jpg" Id="R6993e4ebf3d24a61" /><Relationship Id="rTemplateTheme" Type="http://schemas.openxmlformats.org/officeDocument/2006/relationships/theme" Target="../theme/templateTheme.xml" /><Relationship Id="rTemplateLayout1" Type="http://schemas.openxmlformats.org/officeDocument/2006/relationships/slideLayout" Target="../slideLayouts/templateLayout1.xml" /><Relationship Id="rTemplateLayout2" Type="http://schemas.openxmlformats.org/officeDocument/2006/relationships/slideLayout" Target="../slideLayouts/templateLayout2.xml" /><Relationship Id="rTemplateLayout3" Type="http://schemas.openxmlformats.org/officeDocument/2006/relationships/slideLayout" Target="../slideLayouts/templateLayout3.xml" /><Relationship Id="rTemplateLayout4" Type="http://schemas.openxmlformats.org/officeDocument/2006/relationships/slideLayout" Target="../slideLayouts/templateLayout4.xml" /><Relationship Id="rTemplateLayout5" Type="http://schemas.openxmlformats.org/officeDocument/2006/relationships/slideLayout" Target="../slideLayouts/templateLayout5.xml" /><Relationship Id="rTemplateLayout6" Type="http://schemas.openxmlformats.org/officeDocument/2006/relationships/slideLayout" Target="../slideLayouts/templateLayout6.xml" /></Relationships>
</file>

<file path=ppt/slideMasters/templat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Calder Architecture Master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00" name="Master Title">
            <a:extLst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778347" y="741210"/>
            <a:ext cx="3886518" cy="1691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105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  <a:lvl1pPr marL="0" indent="0" algn="l">
              <a:lnSpc>
                <a:spcPct val="100000"/>
              </a:lnSpc>
              <a:buNone/>
              <a:defRPr sz="10500" b="0" i="1" u="none">
                <a:solidFill>
                  <a:srgbClr val="721E0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sz="105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Click to add title</a:t>
            </a:r>
          </a:p>
        </p:txBody>
      </p:sp>
      <p:sp>
        <p:nvSpPr>
          <p:cNvPr id="900001" name="Master Body">
            <a:extLst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574" y="2306531"/>
            <a:ext cx="11275496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b="0" i="0" u="none" baseline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TemplateLayout1"/>
    <p:sldLayoutId id="2147483650" r:id="rTemplateLayout2"/>
    <p:sldLayoutId id="2147483651" r:id="rTemplateLayout3"/>
    <p:sldLayoutId id="2147483652" r:id="rTemplateLayout4"/>
    <p:sldLayoutId id="2147483653" r:id="rTemplateLayout5"/>
    <p:sldLayoutId id="2147483654" r:id="rTemplateLayout6"/>
  </p:sldLayoutIdLst>
  <p:hf hdr="0" ftr="0" dt="0" sldNum="0"/>
  <p:txStyles>
    <p:titleStyle>
      <a:lvl1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1pPr>
      <a:lvl2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2pPr>
      <a:lvl3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3pPr>
      <a:lvl4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4pPr>
      <a:lvl5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5pPr>
      <a:lvl6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6pPr>
      <a:lvl7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7pPr>
      <a:lvl8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8pPr>
      <a:lvl9pPr marL="0" indent="0" algn="l" defTabSz="914400" rtl="0" eaLnBrk="1" latinLnBrk="0" hangingPunct="1">
        <a:defRPr sz="10500" b="0" i="1" u="none">
          <a:solidFill>
            <a:srgbClr val="721E04">
              <a:alpha val="100000"/>
            </a:srgbClr>
          </a:solidFill>
          <a:latin typeface="Times New Roman"/>
          <a:ea typeface="Times New Roman"/>
          <a:cs typeface="Times New Roman"/>
        </a:defRPr>
      </a:lvl9pPr>
    </p:titleStyle>
    <p:bodyStyle>
      <a:lvl1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bodyStyle>
    <p:otherStyle>
      <a:lvl1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2400" b="0" i="0" u="none" baseline="0">
          <a:solidFill>
            <a:srgbClr val="000000">
              <a:alpha val="7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Type="http://schemas.openxmlformats.org/officeDocument/2006/relationships/image" Target="../media/image-optimized.jpg" Id="R6993e4ebf3d24a61" /><Relationship Type="http://schemas.openxmlformats.org/officeDocument/2006/relationships/notesSlide" Target="../notesSlides/notesSlide1.xml" Id="R56629c5ac3c74245" /><Relationship Id="rTemplateLayout" Type="http://schemas.openxmlformats.org/officeDocument/2006/relationships/slideLayout" Target="../slideLayouts/templateLayout1.xml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image" Target="../media/image2-optimized.jpg" Id="R72352e5ef4824996" /><Relationship Type="http://schemas.openxmlformats.org/officeDocument/2006/relationships/notesSlide" Target="../notesSlides/notesSlide2.xml" Id="Rc715685acffc4ba3" /><Relationship Id="rTemplateLayout" Type="http://schemas.openxmlformats.org/officeDocument/2006/relationships/slideLayout" Target="../slideLayouts/templateLayout2.xml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image" Target="../media/image3-optimized.jpg" Id="Reb62be509c6341ea" /><Relationship Type="http://schemas.openxmlformats.org/officeDocument/2006/relationships/notesSlide" Target="../notesSlides/notesSlide3.xml" Id="Rc18f3ec45b514b8e" /><Relationship Id="rTemplateLayout" Type="http://schemas.openxmlformats.org/officeDocument/2006/relationships/slideLayout" Target="../slideLayouts/templateLayout3.xml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notesSlide" Target="../notesSlides/notesSlide4.xml" Id="R2845738a90dc47db"/><Relationship Id="rTemplateLayout" Type="http://schemas.openxmlformats.org/officeDocument/2006/relationships/slideLayout" Target="../slideLayouts/templateLayout4.xml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image" Target="../media/image4-optimized.jpg" Id="R59ac8df81b76416f" /><Relationship Type="http://schemas.openxmlformats.org/officeDocument/2006/relationships/image" Target="../media/image5-optimized.jpg" Id="Re386e613c60a4df6" /><Relationship Type="http://schemas.openxmlformats.org/officeDocument/2006/relationships/image" Target="../media/image6-optimized.jpg" Id="R052385d4d16f47c8" /><Relationship Type="http://schemas.openxmlformats.org/officeDocument/2006/relationships/notesSlide" Target="../notesSlides/notesSlide5.xml" Id="Rdc0d3c3960e346f9" /><Relationship Id="rTemplateLayout" Type="http://schemas.openxmlformats.org/officeDocument/2006/relationships/slideLayout" Target="../slideLayouts/templateLayout5.xml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image" Target="../media/image7-optimized.jpg" Id="R5396ad1fd3a6420a" /><Relationship Type="http://schemas.openxmlformats.org/officeDocument/2006/relationships/notesSlide" Target="../notesSlides/notesSlide6.xml" Id="Re6e6cf1e89584e36" /><Relationship Id="rTemplateLayout" Type="http://schemas.openxmlformats.org/officeDocument/2006/relationships/slideLayout" Target="../slideLayouts/templateLayout6.xml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lder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8347" y="741210"/>
            <a:ext cx="3886518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05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05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Calder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7EF44C7-2750-44BD-8F3D-F354181D2034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"/>
          </p:nvPr>
        </p:nvPicPr>
        <p:blipFill>
          <a:blip xmlns:r="http://schemas.openxmlformats.org/officeDocument/2006/relationships" xmlns:a="http://schemas.openxmlformats.org/drawingml/2006/main" r:embed="R6993e4ebf3d24a61"/>
          <a:stretch xmlns:a="http://schemas.openxmlformats.org/drawingml/2006/main"/>
        </p:blipFill>
        <p:spPr>
          <a:xfrm xmlns:a="http://schemas.openxmlformats.org/drawingml/2006/main">
            <a:off x="384671" y="371732"/>
            <a:ext cx="5098709" cy="6118451"/>
          </a:xfrm>
          <a:prstGeom xmlns:a="http://schemas.openxmlformats.org/drawingml/2006/main" prst="rect">
            <a:avLst/>
          </a:prstGeom>
        </p:spPr>
      </p:pic>
      <p:sp>
        <p:nvSpPr>
          <p:cNvPr id="4" name="Estates">
            <a:extLst xmlns:a="http://schemas.openxmlformats.org/drawingml/2006/main">
              <a:ext uri="{FF2B5EF4-FFF2-40B4-BE49-F238E27FC236}">
                <a16:creationId xmlns:a16="http://schemas.microsoft.com/office/drawing/2014/main" id="{7B126756-CD8C-490A-80DA-8DA78B9407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8347" y="1828008"/>
            <a:ext cx="4034155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05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05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Estates</a:t>
            </a:r>
          </a:p>
        </p:txBody>
      </p:sp>
      <p:sp>
        <p:nvSpPr>
          <p:cNvPr id="5" name="Calder House, est. 1947">
            <a:extLst xmlns:a="http://schemas.openxmlformats.org/drawingml/2006/main">
              <a:ext uri="{FF2B5EF4-FFF2-40B4-BE49-F238E27FC236}">
                <a16:creationId xmlns:a16="http://schemas.microsoft.com/office/drawing/2014/main" id="{04F36587-1FB4-40CE-9B88-16CFF99BBFF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248861" y="6552429"/>
            <a:ext cx="137033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Calder House, est. 1947</a:t>
            </a:r>
          </a:p>
        </p:txBody>
      </p:sp>
      <p:sp>
        <p:nvSpPr>
          <p:cNvPr id="6" name="1. Project Overview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673572" y="3902940"/>
            <a:ext cx="179260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1. Project Overview</a:t>
            </a:r>
          </a:p>
        </p:txBody>
      </p:sp>
      <p:sp>
        <p:nvSpPr>
          <p:cNvPr id="7" name="2. Our Philosophy">
            <a:extLst xmlns:a="http://schemas.openxmlformats.org/drawingml/2006/main">
              <a:ext uri="{FF2B5EF4-FFF2-40B4-BE49-F238E27FC236}">
                <a16:creationId xmlns:a16="http://schemas.microsoft.com/office/drawing/2014/main" id="{2E737AEB-8BDC-45A9-8726-F02001140C7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673572" y="4268557"/>
            <a:ext cx="170053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2. Our Philosophy</a:t>
            </a:r>
          </a:p>
        </p:txBody>
      </p:sp>
      <p:sp>
        <p:nvSpPr>
          <p:cNvPr id="8" name="3.  History of Calder House">
            <a:extLst xmlns:a="http://schemas.openxmlformats.org/drawingml/2006/main">
              <a:ext uri="{FF2B5EF4-FFF2-40B4-BE49-F238E27FC236}">
                <a16:creationId xmlns:a16="http://schemas.microsoft.com/office/drawing/2014/main" id="{E66C52B1-0C69-420A-ADCA-25EB9135D2D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673572" y="4628459"/>
            <a:ext cx="241490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3. </a:t>
            </a:r>
            <a:r>
              <a:rPr b="0" i="0" u="none" baseline="0">
                <a:solidFill>
                  <a:srgbClr val="000000">
                    <a:alpha val="70000"/>
                  </a:srgbClr>
                </a:solidFill>
                <a:highlight>
                  <a:srgbClr val="000000">
                    <a:alpha val="0"/>
                  </a:srgbClr>
                </a:highlight>
              </a:rPr>
              <a:t>History of Calder House</a:t>
            </a:r>
          </a:p>
        </p:txBody>
      </p:sp>
      <p:sp>
        <p:nvSpPr>
          <p:cNvPr id="9" name="4.  Construction Details">
            <a:extLst xmlns:a="http://schemas.openxmlformats.org/drawingml/2006/main">
              <a:ext uri="{FF2B5EF4-FFF2-40B4-BE49-F238E27FC236}">
                <a16:creationId xmlns:a16="http://schemas.microsoft.com/office/drawing/2014/main" id="{F3F26BCF-B87C-48FE-856A-0DF4A3D6C96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673572" y="4991034"/>
            <a:ext cx="211645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4. </a:t>
            </a:r>
            <a:r>
              <a:rPr b="0" i="0" u="none" baseline="0">
                <a:solidFill>
                  <a:srgbClr val="000000">
                    <a:alpha val="70000"/>
                  </a:srgbClr>
                </a:solidFill>
                <a:highlight>
                  <a:srgbClr val="000000">
                    <a:alpha val="0"/>
                  </a:srgbClr>
                </a:highlight>
              </a:rPr>
              <a:t>Construction Details</a:t>
            </a:r>
          </a:p>
        </p:txBody>
      </p:sp>
      <p:sp>
        <p:nvSpPr>
          <p:cNvPr id="10" name="5.  Expected Outcome">
            <a:extLst xmlns:a="http://schemas.openxmlformats.org/drawingml/2006/main">
              <a:ext uri="{FF2B5EF4-FFF2-40B4-BE49-F238E27FC236}">
                <a16:creationId xmlns:a16="http://schemas.microsoft.com/office/drawing/2014/main" id="{607D69A3-93A0-4095-B21F-38AA590A4A4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673572" y="5353609"/>
            <a:ext cx="196564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5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5. </a:t>
            </a:r>
            <a:r>
              <a:rPr b="0" i="0" u="none" baseline="0">
                <a:solidFill>
                  <a:srgbClr val="000000">
                    <a:alpha val="70000"/>
                  </a:srgbClr>
                </a:solidFill>
                <a:highlight>
                  <a:srgbClr val="000000">
                    <a:alpha val="0"/>
                  </a:srgbClr>
                </a:highlight>
              </a:rPr>
              <a:t>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2.xml><?xml version="1.0" encoding="utf-8"?>
<p:sld xmlns:p="http://schemas.openxmlformats.org/presentationml/2006/main" show="1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roject overview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391" y="259200"/>
            <a:ext cx="5150649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</a:p>
        </p:txBody>
      </p:sp>
      <p:sp>
        <p:nvSpPr>
          <p:cNvPr id="3" name="Calder House, established in 1947, is a landmark…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185" y="1652799"/>
            <a:ext cx="5335905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Calder House, established in 1947, is a landmark residence reimagined for a new generation.</a:t>
            </a:r>
          </a:p>
        </p:txBody>
      </p:sp>
      <p:sp>
        <p:nvSpPr>
          <p:cNvPr id="5" name="Our project brings together heritage and contemp…">
            <a:extLst xmlns:a="http://schemas.openxmlformats.org/drawingml/2006/main"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9391" y="3042784"/>
            <a:ext cx="5335905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Our project brings together heritage and contemporary living, crafting a limited collection of residences defined by thoughtful design.</a:t>
            </a:r>
          </a:p>
        </p:txBody>
      </p:sp>
      <p:pic>
        <p:nvPicPr>
          <p:cNvPr id="6" name="Picture 4">
            <a:extLst xmlns:a="http://schemas.openxmlformats.org/drawingml/2006/main">
              <a:ext uri="{FF2B5EF4-FFF2-40B4-BE49-F238E27FC236}">
                <a16:creationId xmlns:a16="http://schemas.microsoft.com/office/drawing/2014/main" id="{0D4CDA80-6FE2-49E7-B077-21A0E41BB4D9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3"/>
          </p:nvPr>
        </p:nvPicPr>
        <p:blipFill>
          <a:blip xmlns:r="http://schemas.openxmlformats.org/officeDocument/2006/relationships" xmlns:a="http://schemas.openxmlformats.org/drawingml/2006/main" r:embed="R72352e5ef4824996"/>
          <a:stretch xmlns:a="http://schemas.openxmlformats.org/drawingml/2006/main"/>
        </p:blipFill>
        <p:spPr>
          <a:xfrm xmlns:a="http://schemas.openxmlformats.org/drawingml/2006/main">
            <a:off x="6455288" y="354450"/>
            <a:ext cx="5376861" cy="6112979"/>
          </a:xfrm>
          <a:prstGeom xmlns:a="http://schemas.openxmlformats.org/drawingml/2006/main" prst="rect">
            <a:avLst/>
          </a:prstGeom>
        </p:spPr>
      </p:pic>
      <p:sp>
        <p:nvSpPr>
          <p:cNvPr id="7" name="Proposed restoration, 2027">
            <a:extLst xmlns:a="http://schemas.openxmlformats.org/drawingml/2006/main">
              <a:ext uri="{FF2B5EF4-FFF2-40B4-BE49-F238E27FC236}">
                <a16:creationId xmlns:a16="http://schemas.microsoft.com/office/drawing/2014/main" id="{8EDC01B9-4AA2-4FB1-9C4E-C313FEA485F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354572" y="6534150"/>
            <a:ext cx="15782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Proposed restoration, 2027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ur Philosophy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79166" y="259200"/>
            <a:ext cx="5150649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</a:pPr>
            <a:r>
              <a:rPr sz="5700" b="0" i="1" u="none" spc="0" baseline="0">
                <a:solidFill>
                  <a:srgbClr val="721E04"/>
                </a:solidFill>
                <a:highlight>
                  <a:srgbClr val="000000">
                    <a:alpha val="0"/>
                  </a:srgbClr>
                </a:highlight>
                <a:latin typeface="Times New Roman"/>
                <a:ea typeface="Times New Roman"/>
                <a:cs typeface="Times New Roman"/>
              </a:rPr>
              <a:t>Our Philosophy</a:t>
            </a:r>
          </a:p>
        </p:txBody>
      </p:sp>
      <p:sp>
        <p:nvSpPr>
          <p:cNvPr id="3" name="At Calder Estates, we believe great architecture…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1325" y="1650594"/>
            <a:ext cx="5335905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2400" b="0" i="0" u="none" spc="0" baseline="0">
                <a:solidFill>
                  <a:srgbClr val="000000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At Calder Estates, we believe great architecture should feel both timeless and deeply connected to its surroundings.</a:t>
            </a:r>
          </a:p>
        </p:txBody>
      </p:sp>
      <p:sp>
        <p:nvSpPr>
          <p:cNvPr id="5" name="The result is a collection of homes designed to …">
            <a:extLst xmlns:a="http://schemas.openxmlformats.org/drawingml/2006/main">
              <a:ext uri="{FF2B5EF4-FFF2-40B4-BE49-F238E27FC236}">
                <a16:creationId xmlns:a16="http://schemas.microsoft.com/office/drawing/2014/main" id="{6375C5FD-7F24-4B32-9557-8633E7D34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79166" y="3423784"/>
            <a:ext cx="5335905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2400" b="0" i="0" u="none" spc="0" baseline="0">
                <a:solidFill>
                  <a:srgbClr val="000000">
                    <a:alpha val="70196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The result is a collection of homes designed to age gracefully, inspire everyday rituals, and endure for generations.</a:t>
            </a:r>
          </a:p>
        </p:txBody>
      </p:sp>
      <p:pic>
        <p:nvPicPr>
          <p:cNvPr id="6" name="Picture 4">
            <a:extLst xmlns:a="http://schemas.openxmlformats.org/drawingml/2006/main">
              <a:ext uri="{FF2B5EF4-FFF2-40B4-BE49-F238E27FC236}">
                <a16:creationId xmlns:a16="http://schemas.microsoft.com/office/drawing/2014/main" id="{F4C11C52-D847-47ED-9411-22534869B9A5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3"/>
          </p:nvPr>
        </p:nvPicPr>
        <p:blipFill>
          <a:blip xmlns:r="http://schemas.openxmlformats.org/officeDocument/2006/relationships" xmlns:a="http://schemas.openxmlformats.org/drawingml/2006/main" r:embed="Reb62be509c6341ea"/>
          <a:stretch xmlns:a="http://schemas.openxmlformats.org/drawingml/2006/main"/>
        </p:blipFill>
        <p:spPr>
          <a:xfrm xmlns:a="http://schemas.openxmlformats.org/drawingml/2006/main">
            <a:off x="335017" y="348032"/>
            <a:ext cx="5376392" cy="6112446"/>
          </a:xfrm>
          <a:prstGeom xmlns:a="http://schemas.openxmlformats.org/drawingml/2006/main" prst="rect">
            <a:avLst/>
          </a:prstGeom>
        </p:spPr>
      </p:pic>
      <p:sp>
        <p:nvSpPr>
          <p:cNvPr id="7" name="Proposed restoration, 2027">
            <a:extLst xmlns:a="http://schemas.openxmlformats.org/drawingml/2006/main">
              <a:ext uri="{FF2B5EF4-FFF2-40B4-BE49-F238E27FC236}">
                <a16:creationId xmlns:a16="http://schemas.microsoft.com/office/drawing/2014/main" id="{B2E63E01-C91C-4065-9CB1-E4550A17B20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234067" y="6525015"/>
            <a:ext cx="15782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 algn="ctr">
              <a:def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</a:pPr>
            <a:r>
              <a:rPr sz="900" i="1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rPr>
              <a:t>Proposed restoration, 2027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istory of Calder House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4716" y="263777"/>
            <a:ext cx="7317105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History of Calder House</a:t>
            </a:r>
          </a:p>
        </p:txBody>
      </p:sp>
      <p:sp>
        <p:nvSpPr>
          <p:cNvPr id="3" name="Calder House was built in 1947 as a private resi…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1574" y="2306531"/>
            <a:ext cx="1127549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Calder House was built in 1947 as a private residence, celebrated for its refined proportions, natural materials, and connection to the surrounding landscape.</a:t>
            </a:r>
          </a:p>
        </p:txBody>
      </p:sp>
      <p:sp>
        <p:nvSpPr>
          <p:cNvPr id="5" name="1947 · Original residence established">
            <a:extLst xmlns:a="http://schemas.openxmlformats.org/drawingml/2006/main">
              <a:ext uri="{FF2B5EF4-FFF2-40B4-BE49-F238E27FC236}">
                <a16:creationId xmlns:a16="http://schemas.microsoft.com/office/drawing/2014/main" id="{346B20C4-5AAD-47F0-8A0F-DEE9706588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9391" y="1847149"/>
            <a:ext cx="899472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1947 · Original residence established</a:t>
            </a:r>
          </a:p>
        </p:txBody>
      </p:sp>
      <p:sp>
        <p:nvSpPr>
          <p:cNvPr id="6" name="A thoughtful renovation introduced new living sp…">
            <a:extLst xmlns:a="http://schemas.openxmlformats.org/drawingml/2006/main">
              <a:ext uri="{FF2B5EF4-FFF2-40B4-BE49-F238E27FC236}">
                <a16:creationId xmlns:a16="http://schemas.microsoft.com/office/drawing/2014/main" id="{8FA54100-CA2A-474C-AD49-AC01DDDE489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54716" y="3885583"/>
            <a:ext cx="11280171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A thoughtful renovation introduced new living spaces and modern comforts while preserving the home's original architectural character.</a:t>
            </a:r>
          </a:p>
        </p:txBody>
      </p:sp>
      <p:sp>
        <p:nvSpPr>
          <p:cNvPr id="7" name="1978 · A period of transformation">
            <a:extLst xmlns:a="http://schemas.openxmlformats.org/drawingml/2006/main">
              <a:ext uri="{FF2B5EF4-FFF2-40B4-BE49-F238E27FC236}">
                <a16:creationId xmlns:a16="http://schemas.microsoft.com/office/drawing/2014/main" id="{9A29876D-5389-4245-9D29-0FAD9AE5FFF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54716" y="3426776"/>
            <a:ext cx="899940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1978 · A period of transformation</a:t>
            </a:r>
          </a:p>
        </p:txBody>
      </p:sp>
      <p:sp>
        <p:nvSpPr>
          <p:cNvPr id="8" name="Calder House was recognized as a local architect…">
            <a:extLst xmlns:a="http://schemas.openxmlformats.org/drawingml/2006/main">
              <a:ext uri="{FF2B5EF4-FFF2-40B4-BE49-F238E27FC236}">
                <a16:creationId xmlns:a16="http://schemas.microsoft.com/office/drawing/2014/main" id="{A32645A4-33B4-4295-8DDE-26836957E3E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59391" y="5466733"/>
            <a:ext cx="11280171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Calder House was recognized as a local architectural landmark, celebrated for its timeless design and enduring connection to the surrounding landscape.</a:t>
            </a:r>
          </a:p>
        </p:txBody>
      </p:sp>
      <p:sp>
        <p:nvSpPr>
          <p:cNvPr id="9" name="2004 · A lasting legacy">
            <a:extLst xmlns:a="http://schemas.openxmlformats.org/drawingml/2006/main">
              <a:ext uri="{FF2B5EF4-FFF2-40B4-BE49-F238E27FC236}">
                <a16:creationId xmlns:a16="http://schemas.microsoft.com/office/drawing/2014/main" id="{C28C587D-B49A-48B8-B090-5987DB58F59E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59391" y="5007926"/>
            <a:ext cx="899940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2004 · A lasting legacy</a:t>
            </a:r>
          </a:p>
        </p:txBody>
      </p:sp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struction Details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4716" y="263777"/>
            <a:ext cx="623443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Construction Details</a:t>
            </a:r>
          </a:p>
        </p:txBody>
      </p:sp>
      <p:sp>
        <p:nvSpPr>
          <p:cNvPr id="3" name="The original 1947 foundation has been reinforced…">
            <a:extLst xmlns:a="http://schemas.openxmlformats.org/drawingml/2006/main">
              <a:ext uri="{FF2B5EF4-FFF2-40B4-BE49-F238E27FC236}">
                <a16:creationId xmlns:a16="http://schemas.microsoft.com/office/drawing/2014/main" id="{444DA85F-3EDD-4C9C-A6A3-4AF517718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57074" y="2304326"/>
            <a:ext cx="8997219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The original 1947 foundation has been reinforced to ensure structural stability while preserving the estate's historic footprint.</a:t>
            </a:r>
          </a:p>
        </p:txBody>
      </p:sp>
      <p:sp>
        <p:nvSpPr>
          <p:cNvPr id="5" name="Foundation · Reinforced concrete">
            <a:extLst xmlns:a="http://schemas.openxmlformats.org/drawingml/2006/main">
              <a:ext uri="{FF2B5EF4-FFF2-40B4-BE49-F238E27FC236}">
                <a16:creationId xmlns:a16="http://schemas.microsoft.com/office/drawing/2014/main" id="{346B20C4-5AAD-47F0-8A0F-DEE9706588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54891" y="1847149"/>
            <a:ext cx="899472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Foundation · Reinforced concrete</a:t>
            </a:r>
          </a:p>
        </p:txBody>
      </p:sp>
      <p:sp>
        <p:nvSpPr>
          <p:cNvPr id="6" name="Original timber framing has been restored and st…">
            <a:extLst xmlns:a="http://schemas.openxmlformats.org/drawingml/2006/main">
              <a:ext uri="{FF2B5EF4-FFF2-40B4-BE49-F238E27FC236}">
                <a16:creationId xmlns:a16="http://schemas.microsoft.com/office/drawing/2014/main" id="{8FA54100-CA2A-474C-AD49-AC01DDDE489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550216" y="3885583"/>
            <a:ext cx="899940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Original timber framing has been restored and strengthened to accommodate contemporary living spaces.</a:t>
            </a:r>
          </a:p>
        </p:txBody>
      </p:sp>
      <p:sp>
        <p:nvSpPr>
          <p:cNvPr id="7" name="Structure · Timber framing">
            <a:extLst xmlns:a="http://schemas.openxmlformats.org/drawingml/2006/main">
              <a:ext uri="{FF2B5EF4-FFF2-40B4-BE49-F238E27FC236}">
                <a16:creationId xmlns:a16="http://schemas.microsoft.com/office/drawing/2014/main" id="{9A29876D-5389-4245-9D29-0FAD9AE5FFF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550216" y="3426776"/>
            <a:ext cx="899940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Structure · Timber framing</a:t>
            </a:r>
          </a:p>
        </p:txBody>
      </p:sp>
      <p:sp>
        <p:nvSpPr>
          <p:cNvPr id="8" name="Locally sourced stone, natural timber, and plast…">
            <a:extLst xmlns:a="http://schemas.openxmlformats.org/drawingml/2006/main">
              <a:ext uri="{FF2B5EF4-FFF2-40B4-BE49-F238E27FC236}">
                <a16:creationId xmlns:a16="http://schemas.microsoft.com/office/drawing/2014/main" id="{A32645A4-33B4-4295-8DDE-26836957E3E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554891" y="5466733"/>
            <a:ext cx="8994727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0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Locally sourced stone, natural timber, and plaster finishes create a material palette that honors the estate's architectural heritage.</a:t>
            </a:r>
          </a:p>
        </p:txBody>
      </p:sp>
      <p:sp>
        <p:nvSpPr>
          <p:cNvPr id="9" name="Materials · Stone and natural wood">
            <a:extLst xmlns:a="http://schemas.openxmlformats.org/drawingml/2006/main">
              <a:ext uri="{FF2B5EF4-FFF2-40B4-BE49-F238E27FC236}">
                <a16:creationId xmlns:a16="http://schemas.microsoft.com/office/drawing/2014/main" id="{C28C587D-B49A-48B8-B090-5987DB58F59E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554891" y="5007926"/>
            <a:ext cx="899940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>
              <a:defRPr sz="2400" b="1" i="0">
                <a:solidFill>
                  <a:srgbClr val="000000">
                    <a:alpha val="7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highlight>
                  <a:srgbClr val="000000">
                    <a:alpha val="0"/>
                  </a:srgbClr>
                </a:highlight>
              </a:rPr>
              <a:t>Materials · Stone and natural wood</a:t>
            </a:r>
          </a:p>
        </p:txBody>
      </p:sp>
      <p:pic>
        <p:nvPicPr>
          <p:cNvPr id="10" name="Picture 8">
            <a:extLst xmlns:a="http://schemas.openxmlformats.org/drawingml/2006/main">
              <a:ext uri="{FF2B5EF4-FFF2-40B4-BE49-F238E27FC236}">
                <a16:creationId xmlns:a16="http://schemas.microsoft.com/office/drawing/2014/main" id="{E0326868-E4DF-4A4B-8B2E-055DA5D6F05F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7"/>
          </p:nvPr>
        </p:nvPicPr>
        <p:blipFill>
          <a:blip xmlns:r="http://schemas.openxmlformats.org/officeDocument/2006/relationships" xmlns:a="http://schemas.openxmlformats.org/drawingml/2006/main" r:embed="R59ac8df81b76416f"/>
          <a:stretch xmlns:a="http://schemas.openxmlformats.org/drawingml/2006/main"/>
        </p:blipFill>
        <p:spPr>
          <a:xfrm xmlns:a="http://schemas.openxmlformats.org/drawingml/2006/main">
            <a:off x="454716" y="3484326"/>
            <a:ext cx="1829799" cy="1219866"/>
          </a:xfrm>
          <a:prstGeom xmlns:a="http://schemas.openxmlformats.org/drawingml/2006/main" prst="rect">
            <a:avLst/>
          </a:prstGeom>
        </p:spPr>
      </p:pic>
      <p:pic>
        <p:nvPicPr>
          <p:cNvPr id="11" name="Picture 9">
            <a:extLst xmlns:a="http://schemas.openxmlformats.org/drawingml/2006/main">
              <a:ext uri="{FF2B5EF4-FFF2-40B4-BE49-F238E27FC236}">
                <a16:creationId xmlns:a16="http://schemas.microsoft.com/office/drawing/2014/main" id="{02CA6429-8974-4C88-98CC-BD7FC8089454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8"/>
          </p:nvPr>
        </p:nvPicPr>
        <p:blipFill>
          <a:blip xmlns:r="http://schemas.openxmlformats.org/officeDocument/2006/relationships" xmlns:a="http://schemas.openxmlformats.org/drawingml/2006/main" r:embed="Re386e613c60a4df6"/>
          <a:stretch xmlns:a="http://schemas.openxmlformats.org/drawingml/2006/main"/>
        </p:blipFill>
        <p:spPr>
          <a:xfrm xmlns:a="http://schemas.openxmlformats.org/drawingml/2006/main">
            <a:off x="452394" y="5050777"/>
            <a:ext cx="1829799" cy="1219866"/>
          </a:xfrm>
          <a:prstGeom xmlns:a="http://schemas.openxmlformats.org/drawingml/2006/main" prst="rect">
            <a:avLst/>
          </a:prstGeom>
        </p:spPr>
      </p:pic>
      <p:pic>
        <p:nvPicPr>
          <p:cNvPr id="12" name="Picture 10">
            <a:extLst xmlns:a="http://schemas.openxmlformats.org/drawingml/2006/main">
              <a:ext uri="{FF2B5EF4-FFF2-40B4-BE49-F238E27FC236}">
                <a16:creationId xmlns:a16="http://schemas.microsoft.com/office/drawing/2014/main" id="{8BEF7976-F5D1-4A7A-9940-A569E68C9E69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9"/>
          </p:nvPr>
        </p:nvPicPr>
        <p:blipFill>
          <a:blip xmlns:r="http://schemas.openxmlformats.org/officeDocument/2006/relationships" xmlns:a="http://schemas.openxmlformats.org/drawingml/2006/main" r:embed="R052385d4d16f47c8"/>
          <a:stretch xmlns:a="http://schemas.openxmlformats.org/drawingml/2006/main"/>
        </p:blipFill>
        <p:spPr>
          <a:xfrm xmlns:a="http://schemas.openxmlformats.org/drawingml/2006/main">
            <a:off x="454716" y="1927400"/>
            <a:ext cx="1829799" cy="12198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xpected Outcome">
            <a:extLst xmlns:a="http://schemas.openxmlformats.org/drawingml/2006/main">
              <a:ext uri="{FF2B5EF4-FFF2-40B4-BE49-F238E27FC236}">
                <a16:creationId xmlns:a16="http://schemas.microsoft.com/office/drawing/2014/main" id="{A6D65255-5488-4717-B658-B7D148376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4716" y="263127"/>
            <a:ext cx="5626418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5700" b="1" i="1">
                <a:solidFill>
                  <a:srgbClr val="721E04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5700" b="0" i="1">
                <a:solidFill>
                  <a:srgbClr val="721E04"/>
                </a:solidFill>
                <a:latin typeface="Times New Roman"/>
                <a:ea typeface="Times New Roman"/>
                <a:cs typeface="Times New Roman"/>
              </a:rPr>
              <a:t>Expected Outcome</a:t>
            </a:r>
          </a:p>
        </p:txBody>
      </p:sp>
      <p:pic>
        <p:nvPicPr>
          <p:cNvPr id="4" name="Picture 2">
            <a:extLst xmlns:a="http://schemas.openxmlformats.org/drawingml/2006/main">
              <a:ext uri="{FF2B5EF4-FFF2-40B4-BE49-F238E27FC236}">
                <a16:creationId xmlns:a16="http://schemas.microsoft.com/office/drawing/2014/main" id="{9D8ACEB1-B324-4020-9CD2-456730B16B7E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"/>
          </p:nvPr>
        </p:nvPicPr>
        <p:blipFill>
          <a:blip xmlns:r="http://schemas.openxmlformats.org/officeDocument/2006/relationships" xmlns:a="http://schemas.openxmlformats.org/drawingml/2006/main" r:embed="R5396ad1fd3a6420a"/>
          <a:stretch xmlns:a="http://schemas.openxmlformats.org/drawingml/2006/main"/>
        </p:blipFill>
        <p:spPr>
          <a:xfrm xmlns:a="http://schemas.openxmlformats.org/drawingml/2006/main">
            <a:off x="541116" y="1646606"/>
            <a:ext cx="11143878" cy="4952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85807"/>
      </p:ext>
    </p:extLst>
  </p:cSld>
</p:sld>
</file>

<file path=ppt/theme/templateTheme.xml><?xml version="1.0" encoding="utf-8"?>
<a:theme xmlns:a="http://schemas.openxmlformats.org/drawingml/2006/main" name="Calder Architecture">
  <a:themeElements>
    <a:clrScheme name="Calder Architecture">
      <a:dk1>
        <a:srgbClr val="000000"/>
      </a:dk1>
      <a:lt1>
        <a:srgbClr val="FFFFFF"/>
      </a:lt1>
      <a:dk2>
        <a:srgbClr val="721E04"/>
      </a:dk2>
      <a:lt2>
        <a:srgbClr val="FDF8F4"/>
      </a:lt2>
      <a:accent1>
        <a:srgbClr val="721E04"/>
      </a:accent1>
      <a:accent2>
        <a:srgbClr val="FDF8F4"/>
      </a:accent2>
      <a:accent3>
        <a:srgbClr val="000000"/>
      </a:accent3>
      <a:accent4>
        <a:srgbClr val="FFFFFF"/>
      </a:accent4>
      <a:accent5>
        <a:srgbClr val="721E04"/>
      </a:accent5>
      <a:accent6>
        <a:srgbClr val="FDF8F4"/>
      </a:accent6>
      <a:hlink>
        <a:srgbClr val="721E04"/>
      </a:hlink>
      <a:folHlink>
        <a:srgbClr val="721E04"/>
      </a:folHlink>
    </a:clrScheme>
    <a:fontScheme name="Calder Architecture">
      <a:majorFont>
        <a:latin typeface="Times New Roman"/>
        <a:ea typeface=""/>
        <a:cs typeface=""/>
      </a:majorFont>
      <a:minorFont>
        <a:latin typeface="Georgi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/>
  <ns2:modified xsi:type="dcterms:W3CDTF"/>
</ns0:coreProperties>
</file>