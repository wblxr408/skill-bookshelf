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1-optimized.jpg" ContentType="image/jpeg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4"/>
  </p:notesMasterIdLst>
  <p:sldIdLst>
    <p:sldId id="395" r:id="rId2"/>
    <p:sldId id="356" r:id="rId3"/>
    <p:sldId id="350" r:id="rId4"/>
    <p:sldId id="324" r:id="rId5"/>
    <p:sldId id="303" r:id="rId6"/>
    <p:sldId id="376" r:id="rId7"/>
    <p:sldId id="380" r:id="rId8"/>
    <p:sldId id="337" r:id="rId9"/>
    <p:sldId id="343" r:id="rId10"/>
    <p:sldId id="317" r:id="rId11"/>
    <p:sldId id="391" r:id="rId12"/>
    <p:sldId id="396" r:id="rId13"/>
  </p:sldIdLst>
  <p:sldSz cx="12192000" cy="6858000"/>
  <p:notesSz cx="6858000" cy="9144000"/>
  <p:embeddedFontLst>
    <p:embeddedFont>
      <p:font typeface="Inter" panose="02000503000000020004" pitchFamily="2" charset="0"/>
      <p:regular r:id="rId15"/>
      <p:bold r:id="rId16"/>
    </p:embeddedFont>
    <p:embeddedFont>
      <p:font typeface="Inter Medium" panose="02000503000000020004" pitchFamily="2" charset="0"/>
      <p:regular r:id="rId17"/>
    </p:embeddedFont>
    <p:embeddedFont>
      <p:font typeface="Inter SemiBold" panose="02000503000000020004" pitchFamily="2" charset="0"/>
      <p:regular r:id="rId18"/>
      <p:bold r:id="rId19"/>
    </p:embeddedFont>
    <p:embeddedFont>
      <p:font typeface="OpenAI Sans" panose="020B0004030202060203" pitchFamily="34" charset="77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F59"/>
    <a:srgbClr val="002615"/>
    <a:srgbClr val="003700"/>
    <a:srgbClr val="2846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30"/>
    <p:restoredTop sz="94658"/>
  </p:normalViewPr>
  <p:slideViewPr>
    <p:cSldViewPr snapToGrid="0">
      <p:cViewPr varScale="1">
        <p:scale>
          <a:sx n="95" d="100"/>
          <a:sy n="95" d="100"/>
        </p:scale>
        <p:origin x="192" y="624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5BC28-9524-1B7D-E3AA-F990D78B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D828E-5EDC-0AF2-6042-7603D5D3D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1E9CF-1F68-1247-7EAB-5CD824009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03618-3741-A418-A2E3-3DC1C79DF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1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6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 panose="02000503000000020004" pitchFamily="2" charset="0"/>
          <a:ea typeface="Inter Medium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7" orient="horz" pos="248">
          <p15:clr>
            <a:srgbClr val="F26B43"/>
          </p15:clr>
        </p15:guide>
        <p15:guide id="18" orient="horz" pos="656">
          <p15:clr>
            <a:srgbClr val="F26B43"/>
          </p15:clr>
        </p15:guide>
        <p15:guide id="19" orient="horz" pos="872">
          <p15:clr>
            <a:srgbClr val="F26B43"/>
          </p15:clr>
        </p15:guide>
        <p15:guide id="20" orient="horz" pos="1280">
          <p15:clr>
            <a:srgbClr val="F26B43"/>
          </p15:clr>
        </p15:guide>
        <p15:guide id="21" orient="horz" pos="1496">
          <p15:clr>
            <a:srgbClr val="F26B43"/>
          </p15:clr>
        </p15:guide>
        <p15:guide id="22" orient="horz" pos="1904">
          <p15:clr>
            <a:srgbClr val="F26B43"/>
          </p15:clr>
        </p15:guide>
        <p15:guide id="23" orient="horz" pos="2120">
          <p15:clr>
            <a:srgbClr val="F26B43"/>
          </p15:clr>
        </p15:guide>
        <p15:guide id="24" orient="horz" pos="2528">
          <p15:clr>
            <a:srgbClr val="F26B43"/>
          </p15:clr>
        </p15:guide>
        <p15:guide id="25" orient="horz" pos="2744">
          <p15:clr>
            <a:srgbClr val="F26B43"/>
          </p15:clr>
        </p15:guide>
        <p15:guide id="26" orient="horz" pos="3152">
          <p15:clr>
            <a:srgbClr val="F26B43"/>
          </p15:clr>
        </p15:guide>
        <p15:guide id="27" orient="horz" pos="3368">
          <p15:clr>
            <a:srgbClr val="F26B43"/>
          </p15:clr>
        </p15:guide>
        <p15:guide id="28" orient="horz" pos="3776">
          <p15:clr>
            <a:srgbClr val="F26B43"/>
          </p15:clr>
        </p15:guide>
        <p15:guide id="29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1-optimized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BCEF59"/>
                </a:solidFill>
              </a:rPr>
              <a:t>Team Project </a:t>
            </a:r>
            <a:br>
              <a:rPr lang="en-US" sz="7200" dirty="0">
                <a:solidFill>
                  <a:srgbClr val="BCEF59"/>
                </a:solidFill>
              </a:rPr>
            </a:br>
            <a:r>
              <a:rPr lang="en-US" sz="7200" dirty="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Inter Medium" panose="02000503000000020004" pitchFamily="2" charset="0"/>
                <a:ea typeface="Inter Medium" panose="02000503000000020004" pitchFamily="2" charset="0"/>
              </a:rPr>
              <a:t>Aligning on the vision, plan, and path to success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/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4229100" cy="519595"/>
          </a:xfrm>
        </p:spPr>
        <p:txBody>
          <a:bodyPr/>
          <a:lstStyle/>
          <a:p>
            <a:r>
              <a:rPr lang="en-US" dirty="0">
                <a:solidFill>
                  <a:srgbClr val="BCEF59"/>
                </a:solidFill>
              </a:rPr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09610"/>
              </p:ext>
            </p:extLst>
          </p:nvPr>
        </p:nvGraphicFramePr>
        <p:xfrm>
          <a:off x="393700" y="1881809"/>
          <a:ext cx="11404600" cy="411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7222435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  <a:gridCol w="3422926">
                  <a:extLst>
                    <a:ext uri="{9D8B030D-6E8A-4147-A177-3AD203B41FA5}">
                      <a16:colId xmlns:a16="http://schemas.microsoft.com/office/drawing/2014/main" val="1128248815"/>
                    </a:ext>
                  </a:extLst>
                </a:gridCol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  <a:endParaRPr kumimoji="0" lang="en-US" sz="2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BCEF59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5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BCEF5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DRI name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3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 txBox="1">
            <a:spLocks/>
          </p:cNvSpPr>
          <p:nvPr/>
        </p:nvSpPr>
        <p:spPr>
          <a:xfrm>
            <a:off x="393700" y="1684867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rgbClr val="BCEF59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 txBox="1">
            <a:spLocks/>
          </p:cNvSpPr>
          <p:nvPr/>
        </p:nvSpPr>
        <p:spPr>
          <a:xfrm>
            <a:off x="393700" y="3855855"/>
            <a:ext cx="5537200" cy="174413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rgbClr val="BCEF59"/>
                </a:solidFill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7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7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4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Large message slides with three callouts.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b="1" dirty="0">
              <a:latin typeface="Inter SemiBold" panose="02000503000000020004" pitchFamily="2" charset="0"/>
              <a:ea typeface="Inter SemiBold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latin typeface="Inter" panose="02000503000000020004" pitchFamily="2" charset="0"/>
              <a:ea typeface="Inter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sz="18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buNone/>
            </a:pPr>
            <a:endParaRPr lang="en-US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 txBox="1">
            <a:spLocks/>
          </p:cNvSpPr>
          <p:nvPr/>
        </p:nvSpPr>
        <p:spPr>
          <a:xfrm>
            <a:off x="393700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Supertitle</a:t>
            </a: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 txBox="1">
            <a:spLocks/>
          </p:cNvSpPr>
          <p:nvPr/>
        </p:nvSpPr>
        <p:spPr>
          <a:xfrm>
            <a:off x="4294187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Supertitle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 txBox="1">
            <a:spLocks/>
          </p:cNvSpPr>
          <p:nvPr/>
        </p:nvSpPr>
        <p:spPr>
          <a:xfrm>
            <a:off x="8223249" y="2763754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Four points grid layout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 fontAlgn="auto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  <a:tabLst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>
                <a:solidFill>
                  <a:srgbClr val="BCEF59"/>
                </a:solidFill>
                <a:ea typeface="Inter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6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0388" y="179792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b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endParaRPr dirty="0"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0388" y="3065806"/>
            <a:ext cx="4774279" cy="2060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kumimoji="0" lang="en" sz="17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kumimoji="0" lang="en" sz="1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/>
          <p:nvPr/>
        </p:nvSpPr>
        <p:spPr>
          <a:xfrm>
            <a:off x="6264413" y="172243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 txBox="1">
            <a:spLocks/>
          </p:cNvSpPr>
          <p:nvPr/>
        </p:nvSpPr>
        <p:spPr>
          <a:xfrm>
            <a:off x="6561648" y="2017370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/>
          <p:nvPr/>
        </p:nvSpPr>
        <p:spPr>
          <a:xfrm>
            <a:off x="6264413" y="3734118"/>
            <a:ext cx="5533887" cy="16383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 txBox="1">
            <a:spLocks/>
          </p:cNvSpPr>
          <p:nvPr/>
        </p:nvSpPr>
        <p:spPr>
          <a:xfrm>
            <a:off x="6561648" y="4029050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7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Item or topic </a:t>
            </a:r>
            <a:b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</a:br>
            <a:r>
              <a:rPr lang="en-US" sz="1600" dirty="0">
                <a:solidFill>
                  <a:srgbClr val="BCEF59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2000" dirty="0" err="1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2000" dirty="0">
                <a:latin typeface="Inter Medium" panose="02000503000000020004" pitchFamily="2" charset="0"/>
                <a:ea typeface="Inter Medium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/>
          <p:nvPr/>
        </p:nvSpPr>
        <p:spPr>
          <a:xfrm>
            <a:off x="7833152" y="2134181"/>
            <a:ext cx="3568700" cy="3709944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12700" cap="flat" cmpd="sng">
            <a:solidFill>
              <a:srgbClr val="BCEF5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rgbClr val="BCEF59"/>
          </a:solidFill>
          <a:ln>
            <a:solidFill>
              <a:srgbClr val="BCEF59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dirty="0">
                <a:solidFill>
                  <a:srgbClr val="BCEF59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2846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description and three large stat cards layout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34%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BCEF59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56%</a:t>
            </a:r>
            <a:endParaRPr lang="en-US" sz="7000" dirty="0">
              <a:solidFill>
                <a:srgbClr val="BCEF59"/>
              </a:solidFill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10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792557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345950"/>
              </p:ext>
            </p:extLst>
          </p:nvPr>
        </p:nvGraphicFramePr>
        <p:xfrm>
          <a:off x="393699" y="1245705"/>
          <a:ext cx="11404600" cy="47221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2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846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50000"/>
            </a:avLst>
          </a:prstGeom>
          <a:solidFill>
            <a:srgbClr val="284638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b="1" dirty="0"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  <a:endParaRPr sz="1500" b="1" dirty="0"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Lorem ipsum</a:t>
            </a:r>
            <a:endParaRPr sz="15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11</a:t>
            </a:fld>
            <a:endParaRPr lang="en"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8271732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  <a:endParaRPr sz="1100" b="1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50000"/>
            </a:avLst>
          </a:prstGeom>
          <a:solidFill>
            <a:srgbClr val="BCEF59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Helvetica Neue"/>
                <a:sym typeface="Helvetica Neue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268FE-81EB-0552-A6F4-2CD3F5A1A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66174"/>
            <a:ext cx="9448800" cy="2203686"/>
          </a:xfrm>
        </p:spPr>
        <p:txBody>
          <a:bodyPr>
            <a:noAutofit/>
          </a:bodyPr>
          <a:lstStyle/>
          <a:p>
            <a:pPr algn="ctr"/>
            <a:r>
              <a:rPr lang="en-US" sz="7200" dirty="0">
                <a:solidFill>
                  <a:srgbClr val="BCEF59"/>
                </a:solidFill>
              </a:rPr>
              <a:t>Team Project </a:t>
            </a:r>
            <a:br>
              <a:rPr lang="en-US" sz="7200" dirty="0">
                <a:solidFill>
                  <a:srgbClr val="BCEF59"/>
                </a:solidFill>
              </a:rPr>
            </a:br>
            <a:r>
              <a:rPr lang="en-US" sz="7200" dirty="0">
                <a:solidFill>
                  <a:srgbClr val="BCEF59"/>
                </a:solidFill>
              </a:rPr>
              <a:t>Kickoff Session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 txBox="1">
            <a:spLocks/>
          </p:cNvSpPr>
          <p:nvPr/>
        </p:nvSpPr>
        <p:spPr>
          <a:xfrm>
            <a:off x="2461605" y="4874716"/>
            <a:ext cx="7267329" cy="6911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 dirty="0">
                <a:latin typeface="Inter Medium" panose="02000503000000020004" pitchFamily="2" charset="0"/>
                <a:ea typeface="Inter Medium" panose="02000503000000020004" pitchFamily="2" charset="0"/>
              </a:rPr>
              <a:t>Thank you!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/>
          <p:nvPr/>
        </p:nvSpPr>
        <p:spPr>
          <a:xfrm>
            <a:off x="4793264" y="1096027"/>
            <a:ext cx="2604013" cy="488816"/>
          </a:xfrm>
          <a:prstGeom prst="roundRect">
            <a:avLst>
              <a:gd name="adj" fmla="val 50000"/>
            </a:avLst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2026 H2 Planning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1867</TotalTime>
  <Words>788</Words>
  <Application>Microsoft Macintosh PowerPoint</Application>
  <PresentationFormat>Widescreen</PresentationFormat>
  <Paragraphs>141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Inter SemiBold</vt:lpstr>
      <vt:lpstr>Inter</vt:lpstr>
      <vt:lpstr>OpenAI Sans</vt:lpstr>
      <vt:lpstr>Inter Medium</vt:lpstr>
      <vt:lpstr>Aptos</vt:lpstr>
      <vt:lpstr>Helvetica Neue Medium</vt:lpstr>
      <vt:lpstr>Helvetica Neue</vt:lpstr>
      <vt:lpstr>Default Codex Theme</vt:lpstr>
      <vt:lpstr>Team Project  Kickoff Session</vt:lpstr>
      <vt:lpstr>Today’s Agenda</vt:lpstr>
      <vt:lpstr>Half text, half image slide</vt:lpstr>
      <vt:lpstr>Large message slides with three callouts. Lorem ipsum dolor sit amet, consectetur adipiscing elit. </vt:lpstr>
      <vt:lpstr>Four points grid layout </vt:lpstr>
      <vt:lpstr>One column layout with checklist </vt:lpstr>
      <vt:lpstr>Intro with four topics</vt:lpstr>
      <vt:lpstr>Timeline with three text only milestones</vt:lpstr>
      <vt:lpstr>Topic description and three large stat cards layout</vt:lpstr>
      <vt:lpstr>Gantt chart over time</vt:lpstr>
      <vt:lpstr>Calendar grid with milestones</vt:lpstr>
      <vt:lpstr>Team Project  Kickoff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>
  <dc:title/>
</ns0:coreProperties>
</file>