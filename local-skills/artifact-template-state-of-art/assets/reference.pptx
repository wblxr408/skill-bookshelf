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templateMaster.xml" ContentType="application/vnd.openxmlformats-officedocument.presentationml.slideMaster+xml"/>
  <Override PartName="/ppt/theme/templateTheme.xml" ContentType="application/vnd.openxmlformats-officedocument.theme+xml"/>
  <Override PartName="/ppt/slideLayouts/templateLayout1.xml" ContentType="application/vnd.openxmlformats-officedocument.presentationml.slideLayout+xml"/>
  <Override PartName="/ppt/slideLayouts/templateLayout2.xml" ContentType="application/vnd.openxmlformats-officedocument.presentationml.slideLayout+xml"/>
  <Override PartName="/ppt/slideLayouts/templateLayout3.xml" ContentType="application/vnd.openxmlformats-officedocument.presentationml.slideLayout+xml"/>
  <Override PartName="/ppt/slideLayouts/templateLayout4.xml" ContentType="application/vnd.openxmlformats-officedocument.presentationml.slideLayout+xml"/>
  <Override PartName="/ppt/slideLayouts/templateLayout5.xml" ContentType="application/vnd.openxmlformats-officedocument.presentationml.slideLayout+xml"/>
  <Override PartName="/ppt/slideLayouts/templateLayout6.xml" ContentType="application/vnd.openxmlformats-officedocument.presentationml.slideLayout+xml"/>
  <Override PartName="/ppt/media/image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344f45aa64be8" /><Relationship Type="http://schemas.openxmlformats.org/officeDocument/2006/relationships/extended-properties" Target="/docProps/app.xml" Id="R859b05d6453242e8" /><Relationship Type="http://schemas.openxmlformats.org/officeDocument/2006/relationships/officeDocument" Target="/ppt/presentation.xml" Id="Rb20572b5956b48b6" /></Relationships>
</file>

<file path=ppt/presentation.xml><?xml version="1.0" encoding="utf-8"?>
<p:presentation xmlns:p="http://schemas.openxmlformats.org/presentationml/2006/main">
  <p:sldMasterIdLst>
    <p:sldMasterId xmlns:ns1="http://schemas.openxmlformats.org/officeDocument/2006/relationships" id="2147483648" ns1:id="rTemplateMaster"/>
  </p:sldMasterIdLst>
  <p:notesMasterIdLst>
    <p:notesMasterId xmlns:r="http://schemas.openxmlformats.org/officeDocument/2006/relationships" r:id="R1e9b30be0d704676"/>
  </p:notesMasterIdLst>
  <p:sldIdLst>
    <p:sldId xmlns:r="http://schemas.openxmlformats.org/officeDocument/2006/relationships" id="256" r:id="Ref0f630299964f4b"/>
    <p:sldId xmlns:r="http://schemas.openxmlformats.org/officeDocument/2006/relationships" id="257" r:id="Rfdd1f39c38574e99"/>
    <p:sldId xmlns:r="http://schemas.openxmlformats.org/officeDocument/2006/relationships" id="258" r:id="R5ea8b7df202b41c3"/>
    <p:sldId xmlns:r="http://schemas.openxmlformats.org/officeDocument/2006/relationships" id="259" r:id="R2562c055707a40ed"/>
    <p:sldId xmlns:r="http://schemas.openxmlformats.org/officeDocument/2006/relationships" id="260" r:id="R82e0fa8718e448b9"/>
    <p:sldId xmlns:r="http://schemas.openxmlformats.org/officeDocument/2006/relationships" id="261" r:id="Re247abb64b69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a0fd6c769144c50"/><Relationship Type="http://schemas.openxmlformats.org/officeDocument/2006/relationships/notesMaster" Target="/ppt/notesMasters/notesMaster1.xml" Id="R1e9b30be0d704676"/><Relationship Type="http://schemas.openxmlformats.org/officeDocument/2006/relationships/presProps" Target="/ppt/presProps.xml" Id="R2aee70988e97483f"/><Relationship Type="http://schemas.openxmlformats.org/officeDocument/2006/relationships/tableStyles" Target="/ppt/tableStyles.xml" Id="R33d68df9f4934bdf"/><Relationship Type="http://schemas.openxmlformats.org/officeDocument/2006/relationships/slide" Target="/ppt/slides/slide1.xml" Id="Ref0f630299964f4b"/><Relationship Type="http://schemas.openxmlformats.org/officeDocument/2006/relationships/slide" Target="/ppt/slides/slide2.xml" Id="Rfdd1f39c38574e99"/><Relationship Type="http://schemas.openxmlformats.org/officeDocument/2006/relationships/slide" Target="/ppt/slides/slide3.xml" Id="R5ea8b7df202b41c3"/><Relationship Type="http://schemas.openxmlformats.org/officeDocument/2006/relationships/slide" Target="/ppt/slides/slide4.xml" Id="R2562c055707a40ed"/><Relationship Type="http://schemas.openxmlformats.org/officeDocument/2006/relationships/slide" Target="/ppt/slides/slide5.xml" Id="R82e0fa8718e448b9"/><Relationship Type="http://schemas.openxmlformats.org/officeDocument/2006/relationships/slide" Target="/ppt/slides/slide6.xml" Id="Re247abb64b694a90"/><Relationship Id="rTemplateMaster" Type="http://schemas.openxmlformats.org/officeDocument/2006/relationships/slideMaster" Target="slideMasters/templateMaster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bfebd2559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b8c0d568c41dd" /><Relationship Type="http://schemas.openxmlformats.org/officeDocument/2006/relationships/notesMaster" Target="/ppt/notesMasters/notesMaster1.xml" Id="R61d35f9db2b4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aab3d5e464709" /><Relationship Type="http://schemas.openxmlformats.org/officeDocument/2006/relationships/notesMaster" Target="/ppt/notesMasters/notesMaster1.xml" Id="R097464872c5945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cb09a40084dc6" /><Relationship Type="http://schemas.openxmlformats.org/officeDocument/2006/relationships/notesMaster" Target="/ppt/notesMasters/notesMaster1.xml" Id="R3bb9075933334b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31d8a61284384" /><Relationship Type="http://schemas.openxmlformats.org/officeDocument/2006/relationships/notesMaster" Target="/ppt/notesMasters/notesMaster1.xml" Id="Rebece109bfdc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37cbd2b4464106" /><Relationship Type="http://schemas.openxmlformats.org/officeDocument/2006/relationships/notesMaster" Target="/ppt/notesMasters/notesMaster1.xml" Id="Rebe05b9c80bb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fee1ac5e94f9a" /><Relationship Type="http://schemas.openxmlformats.org/officeDocument/2006/relationships/notesMaster" Target="/ppt/notesMasters/notesMaster1.xml" Id="R2acf89d85ac4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templateLayout1.xml.rels><?xml version='1.0' encoding='UTF-8' standalone='yes'?>
<Relationships xmlns="http://schemas.openxmlformats.org/package/2006/relationships"><Relationship Type="http://schemas.openxmlformats.org/officeDocument/2006/relationships/image" Target="../media/image.jpeg" Id="R34b8728bc45e4989"/><Relationship Id="rTemplateMaster" Type="http://schemas.openxmlformats.org/officeDocument/2006/relationships/slideMaster" Target="../slideMasters/templateMaster.xml"/></Relationships>
</file>

<file path=ppt/slideLayouts/_rels/templateLayout2.xml.rels><?xml version='1.0' encoding='UTF-8' standalone='yes'?>
<Relationships xmlns="http://schemas.openxmlformats.org/package/2006/relationships"><Relationship Type="http://schemas.openxmlformats.org/officeDocument/2006/relationships/image" Target="../media/image2.jpeg" Id="R4dadc596fcfb4c72"/><Relationship Id="rTemplateMaster" Type="http://schemas.openxmlformats.org/officeDocument/2006/relationships/slideMaster" Target="../slideMasters/templateMaster.xml"/></Relationships>
</file>

<file path=ppt/slideLayouts/_rels/templateLayout3.xml.rels><?xml version='1.0' encoding='UTF-8' standalone='yes'?>
<Relationships xmlns="http://schemas.openxmlformats.org/package/2006/relationships"><Relationship Type="http://schemas.openxmlformats.org/officeDocument/2006/relationships/image" Target="../media/image3.jpeg" Id="R472061ccaea349ad"/><Relationship Id="rTemplateMaster" Type="http://schemas.openxmlformats.org/officeDocument/2006/relationships/slideMaster" Target="../slideMasters/templateMaster.xml"/></Relationships>
</file>

<file path=ppt/slideLayouts/_rels/templateLayout4.xml.rels><?xml version='1.0' encoding='UTF-8' standalone='yes'?>
<Relationships xmlns="http://schemas.openxmlformats.org/package/2006/relationships"><Relationship Type="http://schemas.openxmlformats.org/officeDocument/2006/relationships/image" Target="../media/image4.jpeg" Id="Re3fd21dc846642af"/><Relationship Id="rTemplateMaster" Type="http://schemas.openxmlformats.org/officeDocument/2006/relationships/slideMaster" Target="../slideMasters/templateMaster.xml"/></Relationships>
</file>

<file path=ppt/slideLayouts/_rels/templateLayout5.xml.rels><?xml version='1.0' encoding='UTF-8' standalone='yes'?>
<Relationships xmlns="http://schemas.openxmlformats.org/package/2006/relationships"><Relationship Type="http://schemas.openxmlformats.org/officeDocument/2006/relationships/image" Target="../media/image5.jpeg" Id="Rcd1a6792a48d4cf7"/><Relationship Id="rTemplateMaster" Type="http://schemas.openxmlformats.org/officeDocument/2006/relationships/slideMaster" Target="../slideMasters/templateMaster.xml"/></Relationships>
</file>

<file path=ppt/slideLayouts/_rels/templateLayout6.xml.rels><?xml version='1.0' encoding='UTF-8' standalone='yes'?>
<Relationships xmlns="http://schemas.openxmlformats.org/package/2006/relationships"><Relationship Type="http://schemas.openxmlformats.org/officeDocument/2006/relationships/image" Target="../media/image6.jpeg" Id="R9a67735c6c8140a4"/><Relationship Type="http://schemas.openxmlformats.org/officeDocument/2006/relationships/image" Target="../media/image7.jpeg" Id="R2fc54dd81e8b41df"/><Relationship Type="http://schemas.openxmlformats.org/officeDocument/2006/relationships/image" Target="../media/image8.jpeg" Id="R3f7aa4245d7a49d3"/><Relationship Type="http://schemas.openxmlformats.org/officeDocument/2006/relationships/image" Target="../media/image9.jpeg" Id="Rd9c923baaa4e4f6e"/><Relationship Type="http://schemas.openxmlformats.org/officeDocument/2006/relationships/image" Target="../media/image10.jpeg" Id="Re4e6dbbe10304c92"/><Relationship Id="rTemplateMaster" Type="http://schemas.openxmlformats.org/officeDocument/2006/relationships/slideMaster" Target="../slideMasters/templateMaster.xml"/></Relationships>
</file>

<file path=ppt/slideLayouts/templat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Art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2"/>
          <p:cNvSpPr>
            <a:spLocks noGrp="1"/>
          </p:cNvSpPr>
          <p:nvPr>
            <p:ph type="pic" idx="1"/>
          </p:nvPr>
        </p:nvSpPr>
        <p:spPr>
          <a:xfrm>
            <a:off x="3868095" y="537494"/>
            <a:ext cx="4455810" cy="57830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TATE">
            <a:extLst>
              <a:ext uri="{FF2B5EF4-FFF2-40B4-BE49-F238E27FC236}">
                <a16:creationId xmlns:a16="http://schemas.microsoft.com/office/drawing/2014/main" id="{A386E9A7-573D-4000-A356-A590DE186DA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278153" y="961075"/>
            <a:ext cx="3635693" cy="1463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9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  <p:sp>
        <p:nvSpPr>
          <p:cNvPr id="4" name="OF">
            <a:extLst>
              <a:ext uri="{FF2B5EF4-FFF2-40B4-BE49-F238E27FC236}">
                <a16:creationId xmlns:a16="http://schemas.microsoft.com/office/drawing/2014/main" id="{8AC8AD0B-D1DD-468B-A43D-F973AF2658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221129" y="2033907"/>
            <a:ext cx="1749743" cy="1463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9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5" name="ART">
            <a:extLst>
              <a:ext uri="{FF2B5EF4-FFF2-40B4-BE49-F238E27FC236}">
                <a16:creationId xmlns:a16="http://schemas.microsoft.com/office/drawing/2014/main" id="{DF395F38-8753-43AF-898C-110C66D7D16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61560" y="4261901"/>
            <a:ext cx="2468880" cy="1463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9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6" name="THE">
            <a:extLst>
              <a:ext uri="{FF2B5EF4-FFF2-40B4-BE49-F238E27FC236}">
                <a16:creationId xmlns:a16="http://schemas.microsoft.com/office/drawing/2014/main" id="{8BB4F00D-D7E6-4A0C-AE03-4C81CD12F91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0766" y="3138943"/>
            <a:ext cx="2470468" cy="1463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rIns="91440" tIns="45720" bIns="45720">
            <a:spAutoFit/>
          </a:bodyPr>
          <a:lstStyle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9000" b="1" i="0" u="none">
                <a:solidFill>
                  <a:srgbClr val="FFFFF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Click to add text</a:t>
            </a:r>
          </a:p>
        </p:txBody>
      </p:sp>
      <p:sp>
        <p:nvSpPr>
          <p:cNvPr id="7" name="What role will human creativity play in an AI-ge…">
            <a:extLst>
              <a:ext uri="{FF2B5EF4-FFF2-40B4-BE49-F238E27FC236}">
                <a16:creationId xmlns:a16="http://schemas.microsoft.com/office/drawing/2014/main" id="{2A33D3DD-1985-4F4E-9E66-D2A14585AD65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75511" y="465859"/>
            <a:ext cx="2802084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r">
              <a:defRPr sz="1500" i="1">
                <a:latin typeface="Georgia"/>
                <a:ea typeface="Georgia"/>
                <a:cs typeface="Georgia"/>
              </a:defRPr>
            </a:defPPr>
            <a:lvl1pPr algn="r">
              <a:lnSpc>
                <a:spcPct val="100000"/>
              </a:lnSpc>
              <a:defRPr sz="1500" i="1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r">
              <a:lnSpc>
                <a:spcPct val="100000"/>
              </a:lnSpc>
            </a:pPr>
            <a:r>
              <a:rPr sz="1500" b="0" i="1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8" name="Exploring the intersection of human imagination …">
            <a:extLst>
              <a:ext uri="{FF2B5EF4-FFF2-40B4-BE49-F238E27FC236}">
                <a16:creationId xmlns:a16="http://schemas.microsoft.com/office/drawing/2014/main" id="{CBAEC5F3-C3A1-4FB0-9B92-4F25B8541CB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514405" y="5603066"/>
            <a:ext cx="2472862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500" i="1"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500" i="1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l">
              <a:lnSpc>
                <a:spcPct val="100000"/>
              </a:lnSpc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</p:spTree>
  </p:cSld>
  <p:clrMapOvr>
    <a:masterClrMapping/>
  </p:clrMapOvr>
</p:sldLayout>
</file>

<file path=ppt/slideLayouts/templat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mage Left and 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A458933C-6B12-496E-B377-2ED1DF15FC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9443A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What happens when the tools of creation become c…">
            <a:extLst>
              <a:ext uri="{FF2B5EF4-FFF2-40B4-BE49-F238E27FC236}">
                <a16:creationId xmlns:a16="http://schemas.microsoft.com/office/drawing/2014/main" id="{C7B2EBC7-8A6C-4D3F-A227-F147032E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7215" y="3668723"/>
            <a:ext cx="5042578" cy="1188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 algn="l"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Picture 3"/>
          <p:cNvSpPr>
            <a:spLocks noGrp="1"/>
          </p:cNvSpPr>
          <p:nvPr>
            <p:ph type="pic" idx="2"/>
          </p:nvPr>
        </p:nvSpPr>
        <p:spPr>
          <a:xfrm>
            <a:off x="520837" y="1619556"/>
            <a:ext cx="5073577" cy="36188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38552D4C-6902-4621-BA64-D9A383A2442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577215" y="1274849"/>
            <a:ext cx="805786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2000" i="1">
                <a:solidFill>
                  <a:srgbClr val="D9443A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2000" i="0" b="0" u="none" baseline="0">
                <a:solidFill>
                  <a:srgbClr val="D9443A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D9443A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6" name="A New Canvas">
            <a:extLst>
              <a:ext uri="{FF2B5EF4-FFF2-40B4-BE49-F238E27FC236}">
                <a16:creationId xmlns:a16="http://schemas.microsoft.com/office/drawing/2014/main" id="{101177D1-5045-4C0F-A91E-8B50F3AA074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577215" y="3101033"/>
            <a:ext cx="504257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3150" b="1" i="1">
                <a:solidFill>
                  <a:srgbClr val="D94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3150" b="1" i="0" u="none" baseline="0">
                <a:solidFill>
                  <a:srgbClr val="D9443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defRPr>
            </a:lvl1pPr>
          </a:lstStyle>
          <a:p>
            <a:pPr algn="l">
              <a:lnSpc>
                <a:spcPct val="100000"/>
              </a:lnSpc>
            </a:pPr>
            <a:r>
              <a:rPr sz="3150" b="1" i="0" u="none" baseline="0">
                <a:solidFill>
                  <a:srgbClr val="D9443A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templat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mage Right and 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A458933C-6B12-496E-B377-2ED1DF15FC46}"/>
              </a:ext>
            </a:extLst>
          </p:cNvPr>
          <p:cNvSpPr>
            <a:spLocks noGrp="1"/>
          </p:cNvSpPr>
          <p:nvPr/>
        </p:nvSpPr>
        <p:spPr>
          <a:xfrm>
            <a:off x="6096000" y="-8992"/>
            <a:ext cx="6096000" cy="6858000"/>
          </a:xfrm>
          <a:prstGeom prst="rect">
            <a:avLst/>
          </a:prstGeom>
          <a:solidFill>
            <a:srgbClr val="3E6CA2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Picture 2"/>
          <p:cNvSpPr>
            <a:spLocks noGrp="1"/>
          </p:cNvSpPr>
          <p:nvPr>
            <p:ph type="pic" idx="1"/>
          </p:nvPr>
        </p:nvSpPr>
        <p:spPr>
          <a:xfrm>
            <a:off x="6549549" y="1362608"/>
            <a:ext cx="5188903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an a machine truly create, or does it simply re…">
            <a:extLst>
              <a:ext uri="{FF2B5EF4-FFF2-40B4-BE49-F238E27FC236}">
                <a16:creationId xmlns:a16="http://schemas.microsoft.com/office/drawing/2014/main" id="{7E9635E3-F17B-48B1-8902-FE35993F23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5990" y="3821123"/>
            <a:ext cx="5042578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5" name="2">
            <a:extLst>
              <a:ext uri="{FF2B5EF4-FFF2-40B4-BE49-F238E27FC236}">
                <a16:creationId xmlns:a16="http://schemas.microsoft.com/office/drawing/2014/main" id="{FACCD463-AD2F-4DFF-9AD5-284A973A06D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85990" y="1427249"/>
            <a:ext cx="1015200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2000" i="1">
                <a:solidFill>
                  <a:srgbClr val="3E6CA2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2000" i="0" b="0" u="none" baseline="0">
                <a:solidFill>
                  <a:srgbClr val="3E6CA2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3E6CA2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6" name="The Creative Machine">
            <a:extLst>
              <a:ext uri="{FF2B5EF4-FFF2-40B4-BE49-F238E27FC236}">
                <a16:creationId xmlns:a16="http://schemas.microsoft.com/office/drawing/2014/main" id="{C4972698-05F3-4CB3-96E9-4335054D75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85990" y="3248937"/>
            <a:ext cx="504257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3150" b="1" i="1">
                <a:solidFill>
                  <a:srgbClr val="3E6CA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3150" b="1" i="0" u="none" baseline="0">
                <a:latin typeface="Helvetica Neue"/>
                <a:ea typeface="Helvetica Neue"/>
                <a:cs typeface="Helvetica Neue"/>
                <a:solidFill>
                  <a:srgbClr val="3E6CA2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solidFill>
                  <a:srgbClr val="3E6CA2"/>
                </a:solidFill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</p:spTree>
  </p:cSld>
  <p:clrMapOvr>
    <a:masterClrMapping/>
  </p:clrMapOvr>
</p:sldLayout>
</file>

<file path=ppt/slideLayouts/templat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mage Lef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A458933C-6B12-496E-B377-2ED1DF15FC46}"/>
              </a:ext>
            </a:extLst>
          </p:cNvPr>
          <p:cNvSpPr>
            <a:spLocks noGrp="1"/>
          </p:cNvSpPr>
          <p:nvPr/>
        </p:nvSpPr>
        <p:spPr>
          <a:xfrm>
            <a:off x="0" y="-4496"/>
            <a:ext cx="6096000" cy="6858000"/>
          </a:xfrm>
          <a:prstGeom prst="rect">
            <a:avLst/>
          </a:prstGeom>
          <a:solidFill>
            <a:srgbClr val="EEAB16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What makes a work of art distinctly human?">
            <a:extLst>
              <a:ext uri="{FF2B5EF4-FFF2-40B4-BE49-F238E27FC236}">
                <a16:creationId xmlns:a16="http://schemas.microsoft.com/office/drawing/2014/main" id="{C7B2EBC7-8A6C-4D3F-A227-F147032E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7215" y="3925898"/>
            <a:ext cx="5042578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Picture 3"/>
          <p:cNvSpPr>
            <a:spLocks noGrp="1"/>
          </p:cNvSpPr>
          <p:nvPr>
            <p:ph type="pic" idx="2"/>
          </p:nvPr>
        </p:nvSpPr>
        <p:spPr>
          <a:xfrm>
            <a:off x="403581" y="1619556"/>
            <a:ext cx="5288837" cy="36188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3">
            <a:extLst>
              <a:ext uri="{FF2B5EF4-FFF2-40B4-BE49-F238E27FC236}">
                <a16:creationId xmlns:a16="http://schemas.microsoft.com/office/drawing/2014/main" id="{38552D4C-6902-4621-BA64-D9A383A2442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574896" y="1477098"/>
            <a:ext cx="805786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2000" i="1">
                <a:solidFill>
                  <a:srgbClr val="EEAB16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2000" i="0" b="0" u="none" baseline="0">
                <a:solidFill>
                  <a:srgbClr val="EEAB16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EEAB16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6" name="The Human Touch">
            <a:extLst>
              <a:ext uri="{FF2B5EF4-FFF2-40B4-BE49-F238E27FC236}">
                <a16:creationId xmlns:a16="http://schemas.microsoft.com/office/drawing/2014/main" id="{101177D1-5045-4C0F-A91E-8B50F3AA074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577215" y="3362609"/>
            <a:ext cx="504257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3150" b="1" i="1">
                <a:solidFill>
                  <a:srgbClr val="EEAB1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3150" b="1" i="0" u="none" baseline="0">
                <a:latin typeface="Helvetica Neue"/>
                <a:ea typeface="Helvetica Neue"/>
                <a:cs typeface="Helvetica Neue"/>
                <a:solidFill>
                  <a:srgbClr val="EEAB16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solidFill>
                  <a:srgbClr val="EEAB16"/>
                </a:solidFill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</p:spTree>
  </p:cSld>
  <p:clrMapOvr>
    <a:masterClrMapping/>
  </p:clrMapOvr>
</p:sldLayout>
</file>

<file path=ppt/slideLayouts/templat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Image Righ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A458933C-6B12-496E-B377-2ED1DF15FC46}"/>
              </a:ext>
            </a:extLst>
          </p:cNvPr>
          <p:cNvSpPr>
            <a:spLocks noGrp="1"/>
          </p:cNvSpPr>
          <p:nvPr/>
        </p:nvSpPr>
        <p:spPr>
          <a:xfrm>
            <a:off x="6102673" y="-32465"/>
            <a:ext cx="6096000" cy="6858000"/>
          </a:xfrm>
          <a:prstGeom prst="rect">
            <a:avLst/>
          </a:prstGeom>
          <a:solidFill>
            <a:srgbClr val="285D45"/>
          </a:solidFill>
          <a:ln w="0">
            <a:solidFill>
              <a:srgbClr val="FFFFFF"/>
            </a:solidFill>
            <a:prstDash val="solid"/>
          </a:ln>
        </p:spPr>
        <p:txBody>
          <a:bodyPr lIns="91440" rIns="91440" tIns="45720" bIns="45720"/>
          <a:lstStyle/>
          <a:p>
            <a:pPr>
              <a:lnSpc>
                <a:spcPct val="100000"/>
              </a:lnSpc>
            </a:pPr>
            <a:r>
              <a:t/>
            </a:r>
          </a:p>
        </p:txBody>
      </p:sp>
      <p:sp>
        <p:nvSpPr>
          <p:cNvPr id="3" name="What becomes possible when imagination has no te…">
            <a:extLst>
              <a:ext uri="{FF2B5EF4-FFF2-40B4-BE49-F238E27FC236}">
                <a16:creationId xmlns:a16="http://schemas.microsoft.com/office/drawing/2014/main" id="{7E9635E3-F17B-48B1-8902-FE35993F2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990" y="3825524"/>
            <a:ext cx="5042578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</a:p>
        </p:txBody>
      </p:sp>
      <p:sp>
        <p:nvSpPr>
          <p:cNvPr id="4" name="4">
            <a:extLst>
              <a:ext uri="{FF2B5EF4-FFF2-40B4-BE49-F238E27FC236}">
                <a16:creationId xmlns:a16="http://schemas.microsoft.com/office/drawing/2014/main" id="{FACCD463-AD2F-4DFF-9AD5-284A973A06DD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585990" y="1427249"/>
            <a:ext cx="1015200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2000" i="1">
                <a:solidFill>
                  <a:srgbClr val="285D45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2000" i="0" b="0" u="none" baseline="0">
                <a:solidFill>
                  <a:srgbClr val="285D45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285D45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" name="Infinite Possibility">
            <a:extLst>
              <a:ext uri="{FF2B5EF4-FFF2-40B4-BE49-F238E27FC236}">
                <a16:creationId xmlns:a16="http://schemas.microsoft.com/office/drawing/2014/main" id="{C4972698-05F3-4CB3-96E9-4335054D75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85990" y="3256272"/>
            <a:ext cx="504257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3150" b="1" i="1">
                <a:solidFill>
                  <a:srgbClr val="285D4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lnSpc>
                <a:spcPct val="100000"/>
              </a:lnSpc>
              <a:defRPr sz="3150" b="1" i="0" u="none" baseline="0">
                <a:latin typeface="Helvetica Neue"/>
                <a:ea typeface="Helvetica Neue"/>
                <a:cs typeface="Helvetica Neue"/>
                <a:solidFill>
                  <a:srgbClr val="285D45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1" i="0" u="none" baseline="0">
                <a:solidFill>
                  <a:srgbClr val="285D45"/>
                </a:solidFill>
                <a:highlight>
                  <a:srgbClr val="000000">
                    <a:alpha val="0"/>
                  </a:srgbClr>
                </a:highlight>
              </a:rPr>
              <a:t>Click to add title</a:t>
            </a:r>
          </a:p>
        </p:txBody>
      </p:sp>
      <p:sp>
        <p:nvSpPr>
          <p:cNvPr id="6" name="Picture 4"/>
          <p:cNvSpPr>
            <a:spLocks noGrp="1"/>
          </p:cNvSpPr>
          <p:nvPr>
            <p:ph type="pic" idx="3"/>
          </p:nvPr>
        </p:nvSpPr>
        <p:spPr>
          <a:xfrm>
            <a:off x="6495964" y="1348600"/>
            <a:ext cx="5309419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templat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 userDrawn="1">
  <p:cSld name="Art Collage and Statem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2"/>
          <p:cNvSpPr>
            <a:spLocks noGrp="1"/>
          </p:cNvSpPr>
          <p:nvPr>
            <p:ph type="pic" idx="1"/>
          </p:nvPr>
        </p:nvSpPr>
        <p:spPr>
          <a:xfrm>
            <a:off x="8322251" y="1029819"/>
            <a:ext cx="2408138" cy="20113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Picture 3"/>
          <p:cNvSpPr>
            <a:spLocks noGrp="1"/>
          </p:cNvSpPr>
          <p:nvPr>
            <p:ph type="pic" idx="2"/>
          </p:nvPr>
        </p:nvSpPr>
        <p:spPr>
          <a:xfrm>
            <a:off x="7871063" y="4145481"/>
            <a:ext cx="2224035" cy="21006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icture 4"/>
          <p:cNvSpPr>
            <a:spLocks noGrp="1"/>
          </p:cNvSpPr>
          <p:nvPr>
            <p:ph type="pic" idx="3"/>
          </p:nvPr>
        </p:nvSpPr>
        <p:spPr>
          <a:xfrm>
            <a:off x="4938769" y="583015"/>
            <a:ext cx="2047846" cy="246777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5"/>
          <p:cNvSpPr>
            <a:spLocks noGrp="1"/>
          </p:cNvSpPr>
          <p:nvPr>
            <p:ph type="pic" idx="4"/>
          </p:nvPr>
        </p:nvSpPr>
        <p:spPr>
          <a:xfrm>
            <a:off x="1391650" y="4340408"/>
            <a:ext cx="2825192" cy="200927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6"/>
          <p:cNvSpPr>
            <a:spLocks noGrp="1"/>
          </p:cNvSpPr>
          <p:nvPr>
            <p:ph type="pic" idx="5"/>
          </p:nvPr>
        </p:nvSpPr>
        <p:spPr>
          <a:xfrm>
            <a:off x="1360372" y="868765"/>
            <a:ext cx="2004306" cy="226795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As artificial intelligence reshapes the creative…">
            <a:extLst>
              <a:ext uri="{FF2B5EF4-FFF2-40B4-BE49-F238E27FC236}">
                <a16:creationId xmlns:a16="http://schemas.microsoft.com/office/drawing/2014/main" id="{C864946E-4A03-4DFC-BA38-0ECF1204B21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997595" y="2375924"/>
            <a:ext cx="6196811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title</a:t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</p:spTree>
  </p:cSld>
  <p:clrMapOvr>
    <a:masterClrMapping/>
  </p:clrMapOvr>
</p:sldLayout>
</file>

<file path=ppt/slideMasters/_rels/templateMaster.xml.rels><?xml version='1.0' encoding='UTF-8' standalone='yes'?>
<Relationships xmlns="http://schemas.openxmlformats.org/package/2006/relationships"><Relationship Type="http://schemas.openxmlformats.org/officeDocument/2006/relationships/image" Target="../media/image.jpeg" Id="R34b8728bc45e4989"/><Relationship Id="rTemplateTheme" Type="http://schemas.openxmlformats.org/officeDocument/2006/relationships/theme" Target="../theme/templateTheme.xml"/><Relationship Id="rTemplateLayout1" Type="http://schemas.openxmlformats.org/officeDocument/2006/relationships/slideLayout" Target="../slideLayouts/templateLayout1.xml"/><Relationship Id="rTemplateLayout2" Type="http://schemas.openxmlformats.org/officeDocument/2006/relationships/slideLayout" Target="../slideLayouts/templateLayout2.xml"/><Relationship Id="rTemplateLayout3" Type="http://schemas.openxmlformats.org/officeDocument/2006/relationships/slideLayout" Target="../slideLayouts/templateLayout3.xml"/><Relationship Id="rTemplateLayout4" Type="http://schemas.openxmlformats.org/officeDocument/2006/relationships/slideLayout" Target="../slideLayouts/templateLayout4.xml"/><Relationship Id="rTemplateLayout5" Type="http://schemas.openxmlformats.org/officeDocument/2006/relationships/slideLayout" Target="../slideLayouts/templateLayout5.xml"/><Relationship Id="rTemplateLayout6" Type="http://schemas.openxmlformats.org/officeDocument/2006/relationships/slideLayout" Target="../slideLayouts/templateLayout6.xml"/></Relationships>
</file>

<file path=ppt/slideMasters/templat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tate of Ar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00" name="Master Title">
            <a:extLst>
              <a:ext uri="{FF2B5EF4-FFF2-40B4-BE49-F238E27FC236}">
                <a16:creationId xmlns:a16="http://schemas.microsoft.com/office/drawing/2014/main" id="{38552D4C-6902-4621-BA64-D9A383A2442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577215" y="1274849"/>
            <a:ext cx="805786" cy="1920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12000" i="1">
                <a:solidFill>
                  <a:srgbClr val="D9443A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12000" i="0" b="0" u="none" baseline="0">
                <a:solidFill>
                  <a:srgbClr val="D9443A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defRPr>
            </a:lvl1pPr>
          </a:lstStyle>
          <a:p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D9443A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00001" name="Master Body">
            <a:extLst>
              <a:ext uri="{FF2B5EF4-FFF2-40B4-BE49-F238E27FC236}">
                <a16:creationId xmlns:a16="http://schemas.microsoft.com/office/drawing/2014/main" id="{C864946E-4A03-4DFC-BA38-0ECF1204B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7595" y="2375924"/>
            <a:ext cx="6196811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rIns="91440" tIns="45720" bIns="45720">
            <a:spAutoFit/>
          </a:bodyPr>
          <a:lstStyle>
            <a:defPPr algn="l">
              <a:defRPr sz="240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lnSpc>
                <a:spcPct val="100000"/>
              </a:lnSpc>
              <a:defRPr sz="2400" i="0" b="0" u="none" baseline="0">
                <a:solidFill>
                  <a:srgbClr val="FFFFFF">
                    <a:alpha val="100000"/>
                  </a:srgbClr>
                </a:solidFill>
                <a:latin typeface="Georgia"/>
                <a:ea typeface="Georgia"/>
                <a:cs typeface="Georgia"/>
                <a:highlight>
                  <a:srgbClr val="000000">
                    <a:alpha val="0"/>
                  </a:srgbClr>
                </a:highlight>
              </a:defRPr>
            </a:lvl1pPr>
          </a:lstStyle>
          <a:p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Click to add text</a:t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/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TemplateLayout1"/>
    <p:sldLayoutId id="2147483650" r:id="rTemplateLayout2"/>
    <p:sldLayoutId id="2147483651" r:id="rTemplateLayout3"/>
    <p:sldLayoutId id="2147483652" r:id="rTemplateLayout4"/>
    <p:sldLayoutId id="2147483653" r:id="rTemplateLayout5"/>
    <p:sldLayoutId id="2147483654" r:id="rTemplateLayout6"/>
  </p:sldLayoutIdLst>
  <p:hf hdr="0" ftr="0" dt="0" sldNum="0"/>
  <p:txStyles>
    <p:titleStyle>
      <a:lvl1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1pPr>
      <a:lvl2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2pPr>
      <a:lvl3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3pPr>
      <a:lvl4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4pPr>
      <a:lvl5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5pPr>
      <a:lvl6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6pPr>
      <a:lvl7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7pPr>
      <a:lvl8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8pPr>
      <a:lvl9pPr marL="0" indent="0" algn="l" defTabSz="914400" rtl="0" eaLnBrk="1" latinLnBrk="0" hangingPunct="1">
        <a:defRPr sz="12000" i="0" b="0" u="none" baseline="0">
          <a:solidFill>
            <a:srgbClr val="D9443A">
              <a:alpha val="30000"/>
            </a:srgbClr>
          </a:solidFill>
          <a:highlight>
            <a:srgbClr val="000000">
              <a:alpha val="0"/>
            </a:srgbClr>
          </a:highlight>
          <a:latin typeface="Georgia"/>
          <a:ea typeface="Georgia"/>
          <a:cs typeface="Georgia"/>
        </a:defRPr>
      </a:lvl9pPr>
    </p:titleStyle>
    <p:bodyStyle>
      <a:lvl1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bodyStyle>
    <p:otherStyle>
      <a:lvl1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1pPr>
      <a:lvl2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2pPr>
      <a:lvl3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3pPr>
      <a:lvl4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4pPr>
      <a:lvl5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5pPr>
      <a:lvl6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6pPr>
      <a:lvl7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7pPr>
      <a:lvl8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8pPr>
      <a:lvl9pPr marL="0" indent="0" algn="l" defTabSz="914400" rtl="0" eaLnBrk="1" latinLnBrk="0" hangingPunct="1">
        <a:defRPr sz="2400" i="0" b="0" u="none" baseline="0">
          <a:solidFill>
            <a:srgbClr val="FFFFFF">
              <a:alpha val="100000"/>
            </a:srgbClr>
          </a:solidFill>
          <a:latin typeface="Georgia"/>
          <a:ea typeface="Georgia"/>
          <a:cs typeface="Georgia"/>
          <a:highlight>
            <a:srgbClr val="000000">
              <a:alpha val="0"/>
            </a:srgbClr>
          </a:highlight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image" Target="../media/image.jpeg" Id="R34b8728bc45e4989"/><Relationship Type="http://schemas.openxmlformats.org/officeDocument/2006/relationships/notesSlide" Target="../notesSlides/notesSlide1.xml" Id="R9db3785c7eab4fc7"/><Relationship Id="rTemplateLayout" Type="http://schemas.openxmlformats.org/officeDocument/2006/relationships/slideLayout" Target="../slideLayouts/templateLayout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image" Target="../media/image2.jpeg" Id="R4dadc596fcfb4c72"/><Relationship Type="http://schemas.openxmlformats.org/officeDocument/2006/relationships/notesSlide" Target="../notesSlides/notesSlide2.xml" Id="Rbf2054cab0ab4578"/><Relationship Id="rTemplateLayout" Type="http://schemas.openxmlformats.org/officeDocument/2006/relationships/slideLayout" Target="../slideLayouts/templateLayout2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image" Target="../media/image3.jpeg" Id="R472061ccaea349ad"/><Relationship Type="http://schemas.openxmlformats.org/officeDocument/2006/relationships/notesSlide" Target="../notesSlides/notesSlide3.xml" Id="R3fdd455932cb4850"/><Relationship Id="rTemplateLayout" Type="http://schemas.openxmlformats.org/officeDocument/2006/relationships/slideLayout" Target="../slideLayouts/templateLayout3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image" Target="../media/image4.jpeg" Id="Re3fd21dc846642af"/><Relationship Type="http://schemas.openxmlformats.org/officeDocument/2006/relationships/notesSlide" Target="../notesSlides/notesSlide4.xml" Id="R0f0a359879574c69"/><Relationship Id="rTemplateLayout" Type="http://schemas.openxmlformats.org/officeDocument/2006/relationships/slideLayout" Target="../slideLayouts/templateLayout4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image" Target="../media/image5.jpeg" Id="Rcd1a6792a48d4cf7"/><Relationship Type="http://schemas.openxmlformats.org/officeDocument/2006/relationships/notesSlide" Target="../notesSlides/notesSlide5.xml" Id="R6be0fcdb5344411f"/><Relationship Id="rTemplateLayout" Type="http://schemas.openxmlformats.org/officeDocument/2006/relationships/slideLayout" Target="../slideLayouts/templateLayout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image" Target="../media/image6.jpeg" Id="R9a67735c6c8140a4"/><Relationship Type="http://schemas.openxmlformats.org/officeDocument/2006/relationships/image" Target="../media/image7.jpeg" Id="R2fc54dd81e8b41df"/><Relationship Type="http://schemas.openxmlformats.org/officeDocument/2006/relationships/image" Target="../media/image8.jpeg" Id="R3f7aa4245d7a49d3"/><Relationship Type="http://schemas.openxmlformats.org/officeDocument/2006/relationships/image" Target="../media/image9.jpeg" Id="Rd9c923baaa4e4f6e"/><Relationship Type="http://schemas.openxmlformats.org/officeDocument/2006/relationships/image" Target="../media/image10.jpeg" Id="Re4e6dbbe10304c92"/><Relationship Type="http://schemas.openxmlformats.org/officeDocument/2006/relationships/notesSlide" Target="../notesSlides/notesSlide6.xml" Id="Rf6509424bff94614"/><Relationship Id="rTemplateLayout" Type="http://schemas.openxmlformats.org/officeDocument/2006/relationships/slideLayout" Target="../slideLayouts/templateLayout6.xml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43D40745-60DA-4AE1-99AF-01334102A2FD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34b8728bc45e4989"/>
          <a:stretch xmlns:a="http://schemas.openxmlformats.org/drawingml/2006/main"/>
        </p:blipFill>
        <p:spPr>
          <a:xfrm xmlns:a="http://schemas.openxmlformats.org/drawingml/2006/main">
            <a:off x="3868095" y="537494"/>
            <a:ext cx="4455810" cy="5783011"/>
          </a:xfrm>
          <a:prstGeom xmlns:a="http://schemas.openxmlformats.org/drawingml/2006/main" prst="rect">
            <a:avLst/>
          </a:prstGeom>
        </p:spPr>
      </p:pic>
      <p:sp>
        <p:nvSpPr>
          <p:cNvPr id="3" name="STATE">
            <a:extLst xmlns:a="http://schemas.openxmlformats.org/drawingml/2006/main">
              <a:ext uri="{FF2B5EF4-FFF2-40B4-BE49-F238E27FC236}">
                <a16:creationId xmlns:a16="http://schemas.microsoft.com/office/drawing/2014/main" id="{A386E9A7-573D-4000-A356-A590DE186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78153" y="961075"/>
            <a:ext cx="3635693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4" name="OF">
            <a:extLst xmlns:a="http://schemas.openxmlformats.org/drawingml/2006/main">
              <a:ext uri="{FF2B5EF4-FFF2-40B4-BE49-F238E27FC236}">
                <a16:creationId xmlns:a16="http://schemas.microsoft.com/office/drawing/2014/main" id="{8AC8AD0B-D1DD-468B-A43D-F973AF2658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221129" y="2033907"/>
            <a:ext cx="1749743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</a:t>
            </a:r>
          </a:p>
        </p:txBody>
      </p:sp>
      <p:sp>
        <p:nvSpPr>
          <p:cNvPr id="5" name="ART">
            <a:extLst xmlns:a="http://schemas.openxmlformats.org/drawingml/2006/main">
              <a:ext uri="{FF2B5EF4-FFF2-40B4-BE49-F238E27FC236}">
                <a16:creationId xmlns:a16="http://schemas.microsoft.com/office/drawing/2014/main" id="{DF395F38-8753-43AF-898C-110C66D7D16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61560" y="4261901"/>
            <a:ext cx="246888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</a:t>
            </a:r>
          </a:p>
        </p:txBody>
      </p:sp>
      <p:sp>
        <p:nvSpPr>
          <p:cNvPr id="6" name="THE">
            <a:extLst xmlns:a="http://schemas.openxmlformats.org/drawingml/2006/main">
              <a:ext uri="{FF2B5EF4-FFF2-40B4-BE49-F238E27FC236}">
                <a16:creationId xmlns:a16="http://schemas.microsoft.com/office/drawing/2014/main" id="{8BB4F00D-D7E6-4A0C-AE03-4C81CD12F91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60766" y="3138943"/>
            <a:ext cx="2470468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rIns="91440" tIns="45720" bIns="45720">
            <a:spAutoFit/>
          </a:bodyPr>
          <a:lstStyle xmlns:a="http://schemas.openxmlformats.org/drawingml/2006/main">
            <a:defPPr>
              <a:def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sz="9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</a:t>
            </a:r>
          </a:p>
        </p:txBody>
      </p:sp>
      <p:sp>
        <p:nvSpPr>
          <p:cNvPr id="7" name="What role will human creativity play in an AI-ge…">
            <a:extLst xmlns:a="http://schemas.openxmlformats.org/drawingml/2006/main">
              <a:ext uri="{FF2B5EF4-FFF2-40B4-BE49-F238E27FC236}">
                <a16:creationId xmlns:a16="http://schemas.microsoft.com/office/drawing/2014/main" id="{2A33D3DD-1985-4F4E-9E66-D2A14585AD6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75511" y="465859"/>
            <a:ext cx="2802084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r">
              <a:defRPr sz="15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</a:pPr>
            <a:r>
              <a:rPr sz="1500" b="0" i="1" u="none" baseline="0">
                <a:highlight>
                  <a:srgbClr val="000000">
                    <a:alpha val="0"/>
                  </a:srgbClr>
                </a:highlight>
              </a:rPr>
              <a:t>What role will human creativity play in an AI-generated world?</a:t>
            </a:r>
          </a:p>
        </p:txBody>
      </p:sp>
      <p:sp>
        <p:nvSpPr>
          <p:cNvPr id="8" name="Exploring the intersection of human imagination …">
            <a:extLst xmlns:a="http://schemas.openxmlformats.org/drawingml/2006/main">
              <a:ext uri="{FF2B5EF4-FFF2-40B4-BE49-F238E27FC236}">
                <a16:creationId xmlns:a16="http://schemas.microsoft.com/office/drawing/2014/main" id="{CBAEC5F3-C3A1-4FB0-9B92-4F25B8541CB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8514405" y="5603066"/>
            <a:ext cx="2472862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5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Exploring the intersection of human imagination and artificial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21465371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What happens when the tools of creation become c…">
            <a:extLst xmlns:a="http://schemas.openxmlformats.org/drawingml/2006/main">
              <a:ext uri="{FF2B5EF4-FFF2-40B4-BE49-F238E27FC236}">
                <a16:creationId xmlns:a16="http://schemas.microsoft.com/office/drawing/2014/main" id="{C7B2EBC7-8A6C-4D3F-A227-F147032EA9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77215" y="3668723"/>
            <a:ext cx="5042578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24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What happens when the tools of creation become creators themselves?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26E7C26-3E4D-428E-BBC2-E6CCC224F0DA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4dadc596fcfb4c72"/>
          <a:stretch xmlns:a="http://schemas.openxmlformats.org/drawingml/2006/main"/>
        </p:blipFill>
        <p:spPr>
          <a:xfrm xmlns:a="http://schemas.openxmlformats.org/drawingml/2006/main">
            <a:off x="520837" y="1619556"/>
            <a:ext cx="5073577" cy="3618887"/>
          </a:xfrm>
          <a:prstGeom xmlns:a="http://schemas.openxmlformats.org/drawingml/2006/main" prst="rect">
            <a:avLst/>
          </a:prstGeom>
        </p:spPr>
      </p:pic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38552D4C-6902-4621-BA64-D9A383A244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577215" y="1274849"/>
            <a:ext cx="80578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2000" i="1">
                <a:solidFill>
                  <a:srgbClr val="D9443A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D9443A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6" name="A New Canvas">
            <a:extLst xmlns:a="http://schemas.openxmlformats.org/drawingml/2006/main">
              <a:ext uri="{FF2B5EF4-FFF2-40B4-BE49-F238E27FC236}">
                <a16:creationId xmlns:a16="http://schemas.microsoft.com/office/drawing/2014/main" id="{101177D1-5045-4C0F-A91E-8B50F3AA0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77215" y="3101033"/>
            <a:ext cx="504257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3150" b="1" i="1">
                <a:solidFill>
                  <a:srgbClr val="D944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3150" b="1" i="0" u="none" baseline="0">
                <a:solidFill>
                  <a:srgbClr val="D9443A"/>
                </a:solidFill>
                <a:highlight>
                  <a:srgbClr val="000000">
                    <a:alpha val="0"/>
                  </a:srgbClr>
                </a:highlight>
                <a:latin typeface="Helvetica Neue"/>
                <a:ea typeface="Helvetica Neue"/>
                <a:cs typeface="Helvetica Neue"/>
              </a:rPr>
              <a:t>A New Canvas</a:t>
            </a:r>
          </a:p>
        </p:txBody>
      </p:sp>
    </p:spTree>
    <p:extLst>
      <p:ext uri="{BB962C8B-B14F-4D97-AF65-F5344CB8AC3E}">
        <p14:creationId xmlns:p14="http://schemas.microsoft.com/office/powerpoint/2010/main" val="1071476016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C3860A2-8CC6-4E36-B5B2-B7F4D4CEC300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472061ccaea349ad"/>
          <a:stretch xmlns:a="http://schemas.openxmlformats.org/drawingml/2006/main"/>
        </p:blipFill>
        <p:spPr>
          <a:xfrm xmlns:a="http://schemas.openxmlformats.org/drawingml/2006/main">
            <a:off x="6549549" y="1362608"/>
            <a:ext cx="5188903" cy="4114800"/>
          </a:xfrm>
          <a:prstGeom xmlns:a="http://schemas.openxmlformats.org/drawingml/2006/main" prst="rect">
            <a:avLst/>
          </a:prstGeom>
        </p:spPr>
      </p:pic>
      <p:sp>
        <p:nvSpPr>
          <p:cNvPr id="4" name="Can a machine truly create, or does it simply re…">
            <a:extLst xmlns:a="http://schemas.openxmlformats.org/drawingml/2006/main">
              <a:ext uri="{FF2B5EF4-FFF2-40B4-BE49-F238E27FC236}">
                <a16:creationId xmlns:a16="http://schemas.microsoft.com/office/drawing/2014/main" id="{7E9635E3-F17B-48B1-8902-FE35993F23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5990" y="3821123"/>
            <a:ext cx="504257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24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Can a machine truly create, or does it simply reinterpret?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ACCD463-AD2F-4DFF-9AD5-284A973A06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85990" y="1427249"/>
            <a:ext cx="1015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2000" i="1">
                <a:solidFill>
                  <a:srgbClr val="3E6CA2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3E6CA2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6" name="The Creative Machine">
            <a:extLst xmlns:a="http://schemas.openxmlformats.org/drawingml/2006/main">
              <a:ext uri="{FF2B5EF4-FFF2-40B4-BE49-F238E27FC236}">
                <a16:creationId xmlns:a16="http://schemas.microsoft.com/office/drawing/2014/main" id="{C4972698-05F3-4CB3-96E9-4335054D7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990" y="3248937"/>
            <a:ext cx="504257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3150" b="1" i="1">
                <a:solidFill>
                  <a:srgbClr val="3E6CA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solidFill>
                  <a:srgbClr val="3E6CA2"/>
                </a:solidFill>
                <a:highlight>
                  <a:srgbClr val="000000">
                    <a:alpha val="0"/>
                  </a:srgbClr>
                </a:highlight>
              </a:rPr>
              <a:t>The Creative Machine</a:t>
            </a:r>
          </a:p>
        </p:txBody>
      </p:sp>
    </p:spTree>
    <p:extLst>
      <p:ext uri="{BB962C8B-B14F-4D97-AF65-F5344CB8AC3E}">
        <p14:creationId xmlns:p14="http://schemas.microsoft.com/office/powerpoint/2010/main" val="1071476016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What makes a work of art distinctly human?">
            <a:extLst xmlns:a="http://schemas.openxmlformats.org/drawingml/2006/main">
              <a:ext uri="{FF2B5EF4-FFF2-40B4-BE49-F238E27FC236}">
                <a16:creationId xmlns:a16="http://schemas.microsoft.com/office/drawing/2014/main" id="{C7B2EBC7-8A6C-4D3F-A227-F147032EA9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77215" y="3925898"/>
            <a:ext cx="504257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24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What makes a work of art distinctly human?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8DA8305-E5BE-4FA3-B751-0507E7A4A2CF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e3fd21dc846642af"/>
          <a:stretch xmlns:a="http://schemas.openxmlformats.org/drawingml/2006/main"/>
        </p:blipFill>
        <p:spPr>
          <a:xfrm xmlns:a="http://schemas.openxmlformats.org/drawingml/2006/main">
            <a:off x="403581" y="1619556"/>
            <a:ext cx="5288837" cy="3618887"/>
          </a:xfrm>
          <a:prstGeom xmlns:a="http://schemas.openxmlformats.org/drawingml/2006/main" prst="rect">
            <a:avLst/>
          </a:prstGeom>
        </p:spPr>
      </p:pic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38552D4C-6902-4621-BA64-D9A383A244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574896" y="1477098"/>
            <a:ext cx="80578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2000" i="1">
                <a:solidFill>
                  <a:srgbClr val="EEAB16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EEAB16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6" name="The Human Touch">
            <a:extLst xmlns:a="http://schemas.openxmlformats.org/drawingml/2006/main">
              <a:ext uri="{FF2B5EF4-FFF2-40B4-BE49-F238E27FC236}">
                <a16:creationId xmlns:a16="http://schemas.microsoft.com/office/drawing/2014/main" id="{101177D1-5045-4C0F-A91E-8B50F3AA0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77215" y="3362609"/>
            <a:ext cx="504257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3150" b="1" i="1">
                <a:solidFill>
                  <a:srgbClr val="EEAB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solidFill>
                  <a:srgbClr val="EEAB16"/>
                </a:solidFill>
                <a:highlight>
                  <a:srgbClr val="000000">
                    <a:alpha val="0"/>
                  </a:srgbClr>
                </a:highlight>
              </a:rPr>
              <a:t>The Human Touch</a:t>
            </a:r>
          </a:p>
        </p:txBody>
      </p:sp>
    </p:spTree>
    <p:extLst>
      <p:ext uri="{BB962C8B-B14F-4D97-AF65-F5344CB8AC3E}">
        <p14:creationId xmlns:p14="http://schemas.microsoft.com/office/powerpoint/2010/main" val="1071476016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What becomes possible when imagination has no te…">
            <a:extLst xmlns:a="http://schemas.openxmlformats.org/drawingml/2006/main">
              <a:ext uri="{FF2B5EF4-FFF2-40B4-BE49-F238E27FC236}">
                <a16:creationId xmlns:a16="http://schemas.microsoft.com/office/drawing/2014/main" id="{7E9635E3-F17B-48B1-8902-FE35993F2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5990" y="3825524"/>
            <a:ext cx="504257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2400" i="1"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What becomes possible when imagination has no technical limits?</a:t>
            </a:r>
          </a:p>
        </p:txBody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FACCD463-AD2F-4DFF-9AD5-284A973A06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5990" y="1427249"/>
            <a:ext cx="1015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12000" i="1">
                <a:solidFill>
                  <a:srgbClr val="285D45">
                    <a:alpha val="30000"/>
                  </a:srgbClr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</a:pPr>
            <a:r>
              <a:rPr sz="12000" b="0" i="0" u="none" baseline="0">
                <a:solidFill>
                  <a:srgbClr val="285D45">
                    <a:alpha val="30000"/>
                  </a:srgbClr>
                </a:solidFill>
                <a:highlight>
                  <a:srgbClr val="000000">
                    <a:alpha val="0"/>
                  </a:srgbClr>
                </a:highlight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" name="Infinite Possibility">
            <a:extLst xmlns:a="http://schemas.openxmlformats.org/drawingml/2006/main">
              <a:ext uri="{FF2B5EF4-FFF2-40B4-BE49-F238E27FC236}">
                <a16:creationId xmlns:a16="http://schemas.microsoft.com/office/drawing/2014/main" id="{C4972698-05F3-4CB3-96E9-4335054D7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990" y="3256272"/>
            <a:ext cx="504257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3150" b="1" i="1">
                <a:solidFill>
                  <a:srgbClr val="285D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1" i="0" u="none" baseline="0">
                <a:solidFill>
                  <a:srgbClr val="285D45"/>
                </a:solidFill>
                <a:highlight>
                  <a:srgbClr val="000000">
                    <a:alpha val="0"/>
                  </a:srgbClr>
                </a:highlight>
              </a:rPr>
              <a:t>Infinite Possibility</a:t>
            </a:r>
          </a:p>
        </p:txBody>
      </p:sp>
      <p:pic>
        <p:nvPicPr>
          <p:cNvPr id="6" name="Picture 4">
            <a:extLst xmlns:a="http://schemas.openxmlformats.org/drawingml/2006/main">
              <a:ext uri="{FF2B5EF4-FFF2-40B4-BE49-F238E27FC236}">
                <a16:creationId xmlns:a16="http://schemas.microsoft.com/office/drawing/2014/main" id="{D11140D6-A1DC-4418-86D6-CB2FEF7445D9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cd1a6792a48d4cf7"/>
          <a:stretch xmlns:a="http://schemas.openxmlformats.org/drawingml/2006/main"/>
        </p:blipFill>
        <p:spPr>
          <a:xfrm xmlns:a="http://schemas.openxmlformats.org/drawingml/2006/main">
            <a:off x="6495964" y="1348600"/>
            <a:ext cx="5309419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76016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FC8528E5-7BA9-42CA-91B3-64F5719EAADE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"/>
          </p:nvPr>
        </p:nvPicPr>
        <p:blipFill>
          <a:blip xmlns:r="http://schemas.openxmlformats.org/officeDocument/2006/relationships" xmlns:a="http://schemas.openxmlformats.org/drawingml/2006/main" r:embed="R9a67735c6c8140a4"/>
          <a:stretch xmlns:a="http://schemas.openxmlformats.org/drawingml/2006/main"/>
        </p:blipFill>
        <p:spPr>
          <a:xfrm xmlns:a="http://schemas.openxmlformats.org/drawingml/2006/main">
            <a:off x="8322251" y="1029819"/>
            <a:ext cx="2408138" cy="2011397"/>
          </a:xfrm>
          <a:prstGeom xmlns:a="http://schemas.openxmlformats.org/drawingml/2006/main" prst="rect">
            <a:avLst/>
          </a:prstGeom>
        </p:spPr>
      </p:pic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00FD4BE1-CF21-47C8-AB3B-75ECE97F4D63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2"/>
          </p:nvPr>
        </p:nvPicPr>
        <p:blipFill>
          <a:blip xmlns:r="http://schemas.openxmlformats.org/officeDocument/2006/relationships" xmlns:a="http://schemas.openxmlformats.org/drawingml/2006/main" r:embed="R2fc54dd81e8b41df"/>
          <a:stretch xmlns:a="http://schemas.openxmlformats.org/drawingml/2006/main"/>
        </p:blipFill>
        <p:spPr>
          <a:xfrm xmlns:a="http://schemas.openxmlformats.org/drawingml/2006/main">
            <a:off x="7871063" y="4145481"/>
            <a:ext cx="2224035" cy="2100671"/>
          </a:xfrm>
          <a:prstGeom xmlns:a="http://schemas.openxmlformats.org/drawingml/2006/main" prst="rect">
            <a:avLst/>
          </a:prstGeom>
        </p:spPr>
      </p:pic>
      <p:pic>
        <p:nvPicPr>
          <p:cNvPr id="4" name="Picture 4">
            <a:extLst xmlns:a="http://schemas.openxmlformats.org/drawingml/2006/main">
              <a:ext uri="{FF2B5EF4-FFF2-40B4-BE49-F238E27FC236}">
                <a16:creationId xmlns:a16="http://schemas.microsoft.com/office/drawing/2014/main" id="{EEF362EE-47AA-4AB8-B7A1-761AA056225A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3"/>
          </p:nvPr>
        </p:nvPicPr>
        <p:blipFill>
          <a:blip xmlns:r="http://schemas.openxmlformats.org/officeDocument/2006/relationships" xmlns:a="http://schemas.openxmlformats.org/drawingml/2006/main" r:embed="R3f7aa4245d7a49d3"/>
          <a:stretch xmlns:a="http://schemas.openxmlformats.org/drawingml/2006/main"/>
        </p:blipFill>
        <p:spPr>
          <a:xfrm xmlns:a="http://schemas.openxmlformats.org/drawingml/2006/main">
            <a:off x="4938769" y="583015"/>
            <a:ext cx="2047846" cy="2467778"/>
          </a:xfrm>
          <a:prstGeom xmlns:a="http://schemas.openxmlformats.org/drawingml/2006/main" prst="rect">
            <a:avLst/>
          </a:prstGeom>
        </p:spPr>
      </p:pic>
      <p:pic>
        <p:nvPicPr>
          <p:cNvPr id="5" name="Picture 5">
            <a:extLst xmlns:a="http://schemas.openxmlformats.org/drawingml/2006/main">
              <a:ext uri="{FF2B5EF4-FFF2-40B4-BE49-F238E27FC236}">
                <a16:creationId xmlns:a16="http://schemas.microsoft.com/office/drawing/2014/main" id="{2E30663A-DC43-430A-8E43-48394CE49708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4"/>
          </p:nvPr>
        </p:nvPicPr>
        <p:blipFill>
          <a:blip xmlns:r="http://schemas.openxmlformats.org/officeDocument/2006/relationships" xmlns:a="http://schemas.openxmlformats.org/drawingml/2006/main" r:embed="Rd9c923baaa4e4f6e"/>
          <a:stretch xmlns:a="http://schemas.openxmlformats.org/drawingml/2006/main"/>
        </p:blipFill>
        <p:spPr>
          <a:xfrm xmlns:a="http://schemas.openxmlformats.org/drawingml/2006/main">
            <a:off x="1391650" y="4340408"/>
            <a:ext cx="2825192" cy="2009271"/>
          </a:xfrm>
          <a:prstGeom xmlns:a="http://schemas.openxmlformats.org/drawingml/2006/main" prst="rect">
            <a:avLst/>
          </a:prstGeom>
        </p:spPr>
      </p:pic>
      <p:pic>
        <p:nvPicPr>
          <p:cNvPr id="6" name="Picture 6">
            <a:extLst xmlns:a="http://schemas.openxmlformats.org/drawingml/2006/main">
              <a:ext uri="{FF2B5EF4-FFF2-40B4-BE49-F238E27FC236}">
                <a16:creationId xmlns:a16="http://schemas.microsoft.com/office/drawing/2014/main" id="{4E33D395-5225-472B-8140-1C3D334B5DD5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5"/>
          </p:nvPr>
        </p:nvPicPr>
        <p:blipFill>
          <a:blip xmlns:r="http://schemas.openxmlformats.org/officeDocument/2006/relationships" xmlns:a="http://schemas.openxmlformats.org/drawingml/2006/main" r:embed="Re4e6dbbe10304c92"/>
          <a:stretch xmlns:a="http://schemas.openxmlformats.org/drawingml/2006/main"/>
        </p:blipFill>
        <p:spPr>
          <a:xfrm xmlns:a="http://schemas.openxmlformats.org/drawingml/2006/main">
            <a:off x="1360372" y="868765"/>
            <a:ext cx="2004306" cy="2267956"/>
          </a:xfrm>
          <a:prstGeom xmlns:a="http://schemas.openxmlformats.org/drawingml/2006/main" prst="rect">
            <a:avLst/>
          </a:prstGeom>
        </p:spPr>
      </p:pic>
      <p:sp>
        <p:nvSpPr>
          <p:cNvPr id="7" name="As artificial intelligence reshapes the creative…">
            <a:extLst xmlns:a="http://schemas.openxmlformats.org/drawingml/2006/main">
              <a:ext uri="{FF2B5EF4-FFF2-40B4-BE49-F238E27FC236}">
                <a16:creationId xmlns:a16="http://schemas.microsoft.com/office/drawing/2014/main" id="{C864946E-4A03-4DFC-BA38-0ECF1204B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7595" y="2375924"/>
            <a:ext cx="6196811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rIns="91440" tIns="45720" bIns="45720">
            <a:spAutoFit/>
          </a:bodyPr>
          <a:lstStyle xmlns:a="http://schemas.openxmlformats.org/drawingml/2006/main">
            <a:defPPr algn="l">
              <a:defRPr sz="240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</a:pP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As artificial intelligence reshapes the creative landscape, the value of art lies not simply in </a:t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what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 we can produce, but in </a:t>
            </a:r>
            <a:r>
              <a:rPr b="0" i="1" u="none" baseline="0">
                <a:highlight>
                  <a:srgbClr val="000000">
                    <a:alpha val="0"/>
                  </a:srgbClr>
                </a:highlight>
              </a:rPr>
              <a:t>why</a:t>
            </a:r>
            <a:r>
              <a:rPr b="0" i="0" u="none" baseline="0">
                <a:highlight>
                  <a:srgbClr val="000000">
                    <a:alpha val="0"/>
                  </a:srgbClr>
                </a:highlight>
              </a:rPr>
              <a:t> we create. Technology expands possibility, but human perspective, intention, and emotion give art its meaning.</a:t>
            </a:r>
          </a:p>
        </p:txBody>
      </p:sp>
    </p:spTree>
    <p:extLst>
      <p:ext uri="{BB962C8B-B14F-4D97-AF65-F5344CB8AC3E}">
        <p14:creationId xmlns:p14="http://schemas.microsoft.com/office/powerpoint/2010/main" val="1071476016"/>
      </p:ext>
    </p:extLst>
  </p:cSld>
</p:sld>
</file>

<file path=ppt/theme/templateTheme.xml><?xml version="1.0" encoding="utf-8"?>
<a:theme xmlns:a="http://schemas.openxmlformats.org/drawingml/2006/main" name="State of Art">
  <a:themeElements>
    <a:clrScheme name="State of Ar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9443A"/>
      </a:accent1>
      <a:accent2>
        <a:srgbClr val="3E6CA2"/>
      </a:accent2>
      <a:accent3>
        <a:srgbClr val="EEAB16"/>
      </a:accent3>
      <a:accent4>
        <a:srgbClr val="285D45"/>
      </a:accent4>
      <a:accent5>
        <a:srgbClr val="000000"/>
      </a:accent5>
      <a:accent6>
        <a:srgbClr val="FFFFFF"/>
      </a:accent6>
      <a:hlink>
        <a:srgbClr val="D9443A"/>
      </a:hlink>
      <a:folHlink>
        <a:srgbClr val="D9443A"/>
      </a:folHlink>
    </a:clrScheme>
    <a:fontScheme name="State of Art">
      <a:majorFont>
        <a:latin typeface="Helvetica Neue"/>
        <a:ea typeface=""/>
        <a:cs typeface=""/>
      </a:majorFont>
      <a:minorFont>
        <a:latin typeface="Georgi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/>
  <ns2:modified xsi:type="dcterms:W3CDTF"/>
</ns0:coreProperties>
</file>